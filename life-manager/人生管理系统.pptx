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16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334DBD-01FE-49B6-AE49-C35CB138F31B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1E9B58-BF12-4F32-B5DB-D919FD54A9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76115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>
                <a:latin typeface="Microsoft YaHei" panose="020B0503020204020204" pitchFamily="34" charset="-122"/>
              </a:rPr>
              <a:t>【0:00–0:20】</a:t>
            </a:r>
            <a:r>
              <a:rPr lang="zh-CN" altLang="en-US">
                <a:latin typeface="Microsoft YaHei" panose="020B0503020204020204" pitchFamily="34" charset="-122"/>
              </a:rPr>
              <a:t>第 </a:t>
            </a:r>
            <a:r>
              <a:rPr lang="en-US" altLang="zh-CN">
                <a:latin typeface="Microsoft YaHei" panose="020B0503020204020204" pitchFamily="34" charset="-122"/>
              </a:rPr>
              <a:t>1 </a:t>
            </a:r>
            <a:r>
              <a:rPr lang="zh-CN" altLang="en-US">
                <a:latin typeface="Microsoft YaHei" panose="020B0503020204020204" pitchFamily="34" charset="-122"/>
              </a:rPr>
              <a:t>页 </a:t>
            </a:r>
            <a:r>
              <a:rPr lang="en-US" altLang="zh-CN">
                <a:latin typeface="Microsoft YaHei" panose="020B0503020204020204" pitchFamily="34" charset="-122"/>
              </a:rPr>
              <a:t>· </a:t>
            </a:r>
            <a:r>
              <a:rPr lang="zh-CN" altLang="en-US">
                <a:latin typeface="Microsoft YaHei" panose="020B0503020204020204" pitchFamily="34" charset="-122"/>
              </a:rPr>
              <a:t>开场：这个系统想回答一个问题</a:t>
            </a:r>
          </a:p>
          <a:p>
            <a:r>
              <a:rPr lang="en-US" altLang="zh-CN">
                <a:latin typeface="Microsoft YaHei" panose="020B0503020204020204" pitchFamily="34" charset="-122"/>
              </a:rPr>
              <a:t>【</a:t>
            </a:r>
            <a:r>
              <a:rPr lang="zh-CN" altLang="en-US">
                <a:latin typeface="Microsoft YaHei" panose="020B0503020204020204" pitchFamily="34" charset="-122"/>
              </a:rPr>
              <a:t>动作</a:t>
            </a:r>
            <a:r>
              <a:rPr lang="en-US" altLang="zh-CN">
                <a:latin typeface="Microsoft YaHei" panose="020B0503020204020204" pitchFamily="34" charset="-122"/>
              </a:rPr>
              <a:t>】</a:t>
            </a:r>
            <a:r>
              <a:rPr lang="zh-CN" altLang="en-US">
                <a:latin typeface="Microsoft YaHei" panose="020B0503020204020204" pitchFamily="34" charset="-122"/>
              </a:rPr>
              <a:t>站定，看一眼三位老师，右手放在翻页笔上。说到建设自己时放慢，停半秒。</a:t>
            </a:r>
          </a:p>
          <a:p>
            <a:r>
              <a:rPr lang="en-US" altLang="zh-CN">
                <a:latin typeface="Microsoft YaHei" panose="020B0503020204020204" pitchFamily="34" charset="-122"/>
              </a:rPr>
              <a:t>【</a:t>
            </a:r>
            <a:r>
              <a:rPr lang="zh-CN" altLang="en-US">
                <a:latin typeface="Microsoft YaHei" panose="020B0503020204020204" pitchFamily="34" charset="-122"/>
              </a:rPr>
              <a:t>逐字稿</a:t>
            </a:r>
            <a:r>
              <a:rPr lang="en-US" altLang="zh-CN">
                <a:latin typeface="Microsoft YaHei" panose="020B0503020204020204" pitchFamily="34" charset="-122"/>
              </a:rPr>
              <a:t>】</a:t>
            </a:r>
          </a:p>
          <a:p>
            <a:r>
              <a:rPr lang="zh-CN" altLang="en-US">
                <a:latin typeface="Microsoft YaHei" panose="020B0503020204020204" pitchFamily="34" charset="-122"/>
              </a:rPr>
              <a:t>各位老师上午好，我是计科</a:t>
            </a:r>
            <a:r>
              <a:rPr lang="en-US" altLang="zh-CN">
                <a:latin typeface="Microsoft YaHei" panose="020B0503020204020204" pitchFamily="34" charset="-122"/>
              </a:rPr>
              <a:t>20247</a:t>
            </a:r>
            <a:r>
              <a:rPr lang="zh-CN" altLang="en-US">
                <a:latin typeface="Microsoft YaHei" panose="020B0503020204020204" pitchFamily="34" charset="-122"/>
              </a:rPr>
              <a:t>班的郭群鑫，学号</a:t>
            </a:r>
            <a:r>
              <a:rPr lang="en-US" altLang="zh-CN">
                <a:latin typeface="Microsoft YaHei" panose="020B0503020204020204" pitchFamily="34" charset="-122"/>
              </a:rPr>
              <a:t>24104010731</a:t>
            </a:r>
            <a:r>
              <a:rPr lang="zh-CN" altLang="en-US">
                <a:latin typeface="Microsoft YaHei" panose="020B0503020204020204" pitchFamily="34" charset="-122"/>
              </a:rPr>
              <a:t>。我的项目是</a:t>
            </a:r>
            <a:r>
              <a:rPr lang="en-US" altLang="zh-CN">
                <a:latin typeface="Microsoft YaHei" panose="020B0503020204020204" pitchFamily="34" charset="-122"/>
              </a:rPr>
              <a:t>《</a:t>
            </a:r>
            <a:r>
              <a:rPr lang="zh-CN" altLang="en-US">
                <a:latin typeface="Microsoft YaHei" panose="020B0503020204020204" pitchFamily="34" charset="-122"/>
              </a:rPr>
              <a:t>人生管理系统</a:t>
            </a:r>
            <a:r>
              <a:rPr lang="en-US" altLang="zh-CN">
                <a:latin typeface="Microsoft YaHei" panose="020B0503020204020204" pitchFamily="34" charset="-122"/>
              </a:rPr>
              <a:t>》v8</a:t>
            </a:r>
            <a:r>
              <a:rPr lang="zh-CN" altLang="en-US">
                <a:latin typeface="Microsoft YaHei" panose="020B0503020204020204" pitchFamily="34" charset="-122"/>
              </a:rPr>
              <a:t>，报告封面登记的项目名称是个人记账系统。它想回答一个问题：一个人能不能像建设国家一样，规划、执行并核算自己的人生？国家有五年规划、有部委分工、有财政预算，这三件事落到个人身上，就是长期目标、每日任务和记账本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1E9B58-BF12-4F32-B5DB-D919FD54A90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06202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>
                <a:latin typeface="Microsoft YaHei" panose="020B0503020204020204" pitchFamily="34" charset="-122"/>
              </a:rPr>
              <a:t>【0:20–0:55】</a:t>
            </a:r>
            <a:r>
              <a:rPr lang="zh-CN" altLang="en-US">
                <a:latin typeface="Microsoft YaHei" panose="020B0503020204020204" pitchFamily="34" charset="-122"/>
              </a:rPr>
              <a:t>第 </a:t>
            </a:r>
            <a:r>
              <a:rPr lang="en-US" altLang="zh-CN">
                <a:latin typeface="Microsoft YaHei" panose="020B0503020204020204" pitchFamily="34" charset="-122"/>
              </a:rPr>
              <a:t>2 </a:t>
            </a:r>
            <a:r>
              <a:rPr lang="zh-CN" altLang="en-US">
                <a:latin typeface="Microsoft YaHei" panose="020B0503020204020204" pitchFamily="34" charset="-122"/>
              </a:rPr>
              <a:t>页 </a:t>
            </a:r>
            <a:r>
              <a:rPr lang="en-US" altLang="zh-CN">
                <a:latin typeface="Microsoft YaHei" panose="020B0503020204020204" pitchFamily="34" charset="-122"/>
              </a:rPr>
              <a:t>· </a:t>
            </a:r>
            <a:r>
              <a:rPr lang="zh-CN" altLang="en-US">
                <a:latin typeface="Microsoft YaHei" panose="020B0503020204020204" pitchFamily="34" charset="-122"/>
              </a:rPr>
              <a:t>立意：把建设自己当成一项国家工程</a:t>
            </a:r>
          </a:p>
          <a:p>
            <a:r>
              <a:rPr lang="en-US" altLang="zh-CN">
                <a:latin typeface="Microsoft YaHei" panose="020B0503020204020204" pitchFamily="34" charset="-122"/>
              </a:rPr>
              <a:t>【</a:t>
            </a:r>
            <a:r>
              <a:rPr lang="zh-CN" altLang="en-US">
                <a:latin typeface="Microsoft YaHei" panose="020B0503020204020204" pitchFamily="34" charset="-122"/>
              </a:rPr>
              <a:t>动作</a:t>
            </a:r>
            <a:r>
              <a:rPr lang="en-US" altLang="zh-CN">
                <a:latin typeface="Microsoft YaHei" panose="020B0503020204020204" pitchFamily="34" charset="-122"/>
              </a:rPr>
              <a:t>】</a:t>
            </a:r>
            <a:r>
              <a:rPr lang="zh-CN" altLang="en-US">
                <a:latin typeface="Microsoft YaHei" panose="020B0503020204020204" pitchFamily="34" charset="-122"/>
              </a:rPr>
              <a:t>先指左边四行对应关系，再指右边八个格子，最后指底部那行一期三个模块。</a:t>
            </a:r>
          </a:p>
          <a:p>
            <a:r>
              <a:rPr lang="en-US" altLang="zh-CN">
                <a:latin typeface="Microsoft YaHei" panose="020B0503020204020204" pitchFamily="34" charset="-122"/>
              </a:rPr>
              <a:t>【</a:t>
            </a:r>
            <a:r>
              <a:rPr lang="zh-CN" altLang="en-US">
                <a:latin typeface="Microsoft YaHei" panose="020B0503020204020204" pitchFamily="34" charset="-122"/>
              </a:rPr>
              <a:t>逐字稿</a:t>
            </a:r>
            <a:r>
              <a:rPr lang="en-US" altLang="zh-CN">
                <a:latin typeface="Microsoft YaHei" panose="020B0503020204020204" pitchFamily="34" charset="-122"/>
              </a:rPr>
              <a:t>】</a:t>
            </a:r>
          </a:p>
          <a:p>
            <a:r>
              <a:rPr lang="zh-CN" altLang="en-US">
                <a:latin typeface="Microsoft YaHei" panose="020B0503020204020204" pitchFamily="34" charset="-122"/>
              </a:rPr>
              <a:t>这个项目最初的野心，是照着国家治理来搭个人系统。五年规划对应长期目标，部委分工对应我个人的八条发展线，财政预算对应记账本，年度计划对应每天的任务。我一开始规划了八个方面：思想、教育、健康、财务、社交、工作、日程和计划。但课程时间和个人精力有限，我没有硬铺八个空模块，而是先收敛成能闭环的三个：财务、日程、计划已经落地，其余五条排进路线图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1E9B58-BF12-4F32-B5DB-D919FD54A903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73045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>
                <a:latin typeface="Microsoft YaHei" panose="020B0503020204020204" pitchFamily="34" charset="-122"/>
              </a:rPr>
              <a:t>【0:55–1:20】</a:t>
            </a:r>
            <a:r>
              <a:rPr lang="zh-CN" altLang="en-US">
                <a:latin typeface="Microsoft YaHei" panose="020B0503020204020204" pitchFamily="34" charset="-122"/>
              </a:rPr>
              <a:t>第 </a:t>
            </a:r>
            <a:r>
              <a:rPr lang="en-US" altLang="zh-CN">
                <a:latin typeface="Microsoft YaHei" panose="020B0503020204020204" pitchFamily="34" charset="-122"/>
              </a:rPr>
              <a:t>3 </a:t>
            </a:r>
            <a:r>
              <a:rPr lang="zh-CN" altLang="en-US">
                <a:latin typeface="Microsoft YaHei" panose="020B0503020204020204" pitchFamily="34" charset="-122"/>
              </a:rPr>
              <a:t>页 </a:t>
            </a:r>
            <a:r>
              <a:rPr lang="en-US" altLang="zh-CN">
                <a:latin typeface="Microsoft YaHei" panose="020B0503020204020204" pitchFamily="34" charset="-122"/>
              </a:rPr>
              <a:t>· </a:t>
            </a:r>
            <a:r>
              <a:rPr lang="zh-CN" altLang="en-US">
                <a:latin typeface="Microsoft YaHei" panose="020B0503020204020204" pitchFamily="34" charset="-122"/>
              </a:rPr>
              <a:t>范围：三个模块，一条主线</a:t>
            </a:r>
          </a:p>
          <a:p>
            <a:r>
              <a:rPr lang="en-US" altLang="zh-CN">
                <a:latin typeface="Microsoft YaHei" panose="020B0503020204020204" pitchFamily="34" charset="-122"/>
              </a:rPr>
              <a:t>【</a:t>
            </a:r>
            <a:r>
              <a:rPr lang="zh-CN" altLang="en-US">
                <a:latin typeface="Microsoft YaHei" panose="020B0503020204020204" pitchFamily="34" charset="-122"/>
              </a:rPr>
              <a:t>动作</a:t>
            </a:r>
            <a:r>
              <a:rPr lang="en-US" altLang="zh-CN">
                <a:latin typeface="Microsoft YaHei" panose="020B0503020204020204" pitchFamily="34" charset="-122"/>
              </a:rPr>
              <a:t>】</a:t>
            </a:r>
            <a:r>
              <a:rPr lang="zh-CN" altLang="en-US">
                <a:latin typeface="Microsoft YaHei" panose="020B0503020204020204" pitchFamily="34" charset="-122"/>
              </a:rPr>
              <a:t>依次指三张卡片。说到没有丢时，指底部那行未做条线。</a:t>
            </a:r>
          </a:p>
          <a:p>
            <a:r>
              <a:rPr lang="en-US" altLang="zh-CN">
                <a:latin typeface="Microsoft YaHei" panose="020B0503020204020204" pitchFamily="34" charset="-122"/>
              </a:rPr>
              <a:t>【</a:t>
            </a:r>
            <a:r>
              <a:rPr lang="zh-CN" altLang="en-US">
                <a:latin typeface="Microsoft YaHei" panose="020B0503020204020204" pitchFamily="34" charset="-122"/>
              </a:rPr>
              <a:t>逐字稿</a:t>
            </a:r>
            <a:r>
              <a:rPr lang="en-US" altLang="zh-CN">
                <a:latin typeface="Microsoft YaHei" panose="020B0503020204020204" pitchFamily="34" charset="-122"/>
              </a:rPr>
              <a:t>】</a:t>
            </a:r>
          </a:p>
          <a:p>
            <a:r>
              <a:rPr lang="zh-CN" altLang="en-US">
                <a:latin typeface="Microsoft YaHei" panose="020B0503020204020204" pitchFamily="34" charset="-122"/>
              </a:rPr>
              <a:t>三个模块对应三种时间尺度。任务管今天，优先级、截止日期、完成状态，逾期标红。目标管五年，按经济、政治、文化、社会、生态五个维度分类，分五年、年度、季度三级，用进度条量化。账本管资源，按月汇总收入、支出、结余，再按分类算占比。思想、教育、健康、社交、工作这五条线没有丢，只是排在后面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1E9B58-BF12-4F32-B5DB-D919FD54A90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39545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>
                <a:latin typeface="Microsoft YaHei" panose="020B0503020204020204" pitchFamily="34" charset="-122"/>
              </a:rPr>
              <a:t>【1:20–1:50】</a:t>
            </a:r>
            <a:r>
              <a:rPr lang="zh-CN" altLang="en-US">
                <a:latin typeface="Microsoft YaHei" panose="020B0503020204020204" pitchFamily="34" charset="-122"/>
              </a:rPr>
              <a:t>第 </a:t>
            </a:r>
            <a:r>
              <a:rPr lang="en-US" altLang="zh-CN">
                <a:latin typeface="Microsoft YaHei" panose="020B0503020204020204" pitchFamily="34" charset="-122"/>
              </a:rPr>
              <a:t>4 </a:t>
            </a:r>
            <a:r>
              <a:rPr lang="zh-CN" altLang="en-US">
                <a:latin typeface="Microsoft YaHei" panose="020B0503020204020204" pitchFamily="34" charset="-122"/>
              </a:rPr>
              <a:t>页 </a:t>
            </a:r>
            <a:r>
              <a:rPr lang="en-US" altLang="zh-CN">
                <a:latin typeface="Microsoft YaHei" panose="020B0503020204020204" pitchFamily="34" charset="-122"/>
              </a:rPr>
              <a:t>· </a:t>
            </a:r>
            <a:r>
              <a:rPr lang="zh-CN" altLang="en-US">
                <a:latin typeface="Microsoft YaHei" panose="020B0503020204020204" pitchFamily="34" charset="-122"/>
              </a:rPr>
              <a:t>架构：一条请求走完五层</a:t>
            </a:r>
          </a:p>
          <a:p>
            <a:r>
              <a:rPr lang="en-US" altLang="zh-CN">
                <a:latin typeface="Microsoft YaHei" panose="020B0503020204020204" pitchFamily="34" charset="-122"/>
              </a:rPr>
              <a:t>【</a:t>
            </a:r>
            <a:r>
              <a:rPr lang="zh-CN" altLang="en-US">
                <a:latin typeface="Microsoft YaHei" panose="020B0503020204020204" pitchFamily="34" charset="-122"/>
              </a:rPr>
              <a:t>动作</a:t>
            </a:r>
            <a:r>
              <a:rPr lang="en-US" altLang="zh-CN">
                <a:latin typeface="Microsoft YaHei" panose="020B0503020204020204" pitchFamily="34" charset="-122"/>
              </a:rPr>
              <a:t>】</a:t>
            </a:r>
            <a:r>
              <a:rPr lang="zh-CN" altLang="en-US">
                <a:latin typeface="Microsoft YaHei" panose="020B0503020204020204" pitchFamily="34" charset="-122"/>
              </a:rPr>
              <a:t>手指顺着左侧流程从上往下走。说到 </a:t>
            </a:r>
            <a:r>
              <a:rPr lang="en-US" altLang="zh-CN">
                <a:latin typeface="Microsoft YaHei" panose="020B0503020204020204" pitchFamily="34" charset="-122"/>
              </a:rPr>
              <a:t>JSP </a:t>
            </a:r>
            <a:r>
              <a:rPr lang="zh-CN" altLang="en-US">
                <a:latin typeface="Microsoft YaHei" panose="020B0503020204020204" pitchFamily="34" charset="-122"/>
              </a:rPr>
              <a:t>时，指底部那条返回路径。</a:t>
            </a:r>
          </a:p>
          <a:p>
            <a:r>
              <a:rPr lang="en-US" altLang="zh-CN">
                <a:latin typeface="Microsoft YaHei" panose="020B0503020204020204" pitchFamily="34" charset="-122"/>
              </a:rPr>
              <a:t>【</a:t>
            </a:r>
            <a:r>
              <a:rPr lang="zh-CN" altLang="en-US">
                <a:latin typeface="Microsoft YaHei" panose="020B0503020204020204" pitchFamily="34" charset="-122"/>
              </a:rPr>
              <a:t>逐字稿</a:t>
            </a:r>
            <a:r>
              <a:rPr lang="en-US" altLang="zh-CN">
                <a:latin typeface="Microsoft YaHei" panose="020B0503020204020204" pitchFamily="34" charset="-122"/>
              </a:rPr>
              <a:t>】</a:t>
            </a:r>
          </a:p>
          <a:p>
            <a:r>
              <a:rPr lang="zh-CN" altLang="en-US">
                <a:latin typeface="Microsoft YaHei" panose="020B0503020204020204" pitchFamily="34" charset="-122"/>
              </a:rPr>
              <a:t>技术上是原生 </a:t>
            </a:r>
            <a:r>
              <a:rPr lang="en-US" altLang="zh-CN">
                <a:latin typeface="Microsoft YaHei" panose="020B0503020204020204" pitchFamily="34" charset="-122"/>
              </a:rPr>
              <a:t>JavaWeb</a:t>
            </a:r>
            <a:r>
              <a:rPr lang="zh-CN" altLang="en-US">
                <a:latin typeface="Microsoft YaHei" panose="020B0503020204020204" pitchFamily="34" charset="-122"/>
              </a:rPr>
              <a:t>：</a:t>
            </a:r>
            <a:r>
              <a:rPr lang="en-US" altLang="zh-CN">
                <a:latin typeface="Microsoft YaHei" panose="020B0503020204020204" pitchFamily="34" charset="-122"/>
              </a:rPr>
              <a:t>JDK 17</a:t>
            </a:r>
            <a:r>
              <a:rPr lang="zh-CN" altLang="en-US">
                <a:latin typeface="Microsoft YaHei" panose="020B0503020204020204" pitchFamily="34" charset="-122"/>
              </a:rPr>
              <a:t>、</a:t>
            </a:r>
            <a:r>
              <a:rPr lang="en-US" altLang="zh-CN">
                <a:latin typeface="Microsoft YaHei" panose="020B0503020204020204" pitchFamily="34" charset="-122"/>
              </a:rPr>
              <a:t>Tomcat 10.1</a:t>
            </a:r>
            <a:r>
              <a:rPr lang="zh-CN" altLang="en-US">
                <a:latin typeface="Microsoft YaHei" panose="020B0503020204020204" pitchFamily="34" charset="-122"/>
              </a:rPr>
              <a:t>、</a:t>
            </a:r>
            <a:r>
              <a:rPr lang="en-US" altLang="zh-CN">
                <a:latin typeface="Microsoft YaHei" panose="020B0503020204020204" pitchFamily="34" charset="-122"/>
              </a:rPr>
              <a:t>MySQL 8</a:t>
            </a:r>
            <a:r>
              <a:rPr lang="zh-CN" altLang="en-US">
                <a:latin typeface="Microsoft YaHei" panose="020B0503020204020204" pitchFamily="34" charset="-122"/>
              </a:rPr>
              <a:t>、</a:t>
            </a:r>
            <a:r>
              <a:rPr lang="en-US" altLang="zh-CN">
                <a:latin typeface="Microsoft YaHei" panose="020B0503020204020204" pitchFamily="34" charset="-122"/>
              </a:rPr>
              <a:t>JSP </a:t>
            </a:r>
            <a:r>
              <a:rPr lang="zh-CN" altLang="en-US">
                <a:latin typeface="Microsoft YaHei" panose="020B0503020204020204" pitchFamily="34" charset="-122"/>
              </a:rPr>
              <a:t>加 </a:t>
            </a:r>
            <a:r>
              <a:rPr lang="en-US" altLang="zh-CN">
                <a:latin typeface="Microsoft YaHei" panose="020B0503020204020204" pitchFamily="34" charset="-122"/>
              </a:rPr>
              <a:t>Servlet</a:t>
            </a:r>
            <a:r>
              <a:rPr lang="zh-CN" altLang="en-US">
                <a:latin typeface="Microsoft YaHei" panose="020B0503020204020204" pitchFamily="34" charset="-122"/>
              </a:rPr>
              <a:t>、</a:t>
            </a:r>
            <a:r>
              <a:rPr lang="en-US" altLang="zh-CN">
                <a:latin typeface="Microsoft YaHei" panose="020B0503020204020204" pitchFamily="34" charset="-122"/>
              </a:rPr>
              <a:t>JSTL </a:t>
            </a:r>
            <a:r>
              <a:rPr lang="zh-CN" altLang="en-US">
                <a:latin typeface="Microsoft YaHei" panose="020B0503020204020204" pitchFamily="34" charset="-122"/>
              </a:rPr>
              <a:t>渲染、</a:t>
            </a:r>
            <a:r>
              <a:rPr lang="en-US" altLang="zh-CN">
                <a:latin typeface="Microsoft YaHei" panose="020B0503020204020204" pitchFamily="34" charset="-122"/>
              </a:rPr>
              <a:t>Maven </a:t>
            </a:r>
            <a:r>
              <a:rPr lang="zh-CN" altLang="en-US">
                <a:latin typeface="Microsoft YaHei" panose="020B0503020204020204" pitchFamily="34" charset="-122"/>
              </a:rPr>
              <a:t>打 </a:t>
            </a:r>
            <a:r>
              <a:rPr lang="en-US" altLang="zh-CN">
                <a:latin typeface="Microsoft YaHei" panose="020B0503020204020204" pitchFamily="34" charset="-122"/>
              </a:rPr>
              <a:t>war</a:t>
            </a:r>
            <a:r>
              <a:rPr lang="zh-CN" altLang="en-US">
                <a:latin typeface="Microsoft YaHei" panose="020B0503020204020204" pitchFamily="34" charset="-122"/>
              </a:rPr>
              <a:t>，密码用 </a:t>
            </a:r>
            <a:r>
              <a:rPr lang="en-US" altLang="zh-CN">
                <a:latin typeface="Microsoft YaHei" panose="020B0503020204020204" pitchFamily="34" charset="-122"/>
              </a:rPr>
              <a:t>BCrypt</a:t>
            </a:r>
            <a:r>
              <a:rPr lang="zh-CN" altLang="en-US">
                <a:latin typeface="Microsoft YaHei" panose="020B0503020204020204" pitchFamily="34" charset="-122"/>
              </a:rPr>
              <a:t>，数据访问只有 </a:t>
            </a:r>
            <a:r>
              <a:rPr lang="en-US" altLang="zh-CN">
                <a:latin typeface="Microsoft YaHei" panose="020B0503020204020204" pitchFamily="34" charset="-122"/>
              </a:rPr>
              <a:t>JDBC </a:t>
            </a:r>
            <a:r>
              <a:rPr lang="zh-CN" altLang="en-US">
                <a:latin typeface="Microsoft YaHei" panose="020B0503020204020204" pitchFamily="34" charset="-122"/>
              </a:rPr>
              <a:t>加 </a:t>
            </a:r>
            <a:r>
              <a:rPr lang="en-US" altLang="zh-CN">
                <a:latin typeface="Microsoft YaHei" panose="020B0503020204020204" pitchFamily="34" charset="-122"/>
              </a:rPr>
              <a:t>PreparedStatement</a:t>
            </a:r>
            <a:r>
              <a:rPr lang="zh-CN" altLang="en-US">
                <a:latin typeface="Microsoft YaHei" panose="020B0503020204020204" pitchFamily="34" charset="-122"/>
              </a:rPr>
              <a:t>，没有引入 </a:t>
            </a:r>
            <a:r>
              <a:rPr lang="en-US" altLang="zh-CN">
                <a:latin typeface="Microsoft YaHei" panose="020B0503020204020204" pitchFamily="34" charset="-122"/>
              </a:rPr>
              <a:t>ORM</a:t>
            </a:r>
            <a:r>
              <a:rPr lang="zh-CN" altLang="en-US">
                <a:latin typeface="Microsoft YaHei" panose="020B0503020204020204" pitchFamily="34" charset="-122"/>
              </a:rPr>
              <a:t>，也没有前端框架。一次请求进来，先过 </a:t>
            </a:r>
            <a:r>
              <a:rPr lang="en-US" altLang="zh-CN">
                <a:latin typeface="Microsoft YaHei" panose="020B0503020204020204" pitchFamily="34" charset="-122"/>
              </a:rPr>
              <a:t>LoginFilter </a:t>
            </a:r>
            <a:r>
              <a:rPr lang="zh-CN" altLang="en-US">
                <a:latin typeface="Microsoft YaHei" panose="020B0503020204020204" pitchFamily="34" charset="-122"/>
              </a:rPr>
              <a:t>判断登录态，再进 </a:t>
            </a:r>
            <a:r>
              <a:rPr lang="en-US" altLang="zh-CN">
                <a:latin typeface="Microsoft YaHei" panose="020B0503020204020204" pitchFamily="34" charset="-122"/>
              </a:rPr>
              <a:t>BaseServlet </a:t>
            </a:r>
            <a:r>
              <a:rPr lang="zh-CN" altLang="en-US">
                <a:latin typeface="Microsoft YaHei" panose="020B0503020204020204" pitchFamily="34" charset="-122"/>
              </a:rPr>
              <a:t>分发到具体 </a:t>
            </a:r>
            <a:r>
              <a:rPr lang="en-US" altLang="zh-CN">
                <a:latin typeface="Microsoft YaHei" panose="020B0503020204020204" pitchFamily="34" charset="-122"/>
              </a:rPr>
              <a:t>Servlet </a:t>
            </a:r>
            <a:r>
              <a:rPr lang="zh-CN" altLang="en-US">
                <a:latin typeface="Microsoft YaHei" panose="020B0503020204020204" pitchFamily="34" charset="-122"/>
              </a:rPr>
              <a:t>取参数，</a:t>
            </a:r>
            <a:r>
              <a:rPr lang="en-US" altLang="zh-CN">
                <a:latin typeface="Microsoft YaHei" panose="020B0503020204020204" pitchFamily="34" charset="-122"/>
              </a:rPr>
              <a:t>Service </a:t>
            </a:r>
            <a:r>
              <a:rPr lang="zh-CN" altLang="en-US">
                <a:latin typeface="Microsoft YaHei" panose="020B0503020204020204" pitchFamily="34" charset="-122"/>
              </a:rPr>
              <a:t>做校验和越权判断，</a:t>
            </a:r>
            <a:r>
              <a:rPr lang="en-US" altLang="zh-CN">
                <a:latin typeface="Microsoft YaHei" panose="020B0503020204020204" pitchFamily="34" charset="-122"/>
              </a:rPr>
              <a:t>DAO </a:t>
            </a:r>
            <a:r>
              <a:rPr lang="zh-CN" altLang="en-US">
                <a:latin typeface="Microsoft YaHei" panose="020B0503020204020204" pitchFamily="34" charset="-122"/>
              </a:rPr>
              <a:t>执行 </a:t>
            </a:r>
            <a:r>
              <a:rPr lang="en-US" altLang="zh-CN">
                <a:latin typeface="Microsoft YaHei" panose="020B0503020204020204" pitchFamily="34" charset="-122"/>
              </a:rPr>
              <a:t>SQL</a:t>
            </a:r>
            <a:r>
              <a:rPr lang="zh-CN" altLang="en-US">
                <a:latin typeface="Microsoft YaHei" panose="020B0503020204020204" pitchFamily="34" charset="-122"/>
              </a:rPr>
              <a:t>，最后转发到 </a:t>
            </a:r>
            <a:r>
              <a:rPr lang="en-US" altLang="zh-CN">
                <a:latin typeface="Microsoft YaHei" panose="020B0503020204020204" pitchFamily="34" charset="-122"/>
              </a:rPr>
              <a:t>WEB-INF </a:t>
            </a:r>
            <a:r>
              <a:rPr lang="zh-CN" altLang="en-US">
                <a:latin typeface="Microsoft YaHei" panose="020B0503020204020204" pitchFamily="34" charset="-122"/>
              </a:rPr>
              <a:t>下的 </a:t>
            </a:r>
            <a:r>
              <a:rPr lang="en-US" altLang="zh-CN">
                <a:latin typeface="Microsoft YaHei" panose="020B0503020204020204" pitchFamily="34" charset="-122"/>
              </a:rPr>
              <a:t>JSP </a:t>
            </a:r>
            <a:r>
              <a:rPr lang="zh-CN" altLang="en-US">
                <a:latin typeface="Microsoft YaHei" panose="020B0503020204020204" pitchFamily="34" charset="-122"/>
              </a:rPr>
              <a:t>渲染。纪律是三句话：</a:t>
            </a:r>
            <a:r>
              <a:rPr lang="en-US" altLang="zh-CN">
                <a:latin typeface="Microsoft YaHei" panose="020B0503020204020204" pitchFamily="34" charset="-122"/>
              </a:rPr>
              <a:t>Servlet </a:t>
            </a:r>
            <a:r>
              <a:rPr lang="zh-CN" altLang="en-US">
                <a:latin typeface="Microsoft YaHei" panose="020B0503020204020204" pitchFamily="34" charset="-122"/>
              </a:rPr>
              <a:t>不写 </a:t>
            </a:r>
            <a:r>
              <a:rPr lang="en-US" altLang="zh-CN">
                <a:latin typeface="Microsoft YaHei" panose="020B0503020204020204" pitchFamily="34" charset="-122"/>
              </a:rPr>
              <a:t>SQL</a:t>
            </a:r>
            <a:r>
              <a:rPr lang="zh-CN" altLang="en-US">
                <a:latin typeface="Microsoft YaHei" panose="020B0503020204020204" pitchFamily="34" charset="-122"/>
              </a:rPr>
              <a:t>，</a:t>
            </a:r>
            <a:r>
              <a:rPr lang="en-US" altLang="zh-CN">
                <a:latin typeface="Microsoft YaHei" panose="020B0503020204020204" pitchFamily="34" charset="-122"/>
              </a:rPr>
              <a:t>DAO </a:t>
            </a:r>
            <a:r>
              <a:rPr lang="zh-CN" altLang="en-US">
                <a:latin typeface="Microsoft YaHei" panose="020B0503020204020204" pitchFamily="34" charset="-122"/>
              </a:rPr>
              <a:t>不写业务判断，</a:t>
            </a:r>
            <a:r>
              <a:rPr lang="en-US" altLang="zh-CN">
                <a:latin typeface="Microsoft YaHei" panose="020B0503020204020204" pitchFamily="34" charset="-122"/>
              </a:rPr>
              <a:t>JSP </a:t>
            </a:r>
            <a:r>
              <a:rPr lang="zh-CN" altLang="en-US">
                <a:latin typeface="Microsoft YaHei" panose="020B0503020204020204" pitchFamily="34" charset="-122"/>
              </a:rPr>
              <a:t>不查数据库。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1E9B58-BF12-4F32-B5DB-D919FD54A90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88157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>
                <a:latin typeface="Microsoft YaHei" panose="020B0503020204020204" pitchFamily="34" charset="-122"/>
              </a:rPr>
              <a:t>【1:50–2:15】</a:t>
            </a:r>
            <a:r>
              <a:rPr lang="zh-CN" altLang="en-US">
                <a:latin typeface="Microsoft YaHei" panose="020B0503020204020204" pitchFamily="34" charset="-122"/>
              </a:rPr>
              <a:t>第 </a:t>
            </a:r>
            <a:r>
              <a:rPr lang="en-US" altLang="zh-CN">
                <a:latin typeface="Microsoft YaHei" panose="020B0503020204020204" pitchFamily="34" charset="-122"/>
              </a:rPr>
              <a:t>5 </a:t>
            </a:r>
            <a:r>
              <a:rPr lang="zh-CN" altLang="en-US">
                <a:latin typeface="Microsoft YaHei" panose="020B0503020204020204" pitchFamily="34" charset="-122"/>
              </a:rPr>
              <a:t>页 </a:t>
            </a:r>
            <a:r>
              <a:rPr lang="en-US" altLang="zh-CN">
                <a:latin typeface="Microsoft YaHei" panose="020B0503020204020204" pitchFamily="34" charset="-122"/>
              </a:rPr>
              <a:t>· </a:t>
            </a:r>
            <a:r>
              <a:rPr lang="zh-CN" altLang="en-US">
                <a:latin typeface="Microsoft YaHei" panose="020B0503020204020204" pitchFamily="34" charset="-122"/>
              </a:rPr>
              <a:t>数据库：四张表，三条一对多</a:t>
            </a:r>
          </a:p>
          <a:p>
            <a:r>
              <a:rPr lang="en-US" altLang="zh-CN">
                <a:latin typeface="Microsoft YaHei" panose="020B0503020204020204" pitchFamily="34" charset="-122"/>
              </a:rPr>
              <a:t>【</a:t>
            </a:r>
            <a:r>
              <a:rPr lang="zh-CN" altLang="en-US">
                <a:latin typeface="Microsoft YaHei" panose="020B0503020204020204" pitchFamily="34" charset="-122"/>
              </a:rPr>
              <a:t>动作</a:t>
            </a:r>
            <a:r>
              <a:rPr lang="en-US" altLang="zh-CN">
                <a:latin typeface="Microsoft YaHei" panose="020B0503020204020204" pitchFamily="34" charset="-122"/>
              </a:rPr>
              <a:t>】</a:t>
            </a:r>
            <a:r>
              <a:rPr lang="zh-CN" altLang="en-US">
                <a:latin typeface="Microsoft YaHei" panose="020B0503020204020204" pitchFamily="34" charset="-122"/>
              </a:rPr>
              <a:t>先指 </a:t>
            </a:r>
            <a:r>
              <a:rPr lang="en-US" altLang="zh-CN">
                <a:latin typeface="Microsoft YaHei" panose="020B0503020204020204" pitchFamily="34" charset="-122"/>
              </a:rPr>
              <a:t>t_user</a:t>
            </a:r>
            <a:r>
              <a:rPr lang="zh-CN" altLang="en-US">
                <a:latin typeface="Microsoft YaHei" panose="020B0503020204020204" pitchFamily="34" charset="-122"/>
              </a:rPr>
              <a:t>，再依次指下面三张表，最后指底部四个索引标签。</a:t>
            </a:r>
          </a:p>
          <a:p>
            <a:r>
              <a:rPr lang="en-US" altLang="zh-CN">
                <a:latin typeface="Microsoft YaHei" panose="020B0503020204020204" pitchFamily="34" charset="-122"/>
              </a:rPr>
              <a:t>【</a:t>
            </a:r>
            <a:r>
              <a:rPr lang="zh-CN" altLang="en-US">
                <a:latin typeface="Microsoft YaHei" panose="020B0503020204020204" pitchFamily="34" charset="-122"/>
              </a:rPr>
              <a:t>逐字稿</a:t>
            </a:r>
            <a:r>
              <a:rPr lang="en-US" altLang="zh-CN">
                <a:latin typeface="Microsoft YaHei" panose="020B0503020204020204" pitchFamily="34" charset="-122"/>
              </a:rPr>
              <a:t>】</a:t>
            </a:r>
          </a:p>
          <a:p>
            <a:r>
              <a:rPr lang="zh-CN" altLang="en-US">
                <a:latin typeface="Microsoft YaHei" panose="020B0503020204020204" pitchFamily="34" charset="-122"/>
              </a:rPr>
              <a:t>数据库叫 </a:t>
            </a:r>
            <a:r>
              <a:rPr lang="en-US" altLang="zh-CN">
                <a:latin typeface="Microsoft YaHei" panose="020B0503020204020204" pitchFamily="34" charset="-122"/>
              </a:rPr>
              <a:t>life_db</a:t>
            </a:r>
            <a:r>
              <a:rPr lang="zh-CN" altLang="en-US">
                <a:latin typeface="Microsoft YaHei" panose="020B0503020204020204" pitchFamily="34" charset="-122"/>
              </a:rPr>
              <a:t>，字符集 </a:t>
            </a:r>
            <a:r>
              <a:rPr lang="en-US" altLang="zh-CN">
                <a:latin typeface="Microsoft YaHei" panose="020B0503020204020204" pitchFamily="34" charset="-122"/>
              </a:rPr>
              <a:t>utf8mb4</a:t>
            </a:r>
            <a:r>
              <a:rPr lang="zh-CN" altLang="en-US">
                <a:latin typeface="Microsoft YaHei" panose="020B0503020204020204" pitchFamily="34" charset="-122"/>
              </a:rPr>
              <a:t>，引擎 </a:t>
            </a:r>
            <a:r>
              <a:rPr lang="en-US" altLang="zh-CN">
                <a:latin typeface="Microsoft YaHei" panose="020B0503020204020204" pitchFamily="34" charset="-122"/>
              </a:rPr>
              <a:t>InnoDB</a:t>
            </a:r>
            <a:r>
              <a:rPr lang="zh-CN" altLang="en-US">
                <a:latin typeface="Microsoft YaHei" panose="020B0503020204020204" pitchFamily="34" charset="-122"/>
              </a:rPr>
              <a:t>。四张表：用户、任务、目标、账单，一共三十四个字段。三条一对多，外键都是 </a:t>
            </a:r>
            <a:r>
              <a:rPr lang="en-US" altLang="zh-CN">
                <a:latin typeface="Microsoft YaHei" panose="020B0503020204020204" pitchFamily="34" charset="-122"/>
              </a:rPr>
              <a:t>user_id</a:t>
            </a:r>
            <a:r>
              <a:rPr lang="zh-CN" altLang="en-US">
                <a:latin typeface="Microsoft YaHei" panose="020B0503020204020204" pitchFamily="34" charset="-122"/>
              </a:rPr>
              <a:t>，全部级联删除，删掉一个用户，他的任务、目标和账单一起清掉，不留孤儿数据。索引上，用户名是唯一键；任务和目标按 </a:t>
            </a:r>
            <a:r>
              <a:rPr lang="en-US" altLang="zh-CN">
                <a:latin typeface="Microsoft YaHei" panose="020B0503020204020204" pitchFamily="34" charset="-122"/>
              </a:rPr>
              <a:t>user_id </a:t>
            </a:r>
            <a:r>
              <a:rPr lang="zh-CN" altLang="en-US">
                <a:latin typeface="Microsoft YaHei" panose="020B0503020204020204" pitchFamily="34" charset="-122"/>
              </a:rPr>
              <a:t>建单列索引；账单是 </a:t>
            </a:r>
            <a:r>
              <a:rPr lang="en-US" altLang="zh-CN">
                <a:latin typeface="Microsoft YaHei" panose="020B0503020204020204" pitchFamily="34" charset="-122"/>
              </a:rPr>
              <a:t>user_id </a:t>
            </a:r>
            <a:r>
              <a:rPr lang="zh-CN" altLang="en-US">
                <a:latin typeface="Microsoft YaHei" panose="020B0503020204020204" pitchFamily="34" charset="-122"/>
              </a:rPr>
              <a:t>加日期的联合索引，因为最常用的查询是某个人某个月。金额字段用 </a:t>
            </a:r>
            <a:r>
              <a:rPr lang="en-US" altLang="zh-CN">
                <a:latin typeface="Microsoft YaHei" panose="020B0503020204020204" pitchFamily="34" charset="-122"/>
              </a:rPr>
              <a:t>DECIMAL </a:t>
            </a:r>
            <a:r>
              <a:rPr lang="zh-CN" altLang="en-US">
                <a:latin typeface="Microsoft YaHei" panose="020B0503020204020204" pitchFamily="34" charset="-122"/>
              </a:rPr>
              <a:t>十二位两位小数。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1E9B58-BF12-4F32-B5DB-D919FD54A903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12070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>
                <a:latin typeface="Microsoft YaHei" panose="020B0503020204020204" pitchFamily="34" charset="-122"/>
              </a:rPr>
              <a:t>【2:15–2:40】</a:t>
            </a:r>
            <a:r>
              <a:rPr lang="zh-CN" altLang="en-US">
                <a:latin typeface="Microsoft YaHei" panose="020B0503020204020204" pitchFamily="34" charset="-122"/>
              </a:rPr>
              <a:t>第 </a:t>
            </a:r>
            <a:r>
              <a:rPr lang="en-US" altLang="zh-CN">
                <a:latin typeface="Microsoft YaHei" panose="020B0503020204020204" pitchFamily="34" charset="-122"/>
              </a:rPr>
              <a:t>6 </a:t>
            </a:r>
            <a:r>
              <a:rPr lang="zh-CN" altLang="en-US">
                <a:latin typeface="Microsoft YaHei" panose="020B0503020204020204" pitchFamily="34" charset="-122"/>
              </a:rPr>
              <a:t>页 </a:t>
            </a:r>
            <a:r>
              <a:rPr lang="en-US" altLang="zh-CN">
                <a:latin typeface="Microsoft YaHei" panose="020B0503020204020204" pitchFamily="34" charset="-122"/>
              </a:rPr>
              <a:t>· </a:t>
            </a:r>
            <a:r>
              <a:rPr lang="zh-CN" altLang="en-US">
                <a:latin typeface="Microsoft YaHei" panose="020B0503020204020204" pitchFamily="34" charset="-122"/>
              </a:rPr>
              <a:t>权限：两层拦截，一条底线</a:t>
            </a:r>
          </a:p>
          <a:p>
            <a:r>
              <a:rPr lang="en-US" altLang="zh-CN">
                <a:latin typeface="Microsoft YaHei" panose="020B0503020204020204" pitchFamily="34" charset="-122"/>
              </a:rPr>
              <a:t>【</a:t>
            </a:r>
            <a:r>
              <a:rPr lang="zh-CN" altLang="en-US">
                <a:latin typeface="Microsoft YaHei" panose="020B0503020204020204" pitchFamily="34" charset="-122"/>
              </a:rPr>
              <a:t>动作</a:t>
            </a:r>
            <a:r>
              <a:rPr lang="en-US" altLang="zh-CN">
                <a:latin typeface="Microsoft YaHei" panose="020B0503020204020204" pitchFamily="34" charset="-122"/>
              </a:rPr>
              <a:t>】</a:t>
            </a:r>
            <a:r>
              <a:rPr lang="zh-CN" altLang="en-US">
                <a:latin typeface="Microsoft YaHei" panose="020B0503020204020204" pitchFamily="34" charset="-122"/>
              </a:rPr>
              <a:t>左手比两层，右手向下压一下表示底线。</a:t>
            </a:r>
          </a:p>
          <a:p>
            <a:r>
              <a:rPr lang="en-US" altLang="zh-CN">
                <a:latin typeface="Microsoft YaHei" panose="020B0503020204020204" pitchFamily="34" charset="-122"/>
              </a:rPr>
              <a:t>【</a:t>
            </a:r>
            <a:r>
              <a:rPr lang="zh-CN" altLang="en-US">
                <a:latin typeface="Microsoft YaHei" panose="020B0503020204020204" pitchFamily="34" charset="-122"/>
              </a:rPr>
              <a:t>逐字稿</a:t>
            </a:r>
            <a:r>
              <a:rPr lang="en-US" altLang="zh-CN">
                <a:latin typeface="Microsoft YaHei" panose="020B0503020204020204" pitchFamily="34" charset="-122"/>
              </a:rPr>
              <a:t>】</a:t>
            </a:r>
          </a:p>
          <a:p>
            <a:r>
              <a:rPr lang="zh-CN" altLang="en-US">
                <a:latin typeface="Microsoft YaHei" panose="020B0503020204020204" pitchFamily="34" charset="-122"/>
              </a:rPr>
              <a:t>权限分两层。第一层 </a:t>
            </a:r>
            <a:r>
              <a:rPr lang="en-US" altLang="zh-CN">
                <a:latin typeface="Microsoft YaHei" panose="020B0503020204020204" pitchFamily="34" charset="-122"/>
              </a:rPr>
              <a:t>LoginFilter </a:t>
            </a:r>
            <a:r>
              <a:rPr lang="zh-CN" altLang="en-US">
                <a:latin typeface="Microsoft YaHei" panose="020B0503020204020204" pitchFamily="34" charset="-122"/>
              </a:rPr>
              <a:t>拦所有路径，白名单只有首页、登录、注册和静态资源。第二层 </a:t>
            </a:r>
            <a:r>
              <a:rPr lang="en-US" altLang="zh-CN">
                <a:latin typeface="Microsoft YaHei" panose="020B0503020204020204" pitchFamily="34" charset="-122"/>
              </a:rPr>
              <a:t>AdminFilter </a:t>
            </a:r>
            <a:r>
              <a:rPr lang="zh-CN" altLang="en-US">
                <a:latin typeface="Microsoft YaHei" panose="020B0503020204020204" pitchFamily="34" charset="-122"/>
              </a:rPr>
              <a:t>拦 </a:t>
            </a:r>
            <a:r>
              <a:rPr lang="en-US" altLang="zh-CN">
                <a:latin typeface="Microsoft YaHei" panose="020B0503020204020204" pitchFamily="34" charset="-122"/>
              </a:rPr>
              <a:t>admin </a:t>
            </a:r>
            <a:r>
              <a:rPr lang="zh-CN" altLang="en-US">
                <a:latin typeface="Microsoft YaHei" panose="020B0503020204020204" pitchFamily="34" charset="-122"/>
              </a:rPr>
              <a:t>目录，普通用户访问直接 </a:t>
            </a:r>
            <a:r>
              <a:rPr lang="en-US" altLang="zh-CN">
                <a:latin typeface="Microsoft YaHei" panose="020B0503020204020204" pitchFamily="34" charset="-122"/>
              </a:rPr>
              <a:t>403</a:t>
            </a:r>
            <a:r>
              <a:rPr lang="zh-CN" altLang="en-US">
                <a:latin typeface="Microsoft YaHei" panose="020B0503020204020204" pitchFamily="34" charset="-122"/>
              </a:rPr>
              <a:t>，跳到友好提示页。密码用 </a:t>
            </a:r>
            <a:r>
              <a:rPr lang="en-US" altLang="zh-CN">
                <a:latin typeface="Microsoft YaHei" panose="020B0503020204020204" pitchFamily="34" charset="-122"/>
              </a:rPr>
              <a:t>BCrypt </a:t>
            </a:r>
            <a:r>
              <a:rPr lang="zh-CN" altLang="en-US">
                <a:latin typeface="Microsoft YaHei" panose="020B0503020204020204" pitchFamily="34" charset="-122"/>
              </a:rPr>
              <a:t>加盐哈希，库里不存明文。登录成功把 </a:t>
            </a:r>
            <a:r>
              <a:rPr lang="en-US" altLang="zh-CN">
                <a:latin typeface="Microsoft YaHei" panose="020B0503020204020204" pitchFamily="34" charset="-122"/>
              </a:rPr>
              <a:t>User </a:t>
            </a:r>
            <a:r>
              <a:rPr lang="zh-CN" altLang="en-US">
                <a:latin typeface="Microsoft YaHei" panose="020B0503020204020204" pitchFamily="34" charset="-122"/>
              </a:rPr>
              <a:t>放进 </a:t>
            </a:r>
            <a:r>
              <a:rPr lang="en-US" altLang="zh-CN">
                <a:latin typeface="Microsoft YaHei" panose="020B0503020204020204" pitchFamily="34" charset="-122"/>
              </a:rPr>
              <a:t>Session</a:t>
            </a:r>
            <a:r>
              <a:rPr lang="zh-CN" altLang="en-US">
                <a:latin typeface="Microsoft YaHei" panose="020B0503020204020204" pitchFamily="34" charset="-122"/>
              </a:rPr>
              <a:t>，三十分钟有效。真正的底线在数据层，所有任务、目标、账单的查询和修改都带 </a:t>
            </a:r>
            <a:r>
              <a:rPr lang="en-US" altLang="zh-CN">
                <a:latin typeface="Microsoft YaHei" panose="020B0503020204020204" pitchFamily="34" charset="-122"/>
              </a:rPr>
              <a:t>user_id</a:t>
            </a:r>
            <a:r>
              <a:rPr lang="zh-CN" altLang="en-US">
                <a:latin typeface="Microsoft YaHei" panose="020B0503020204020204" pitchFamily="34" charset="-122"/>
              </a:rPr>
              <a:t>，就算有人手改地址栏里的 </a:t>
            </a:r>
            <a:r>
              <a:rPr lang="en-US" altLang="zh-CN">
                <a:latin typeface="Microsoft YaHei" panose="020B0503020204020204" pitchFamily="34" charset="-122"/>
              </a:rPr>
              <a:t>id</a:t>
            </a:r>
            <a:r>
              <a:rPr lang="zh-CN" altLang="en-US">
                <a:latin typeface="Microsoft YaHei" panose="020B0503020204020204" pitchFamily="34" charset="-122"/>
              </a:rPr>
              <a:t>，也只会得到零行受影响，</a:t>
            </a:r>
            <a:r>
              <a:rPr lang="en-US" altLang="zh-CN">
                <a:latin typeface="Microsoft YaHei" panose="020B0503020204020204" pitchFamily="34" charset="-122"/>
              </a:rPr>
              <a:t>Service </a:t>
            </a:r>
            <a:r>
              <a:rPr lang="zh-CN" altLang="en-US">
                <a:latin typeface="Microsoft YaHei" panose="020B0503020204020204" pitchFamily="34" charset="-122"/>
              </a:rPr>
              <a:t>抛不存在或无权操作。</a:t>
            </a:r>
            <a:r>
              <a:rPr lang="en-US" altLang="zh-CN">
                <a:latin typeface="Microsoft YaHei" panose="020B0503020204020204" pitchFamily="34" charset="-122"/>
              </a:rPr>
              <a:t>Filter </a:t>
            </a:r>
            <a:r>
              <a:rPr lang="zh-CN" altLang="en-US">
                <a:latin typeface="Microsoft YaHei" panose="020B0503020204020204" pitchFamily="34" charset="-122"/>
              </a:rPr>
              <a:t>管入口，</a:t>
            </a:r>
            <a:r>
              <a:rPr lang="en-US" altLang="zh-CN">
                <a:latin typeface="Microsoft YaHei" panose="020B0503020204020204" pitchFamily="34" charset="-122"/>
              </a:rPr>
              <a:t>SQL </a:t>
            </a:r>
            <a:r>
              <a:rPr lang="zh-CN" altLang="en-US">
                <a:latin typeface="Microsoft YaHei" panose="020B0503020204020204" pitchFamily="34" charset="-122"/>
              </a:rPr>
              <a:t>管归属。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1E9B58-BF12-4F32-B5DB-D919FD54A90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15804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>
                <a:latin typeface="Microsoft YaHei" panose="020B0503020204020204" pitchFamily="34" charset="-122"/>
              </a:rPr>
              <a:t>【2:40–3:10】</a:t>
            </a:r>
            <a:r>
              <a:rPr lang="zh-CN" altLang="en-US">
                <a:latin typeface="Microsoft YaHei" panose="020B0503020204020204" pitchFamily="34" charset="-122"/>
              </a:rPr>
              <a:t>第 </a:t>
            </a:r>
            <a:r>
              <a:rPr lang="en-US" altLang="zh-CN">
                <a:latin typeface="Microsoft YaHei" panose="020B0503020204020204" pitchFamily="34" charset="-122"/>
              </a:rPr>
              <a:t>7 </a:t>
            </a:r>
            <a:r>
              <a:rPr lang="zh-CN" altLang="en-US">
                <a:latin typeface="Microsoft YaHei" panose="020B0503020204020204" pitchFamily="34" charset="-122"/>
              </a:rPr>
              <a:t>页 </a:t>
            </a:r>
            <a:r>
              <a:rPr lang="en-US" altLang="zh-CN">
                <a:latin typeface="Microsoft YaHei" panose="020B0503020204020204" pitchFamily="34" charset="-122"/>
              </a:rPr>
              <a:t>· </a:t>
            </a:r>
            <a:r>
              <a:rPr lang="zh-CN" altLang="en-US">
                <a:latin typeface="Microsoft YaHei" panose="020B0503020204020204" pitchFamily="34" charset="-122"/>
              </a:rPr>
              <a:t>任务模块：从记下来到看得见</a:t>
            </a:r>
          </a:p>
          <a:p>
            <a:r>
              <a:rPr lang="en-US" altLang="zh-CN">
                <a:latin typeface="Microsoft YaHei" panose="020B0503020204020204" pitchFamily="34" charset="-122"/>
              </a:rPr>
              <a:t>【</a:t>
            </a:r>
            <a:r>
              <a:rPr lang="zh-CN" altLang="en-US">
                <a:latin typeface="Microsoft YaHei" panose="020B0503020204020204" pitchFamily="34" charset="-122"/>
              </a:rPr>
              <a:t>动作</a:t>
            </a:r>
            <a:r>
              <a:rPr lang="en-US" altLang="zh-CN">
                <a:latin typeface="Microsoft YaHei" panose="020B0503020204020204" pitchFamily="34" charset="-122"/>
              </a:rPr>
              <a:t>】</a:t>
            </a:r>
            <a:r>
              <a:rPr lang="zh-CN" altLang="en-US">
                <a:latin typeface="Microsoft YaHei" panose="020B0503020204020204" pitchFamily="34" charset="-122"/>
              </a:rPr>
              <a:t>指四张统计卡。现场允许就切浏览器点一条完成，二十秒内切回 </a:t>
            </a:r>
            <a:r>
              <a:rPr lang="en-US" altLang="zh-CN">
                <a:latin typeface="Microsoft YaHei" panose="020B0503020204020204" pitchFamily="34" charset="-122"/>
              </a:rPr>
              <a:t>PPT</a:t>
            </a:r>
            <a:r>
              <a:rPr lang="zh-CN" altLang="en-US">
                <a:latin typeface="Microsoft YaHei" panose="020B0503020204020204" pitchFamily="34" charset="-122"/>
              </a:rPr>
              <a:t>。</a:t>
            </a:r>
          </a:p>
          <a:p>
            <a:r>
              <a:rPr lang="en-US" altLang="zh-CN">
                <a:latin typeface="Microsoft YaHei" panose="020B0503020204020204" pitchFamily="34" charset="-122"/>
              </a:rPr>
              <a:t>【</a:t>
            </a:r>
            <a:r>
              <a:rPr lang="zh-CN" altLang="en-US">
                <a:latin typeface="Microsoft YaHei" panose="020B0503020204020204" pitchFamily="34" charset="-122"/>
              </a:rPr>
              <a:t>逐字稿</a:t>
            </a:r>
            <a:r>
              <a:rPr lang="en-US" altLang="zh-CN">
                <a:latin typeface="Microsoft YaHei" panose="020B0503020204020204" pitchFamily="34" charset="-122"/>
              </a:rPr>
              <a:t>】</a:t>
            </a:r>
          </a:p>
          <a:p>
            <a:r>
              <a:rPr lang="zh-CN" altLang="en-US">
                <a:latin typeface="Microsoft YaHei" panose="020B0503020204020204" pitchFamily="34" charset="-122"/>
              </a:rPr>
              <a:t>任务页顶部四张统计卡：总数、已完成、待办、完成率，由一条聚合 </a:t>
            </a:r>
            <a:r>
              <a:rPr lang="en-US" altLang="zh-CN">
                <a:latin typeface="Microsoft YaHei" panose="020B0503020204020204" pitchFamily="34" charset="-122"/>
              </a:rPr>
              <a:t>SQL </a:t>
            </a:r>
            <a:r>
              <a:rPr lang="zh-CN" altLang="en-US">
                <a:latin typeface="Microsoft YaHei" panose="020B0503020204020204" pitchFamily="34" charset="-122"/>
              </a:rPr>
              <a:t>算出来。列表的排序规则写在 </a:t>
            </a:r>
            <a:r>
              <a:rPr lang="en-US" altLang="zh-CN">
                <a:latin typeface="Microsoft YaHei" panose="020B0503020204020204" pitchFamily="34" charset="-122"/>
              </a:rPr>
              <a:t>SQL </a:t>
            </a:r>
            <a:r>
              <a:rPr lang="zh-CN" altLang="en-US">
                <a:latin typeface="Microsoft YaHei" panose="020B0503020204020204" pitchFamily="34" charset="-122"/>
              </a:rPr>
              <a:t>里：未完成在前，高优先级在前，有截止日期的在前，截止日期近的在前。我给一条任务打勾，完成率立刻从三分之一变成三分之二，那条高优先级的逾期任务仍然标红。新增和修改成功后统一 </a:t>
            </a:r>
            <a:r>
              <a:rPr lang="en-US" altLang="zh-CN">
                <a:latin typeface="Microsoft YaHei" panose="020B0503020204020204" pitchFamily="34" charset="-122"/>
              </a:rPr>
              <a:t>302 </a:t>
            </a:r>
            <a:r>
              <a:rPr lang="zh-CN" altLang="en-US">
                <a:latin typeface="Microsoft YaHei" panose="020B0503020204020204" pitchFamily="34" charset="-122"/>
              </a:rPr>
              <a:t>回列表，也就是 </a:t>
            </a:r>
            <a:r>
              <a:rPr lang="en-US" altLang="zh-CN">
                <a:latin typeface="Microsoft YaHei" panose="020B0503020204020204" pitchFamily="34" charset="-122"/>
              </a:rPr>
              <a:t>PRG</a:t>
            </a:r>
            <a:r>
              <a:rPr lang="zh-CN" altLang="en-US">
                <a:latin typeface="Microsoft YaHei" panose="020B0503020204020204" pitchFamily="34" charset="-122"/>
              </a:rPr>
              <a:t>，刷新页面不会重复提交。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1E9B58-BF12-4F32-B5DB-D919FD54A90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87004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>
                <a:latin typeface="Microsoft YaHei" panose="020B0503020204020204" pitchFamily="34" charset="-122"/>
              </a:rPr>
              <a:t>【3:10–3:35】</a:t>
            </a:r>
            <a:r>
              <a:rPr lang="zh-CN" altLang="en-US">
                <a:latin typeface="Microsoft YaHei" panose="020B0503020204020204" pitchFamily="34" charset="-122"/>
              </a:rPr>
              <a:t>第 </a:t>
            </a:r>
            <a:r>
              <a:rPr lang="en-US" altLang="zh-CN">
                <a:latin typeface="Microsoft YaHei" panose="020B0503020204020204" pitchFamily="34" charset="-122"/>
              </a:rPr>
              <a:t>8 </a:t>
            </a:r>
            <a:r>
              <a:rPr lang="zh-CN" altLang="en-US">
                <a:latin typeface="Microsoft YaHei" panose="020B0503020204020204" pitchFamily="34" charset="-122"/>
              </a:rPr>
              <a:t>页 </a:t>
            </a:r>
            <a:r>
              <a:rPr lang="en-US" altLang="zh-CN">
                <a:latin typeface="Microsoft YaHei" panose="020B0503020204020204" pitchFamily="34" charset="-122"/>
              </a:rPr>
              <a:t>· </a:t>
            </a:r>
            <a:r>
              <a:rPr lang="zh-CN" altLang="en-US">
                <a:latin typeface="Microsoft YaHei" panose="020B0503020204020204" pitchFamily="34" charset="-122"/>
              </a:rPr>
              <a:t>目标：把想要拆成可更新的进度</a:t>
            </a:r>
          </a:p>
          <a:p>
            <a:r>
              <a:rPr lang="en-US" altLang="zh-CN">
                <a:latin typeface="Microsoft YaHei" panose="020B0503020204020204" pitchFamily="34" charset="-122"/>
              </a:rPr>
              <a:t>【</a:t>
            </a:r>
            <a:r>
              <a:rPr lang="zh-CN" altLang="en-US">
                <a:latin typeface="Microsoft YaHei" panose="020B0503020204020204" pitchFamily="34" charset="-122"/>
              </a:rPr>
              <a:t>动作</a:t>
            </a:r>
            <a:r>
              <a:rPr lang="en-US" altLang="zh-CN">
                <a:latin typeface="Microsoft YaHei" panose="020B0503020204020204" pitchFamily="34" charset="-122"/>
              </a:rPr>
              <a:t>】</a:t>
            </a:r>
            <a:r>
              <a:rPr lang="zh-CN" altLang="en-US">
                <a:latin typeface="Microsoft YaHei" panose="020B0503020204020204" pitchFamily="34" charset="-122"/>
              </a:rPr>
              <a:t>指 </a:t>
            </a:r>
            <a:r>
              <a:rPr lang="en-US" altLang="zh-CN">
                <a:latin typeface="Microsoft YaHei" panose="020B0503020204020204" pitchFamily="34" charset="-122"/>
              </a:rPr>
              <a:t>25% </a:t>
            </a:r>
            <a:r>
              <a:rPr lang="zh-CN" altLang="en-US">
                <a:latin typeface="Microsoft YaHei" panose="020B0503020204020204" pitchFamily="34" charset="-122"/>
              </a:rPr>
              <a:t>的进度条，再指加号按钮。说到一百时，指右边那张绿色卡片。</a:t>
            </a:r>
          </a:p>
          <a:p>
            <a:r>
              <a:rPr lang="en-US" altLang="zh-CN">
                <a:latin typeface="Microsoft YaHei" panose="020B0503020204020204" pitchFamily="34" charset="-122"/>
              </a:rPr>
              <a:t>【</a:t>
            </a:r>
            <a:r>
              <a:rPr lang="zh-CN" altLang="en-US">
                <a:latin typeface="Microsoft YaHei" panose="020B0503020204020204" pitchFamily="34" charset="-122"/>
              </a:rPr>
              <a:t>逐字稿</a:t>
            </a:r>
            <a:r>
              <a:rPr lang="en-US" altLang="zh-CN">
                <a:latin typeface="Microsoft YaHei" panose="020B0503020204020204" pitchFamily="34" charset="-122"/>
              </a:rPr>
              <a:t>】</a:t>
            </a:r>
          </a:p>
          <a:p>
            <a:r>
              <a:rPr lang="zh-CN" altLang="en-US">
                <a:latin typeface="Microsoft YaHei" panose="020B0503020204020204" pitchFamily="34" charset="-122"/>
              </a:rPr>
              <a:t>目标按五位一体分五个维度：经济、政治、文化、社会、生态；分五年、年度、季度三级周期；每条都有一个可以点正负百分之十的进度条。二十五点一下变三十五，改到一百时 </a:t>
            </a:r>
            <a:r>
              <a:rPr lang="en-US" altLang="zh-CN">
                <a:latin typeface="Microsoft YaHei" panose="020B0503020204020204" pitchFamily="34" charset="-122"/>
              </a:rPr>
              <a:t>SQL </a:t>
            </a:r>
            <a:r>
              <a:rPr lang="zh-CN" altLang="en-US">
                <a:latin typeface="Microsoft YaHei" panose="020B0503020204020204" pitchFamily="34" charset="-122"/>
              </a:rPr>
              <a:t>里用 </a:t>
            </a:r>
            <a:r>
              <a:rPr lang="en-US" altLang="zh-CN">
                <a:latin typeface="Microsoft YaHei" panose="020B0503020204020204" pitchFamily="34" charset="-122"/>
              </a:rPr>
              <a:t>CASE WHEN </a:t>
            </a:r>
            <a:r>
              <a:rPr lang="zh-CN" altLang="en-US">
                <a:latin typeface="Microsoft YaHei" panose="020B0503020204020204" pitchFamily="34" charset="-122"/>
              </a:rPr>
              <a:t>把状态直接置成已完成，</a:t>
            </a:r>
            <a:r>
              <a:rPr lang="en-US" altLang="zh-CN">
                <a:latin typeface="Microsoft YaHei" panose="020B0503020204020204" pitchFamily="34" charset="-122"/>
              </a:rPr>
              <a:t>Bean </a:t>
            </a:r>
            <a:r>
              <a:rPr lang="zh-CN" altLang="en-US">
                <a:latin typeface="Microsoft YaHei" panose="020B0503020204020204" pitchFamily="34" charset="-122"/>
              </a:rPr>
              <a:t>的 </a:t>
            </a:r>
            <a:r>
              <a:rPr lang="en-US" altLang="zh-CN">
                <a:latin typeface="Microsoft YaHei" panose="020B0503020204020204" pitchFamily="34" charset="-122"/>
              </a:rPr>
              <a:t>isFinished </a:t>
            </a:r>
            <a:r>
              <a:rPr lang="zh-CN" altLang="en-US">
                <a:latin typeface="Microsoft YaHei" panose="020B0503020204020204" pitchFamily="34" charset="-122"/>
              </a:rPr>
              <a:t>再兜底判断一次，属于写入同步加读取兜底。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1E9B58-BF12-4F32-B5DB-D919FD54A90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31436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>
                <a:latin typeface="Microsoft YaHei" panose="020B0503020204020204" pitchFamily="34" charset="-122"/>
              </a:rPr>
              <a:t>【3:35–4:05】</a:t>
            </a:r>
            <a:r>
              <a:rPr lang="zh-CN" altLang="en-US">
                <a:latin typeface="Microsoft YaHei" panose="020B0503020204020204" pitchFamily="34" charset="-122"/>
              </a:rPr>
              <a:t>第 </a:t>
            </a:r>
            <a:r>
              <a:rPr lang="en-US" altLang="zh-CN">
                <a:latin typeface="Microsoft YaHei" panose="020B0503020204020204" pitchFamily="34" charset="-122"/>
              </a:rPr>
              <a:t>9 </a:t>
            </a:r>
            <a:r>
              <a:rPr lang="zh-CN" altLang="en-US">
                <a:latin typeface="Microsoft YaHei" panose="020B0503020204020204" pitchFamily="34" charset="-122"/>
              </a:rPr>
              <a:t>页 </a:t>
            </a:r>
            <a:r>
              <a:rPr lang="en-US" altLang="zh-CN">
                <a:latin typeface="Microsoft YaHei" panose="020B0503020204020204" pitchFamily="34" charset="-122"/>
              </a:rPr>
              <a:t>· </a:t>
            </a:r>
            <a:r>
              <a:rPr lang="zh-CN" altLang="en-US">
                <a:latin typeface="Microsoft YaHei" panose="020B0503020204020204" pitchFamily="34" charset="-122"/>
              </a:rPr>
              <a:t>账本：金额必须精确到分</a:t>
            </a:r>
          </a:p>
          <a:p>
            <a:r>
              <a:rPr lang="en-US" altLang="zh-CN">
                <a:latin typeface="Microsoft YaHei" panose="020B0503020204020204" pitchFamily="34" charset="-122"/>
              </a:rPr>
              <a:t>【</a:t>
            </a:r>
            <a:r>
              <a:rPr lang="zh-CN" altLang="en-US">
                <a:latin typeface="Microsoft YaHei" panose="020B0503020204020204" pitchFamily="34" charset="-122"/>
              </a:rPr>
              <a:t>动作</a:t>
            </a:r>
            <a:r>
              <a:rPr lang="en-US" altLang="zh-CN">
                <a:latin typeface="Microsoft YaHei" panose="020B0503020204020204" pitchFamily="34" charset="-122"/>
              </a:rPr>
              <a:t>】</a:t>
            </a:r>
            <a:r>
              <a:rPr lang="zh-CN" altLang="en-US">
                <a:latin typeface="Microsoft YaHei" panose="020B0503020204020204" pitchFamily="34" charset="-122"/>
              </a:rPr>
              <a:t>指三张金额卡，再指房租那根占比条，最后指左下角四个技术标签。</a:t>
            </a:r>
          </a:p>
          <a:p>
            <a:r>
              <a:rPr lang="en-US" altLang="zh-CN">
                <a:latin typeface="Microsoft YaHei" panose="020B0503020204020204" pitchFamily="34" charset="-122"/>
              </a:rPr>
              <a:t>【</a:t>
            </a:r>
            <a:r>
              <a:rPr lang="zh-CN" altLang="en-US">
                <a:latin typeface="Microsoft YaHei" panose="020B0503020204020204" pitchFamily="34" charset="-122"/>
              </a:rPr>
              <a:t>逐字稿</a:t>
            </a:r>
            <a:r>
              <a:rPr lang="en-US" altLang="zh-CN">
                <a:latin typeface="Microsoft YaHei" panose="020B0503020204020204" pitchFamily="34" charset="-122"/>
              </a:rPr>
              <a:t>】</a:t>
            </a:r>
          </a:p>
          <a:p>
            <a:r>
              <a:rPr lang="zh-CN" altLang="en-US">
                <a:latin typeface="Microsoft YaHei" panose="020B0503020204020204" pitchFamily="34" charset="-122"/>
              </a:rPr>
              <a:t>记账本是 </a:t>
            </a:r>
            <a:r>
              <a:rPr lang="en-US" altLang="zh-CN">
                <a:latin typeface="Microsoft YaHei" panose="020B0503020204020204" pitchFamily="34" charset="-122"/>
              </a:rPr>
              <a:t>v8 </a:t>
            </a:r>
            <a:r>
              <a:rPr lang="zh-CN" altLang="en-US">
                <a:latin typeface="Microsoft YaHei" panose="020B0503020204020204" pitchFamily="34" charset="-122"/>
              </a:rPr>
              <a:t>的重点。本月收入八千元，支出两千三百四十六块五，结余五千六百五十三块五。支出按分类从大到小排：房租两千二，占百分之九十四；学习八十九；餐饮四十五块五；交通十二块。把月份切到上个月，只剩一笔一百二十元的餐饮，统计和明细一起变，说明按月过滤是生效的。金额全程 </a:t>
            </a:r>
            <a:r>
              <a:rPr lang="en-US" altLang="zh-CN">
                <a:latin typeface="Microsoft YaHei" panose="020B0503020204020204" pitchFamily="34" charset="-122"/>
              </a:rPr>
              <a:t>BigDecimal </a:t>
            </a:r>
            <a:r>
              <a:rPr lang="zh-CN" altLang="en-US">
                <a:latin typeface="Microsoft YaHei" panose="020B0503020204020204" pitchFamily="34" charset="-122"/>
              </a:rPr>
              <a:t>加 </a:t>
            </a:r>
            <a:r>
              <a:rPr lang="en-US" altLang="zh-CN">
                <a:latin typeface="Microsoft YaHei" panose="020B0503020204020204" pitchFamily="34" charset="-122"/>
              </a:rPr>
              <a:t>DECIMAL</a:t>
            </a:r>
            <a:r>
              <a:rPr lang="zh-CN" altLang="en-US">
                <a:latin typeface="Microsoft YaHei" panose="020B0503020204020204" pitchFamily="34" charset="-122"/>
              </a:rPr>
              <a:t>，比较用 </a:t>
            </a:r>
            <a:r>
              <a:rPr lang="en-US" altLang="zh-CN">
                <a:latin typeface="Microsoft YaHei" panose="020B0503020204020204" pitchFamily="34" charset="-122"/>
              </a:rPr>
              <a:t>compareTo</a:t>
            </a:r>
            <a:r>
              <a:rPr lang="zh-CN" altLang="en-US">
                <a:latin typeface="Microsoft YaHei" panose="020B0503020204020204" pitchFamily="34" charset="-122"/>
              </a:rPr>
              <a:t>，不用 </a:t>
            </a:r>
            <a:r>
              <a:rPr lang="en-US" altLang="zh-CN">
                <a:latin typeface="Microsoft YaHei" panose="020B0503020204020204" pitchFamily="34" charset="-122"/>
              </a:rPr>
              <a:t>double</a:t>
            </a:r>
            <a:r>
              <a:rPr lang="zh-CN" altLang="en-US">
                <a:latin typeface="Microsoft YaHei" panose="020B0503020204020204" pitchFamily="34" charset="-122"/>
              </a:rPr>
              <a:t>；空月份用 </a:t>
            </a:r>
            <a:r>
              <a:rPr lang="en-US" altLang="zh-CN">
                <a:latin typeface="Microsoft YaHei" panose="020B0503020204020204" pitchFamily="34" charset="-122"/>
              </a:rPr>
              <a:t>COALESCE </a:t>
            </a:r>
            <a:r>
              <a:rPr lang="zh-CN" altLang="en-US">
                <a:latin typeface="Microsoft YaHei" panose="020B0503020204020204" pitchFamily="34" charset="-122"/>
              </a:rPr>
              <a:t>把空值变成零；月份参数用正则校验，非法值回退到当月。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1E9B58-BF12-4F32-B5DB-D919FD54A903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5132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>
                <a:latin typeface="Microsoft YaHei" panose="020B0503020204020204" pitchFamily="34" charset="-122"/>
              </a:rPr>
              <a:t>【4:05–4:30】</a:t>
            </a:r>
            <a:r>
              <a:rPr lang="zh-CN" altLang="en-US">
                <a:latin typeface="Microsoft YaHei" panose="020B0503020204020204" pitchFamily="34" charset="-122"/>
              </a:rPr>
              <a:t>第 </a:t>
            </a:r>
            <a:r>
              <a:rPr lang="en-US" altLang="zh-CN">
                <a:latin typeface="Microsoft YaHei" panose="020B0503020204020204" pitchFamily="34" charset="-122"/>
              </a:rPr>
              <a:t>10 </a:t>
            </a:r>
            <a:r>
              <a:rPr lang="zh-CN" altLang="en-US">
                <a:latin typeface="Microsoft YaHei" panose="020B0503020204020204" pitchFamily="34" charset="-122"/>
              </a:rPr>
              <a:t>页 </a:t>
            </a:r>
            <a:r>
              <a:rPr lang="en-US" altLang="zh-CN">
                <a:latin typeface="Microsoft YaHei" panose="020B0503020204020204" pitchFamily="34" charset="-122"/>
              </a:rPr>
              <a:t>· </a:t>
            </a:r>
            <a:r>
              <a:rPr lang="zh-CN" altLang="en-US">
                <a:latin typeface="Microsoft YaHei" panose="020B0503020204020204" pitchFamily="34" charset="-122"/>
              </a:rPr>
              <a:t>测试与交付：能跑，也能证明它跑过</a:t>
            </a:r>
          </a:p>
          <a:p>
            <a:r>
              <a:rPr lang="en-US" altLang="zh-CN">
                <a:latin typeface="Microsoft YaHei" panose="020B0503020204020204" pitchFamily="34" charset="-122"/>
              </a:rPr>
              <a:t>【</a:t>
            </a:r>
            <a:r>
              <a:rPr lang="zh-CN" altLang="en-US">
                <a:latin typeface="Microsoft YaHei" panose="020B0503020204020204" pitchFamily="34" charset="-122"/>
              </a:rPr>
              <a:t>动作</a:t>
            </a:r>
            <a:r>
              <a:rPr lang="en-US" altLang="zh-CN">
                <a:latin typeface="Microsoft YaHei" panose="020B0503020204020204" pitchFamily="34" charset="-122"/>
              </a:rPr>
              <a:t>】</a:t>
            </a:r>
            <a:r>
              <a:rPr lang="zh-CN" altLang="en-US">
                <a:latin typeface="Microsoft YaHei" panose="020B0503020204020204" pitchFamily="34" charset="-122"/>
              </a:rPr>
              <a:t>只指三个数字，不逐条念。重点说三十项验收、十五次提交、</a:t>
            </a:r>
            <a:r>
              <a:rPr lang="en-US" altLang="zh-CN">
                <a:latin typeface="Microsoft YaHei" panose="020B0503020204020204" pitchFamily="34" charset="-122"/>
              </a:rPr>
              <a:t>war </a:t>
            </a:r>
            <a:r>
              <a:rPr lang="zh-CN" altLang="en-US">
                <a:latin typeface="Microsoft YaHei" panose="020B0503020204020204" pitchFamily="34" charset="-122"/>
              </a:rPr>
              <a:t>包。</a:t>
            </a:r>
          </a:p>
          <a:p>
            <a:r>
              <a:rPr lang="en-US" altLang="zh-CN">
                <a:latin typeface="Microsoft YaHei" panose="020B0503020204020204" pitchFamily="34" charset="-122"/>
              </a:rPr>
              <a:t>【</a:t>
            </a:r>
            <a:r>
              <a:rPr lang="zh-CN" altLang="en-US">
                <a:latin typeface="Microsoft YaHei" panose="020B0503020204020204" pitchFamily="34" charset="-122"/>
              </a:rPr>
              <a:t>逐字稿</a:t>
            </a:r>
            <a:r>
              <a:rPr lang="en-US" altLang="zh-CN">
                <a:latin typeface="Microsoft YaHei" panose="020B0503020204020204" pitchFamily="34" charset="-122"/>
              </a:rPr>
              <a:t>】</a:t>
            </a:r>
          </a:p>
          <a:p>
            <a:r>
              <a:rPr lang="zh-CN" altLang="en-US">
                <a:latin typeface="Microsoft YaHei" panose="020B0503020204020204" pitchFamily="34" charset="-122"/>
              </a:rPr>
              <a:t>交付上我做了四件事。第一，三十项验收清单逐条跑过，重点是未登录拦截、普通用户进后台 </a:t>
            </a:r>
            <a:r>
              <a:rPr lang="en-US" altLang="zh-CN">
                <a:latin typeface="Microsoft YaHei" panose="020B0503020204020204" pitchFamily="34" charset="-122"/>
              </a:rPr>
              <a:t>403</a:t>
            </a:r>
            <a:r>
              <a:rPr lang="zh-CN" altLang="en-US">
                <a:latin typeface="Microsoft YaHei" panose="020B0503020204020204" pitchFamily="34" charset="-122"/>
              </a:rPr>
              <a:t>、跨账号删数据失败，还有 </a:t>
            </a:r>
            <a:r>
              <a:rPr lang="en-US" altLang="zh-CN">
                <a:latin typeface="Microsoft YaHei" panose="020B0503020204020204" pitchFamily="34" charset="-122"/>
              </a:rPr>
              <a:t>SQL </a:t>
            </a:r>
            <a:r>
              <a:rPr lang="zh-CN" altLang="en-US">
                <a:latin typeface="Microsoft YaHei" panose="020B0503020204020204" pitchFamily="34" charset="-122"/>
              </a:rPr>
              <a:t>注入和 </a:t>
            </a:r>
            <a:r>
              <a:rPr lang="en-US" altLang="zh-CN">
                <a:latin typeface="Microsoft YaHei" panose="020B0503020204020204" pitchFamily="34" charset="-122"/>
              </a:rPr>
              <a:t>XSS </a:t>
            </a:r>
            <a:r>
              <a:rPr lang="zh-CN" altLang="en-US">
                <a:latin typeface="Microsoft YaHei" panose="020B0503020204020204" pitchFamily="34" charset="-122"/>
              </a:rPr>
              <a:t>两类安全用例。第二，代码分阶段提交，从 </a:t>
            </a:r>
            <a:r>
              <a:rPr lang="en-US" altLang="zh-CN">
                <a:latin typeface="Microsoft YaHei" panose="020B0503020204020204" pitchFamily="34" charset="-122"/>
              </a:rPr>
              <a:t>v1 </a:t>
            </a:r>
            <a:r>
              <a:rPr lang="zh-CN" altLang="en-US">
                <a:latin typeface="Microsoft YaHei" panose="020B0503020204020204" pitchFamily="34" charset="-122"/>
              </a:rPr>
              <a:t>骨架到 </a:t>
            </a:r>
            <a:r>
              <a:rPr lang="en-US" altLang="zh-CN">
                <a:latin typeface="Microsoft YaHei" panose="020B0503020204020204" pitchFamily="34" charset="-122"/>
              </a:rPr>
              <a:t>v8 </a:t>
            </a:r>
            <a:r>
              <a:rPr lang="zh-CN" altLang="en-US">
                <a:latin typeface="Microsoft YaHei" panose="020B0503020204020204" pitchFamily="34" charset="-122"/>
              </a:rPr>
              <a:t>记账本，一共十五次有效提交、八个版本 </a:t>
            </a:r>
            <a:r>
              <a:rPr lang="en-US" altLang="zh-CN">
                <a:latin typeface="Microsoft YaHei" panose="020B0503020204020204" pitchFamily="34" charset="-122"/>
              </a:rPr>
              <a:t>tag</a:t>
            </a:r>
            <a:r>
              <a:rPr lang="zh-CN" altLang="en-US">
                <a:latin typeface="Microsoft YaHei" panose="020B0503020204020204" pitchFamily="34" charset="-122"/>
              </a:rPr>
              <a:t>、三千三百九十七行代码，其中 </a:t>
            </a:r>
            <a:r>
              <a:rPr lang="en-US" altLang="zh-CN">
                <a:latin typeface="Microsoft YaHei" panose="020B0503020204020204" pitchFamily="34" charset="-122"/>
              </a:rPr>
              <a:t>Java </a:t>
            </a:r>
            <a:r>
              <a:rPr lang="zh-CN" altLang="en-US">
                <a:latin typeface="Microsoft YaHei" panose="020B0503020204020204" pitchFamily="34" charset="-122"/>
              </a:rPr>
              <a:t>两千一百三十二行、</a:t>
            </a:r>
            <a:r>
              <a:rPr lang="en-US" altLang="zh-CN">
                <a:latin typeface="Microsoft YaHei" panose="020B0503020204020204" pitchFamily="34" charset="-122"/>
              </a:rPr>
              <a:t>JSP </a:t>
            </a:r>
            <a:r>
              <a:rPr lang="zh-CN" altLang="en-US">
                <a:latin typeface="Microsoft YaHei" panose="020B0503020204020204" pitchFamily="34" charset="-122"/>
              </a:rPr>
              <a:t>一千一百六十一行、</a:t>
            </a:r>
            <a:r>
              <a:rPr lang="en-US" altLang="zh-CN">
                <a:latin typeface="Microsoft YaHei" panose="020B0503020204020204" pitchFamily="34" charset="-122"/>
              </a:rPr>
              <a:t>SQL </a:t>
            </a:r>
            <a:r>
              <a:rPr lang="zh-CN" altLang="en-US">
                <a:latin typeface="Microsoft YaHei" panose="020B0503020204020204" pitchFamily="34" charset="-122"/>
              </a:rPr>
              <a:t>一百零四行。第三，</a:t>
            </a:r>
            <a:r>
              <a:rPr lang="en-US" altLang="zh-CN">
                <a:latin typeface="Microsoft YaHei" panose="020B0503020204020204" pitchFamily="34" charset="-122"/>
              </a:rPr>
              <a:t>README </a:t>
            </a:r>
            <a:r>
              <a:rPr lang="zh-CN" altLang="en-US">
                <a:latin typeface="Microsoft YaHei" panose="020B0503020204020204" pitchFamily="34" charset="-122"/>
              </a:rPr>
              <a:t>写清建库、改配置、打包、部署四步，别人三分钟能跑起来。第四，</a:t>
            </a:r>
            <a:r>
              <a:rPr lang="en-US" altLang="zh-CN">
                <a:latin typeface="Microsoft YaHei" panose="020B0503020204020204" pitchFamily="34" charset="-122"/>
              </a:rPr>
              <a:t>Release </a:t>
            </a:r>
            <a:r>
              <a:rPr lang="zh-CN" altLang="en-US">
                <a:latin typeface="Microsoft YaHei" panose="020B0503020204020204" pitchFamily="34" charset="-122"/>
              </a:rPr>
              <a:t>里放了 </a:t>
            </a:r>
            <a:r>
              <a:rPr lang="en-US" altLang="zh-CN">
                <a:latin typeface="Microsoft YaHei" panose="020B0503020204020204" pitchFamily="34" charset="-122"/>
              </a:rPr>
              <a:t>war </a:t>
            </a:r>
            <a:r>
              <a:rPr lang="zh-CN" altLang="en-US">
                <a:latin typeface="Microsoft YaHei" panose="020B0503020204020204" pitchFamily="34" charset="-122"/>
              </a:rPr>
              <a:t>包，今天现场就是用这个包部署的。报告第八节还登记了 </a:t>
            </a:r>
            <a:r>
              <a:rPr lang="en-US" altLang="zh-CN">
                <a:latin typeface="Microsoft YaHei" panose="020B0503020204020204" pitchFamily="34" charset="-122"/>
              </a:rPr>
              <a:t>AI </a:t>
            </a:r>
            <a:r>
              <a:rPr lang="zh-CN" altLang="en-US">
                <a:latin typeface="Microsoft YaHei" panose="020B0503020204020204" pitchFamily="34" charset="-122"/>
              </a:rPr>
              <a:t>使用情况，</a:t>
            </a:r>
            <a:r>
              <a:rPr lang="en-US" altLang="zh-CN">
                <a:latin typeface="Microsoft YaHei" panose="020B0503020204020204" pitchFamily="34" charset="-122"/>
              </a:rPr>
              <a:t>AI </a:t>
            </a:r>
            <a:r>
              <a:rPr lang="zh-CN" altLang="en-US">
                <a:latin typeface="Microsoft YaHei" panose="020B0503020204020204" pitchFamily="34" charset="-122"/>
              </a:rPr>
              <a:t>只用于排版、排错和配色，核心代码由我自己写并逐条核对。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1E9B58-BF12-4F32-B5DB-D919FD54A903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12502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>
                <a:latin typeface="Microsoft YaHei" panose="020B0503020204020204" pitchFamily="34" charset="-122"/>
              </a:rPr>
              <a:t>【4:30–4:55】</a:t>
            </a:r>
            <a:r>
              <a:rPr lang="zh-CN" altLang="en-US">
                <a:latin typeface="Microsoft YaHei" panose="020B0503020204020204" pitchFamily="34" charset="-122"/>
              </a:rPr>
              <a:t>第 </a:t>
            </a:r>
            <a:r>
              <a:rPr lang="en-US" altLang="zh-CN">
                <a:latin typeface="Microsoft YaHei" panose="020B0503020204020204" pitchFamily="34" charset="-122"/>
              </a:rPr>
              <a:t>11 </a:t>
            </a:r>
            <a:r>
              <a:rPr lang="zh-CN" altLang="en-US">
                <a:latin typeface="Microsoft YaHei" panose="020B0503020204020204" pitchFamily="34" charset="-122"/>
              </a:rPr>
              <a:t>页 </a:t>
            </a:r>
            <a:r>
              <a:rPr lang="en-US" altLang="zh-CN">
                <a:latin typeface="Microsoft YaHei" panose="020B0503020204020204" pitchFamily="34" charset="-122"/>
              </a:rPr>
              <a:t>· </a:t>
            </a:r>
            <a:r>
              <a:rPr lang="zh-CN" altLang="en-US">
                <a:latin typeface="Microsoft YaHei" panose="020B0503020204020204" pitchFamily="34" charset="-122"/>
              </a:rPr>
              <a:t>边界与下一步</a:t>
            </a:r>
          </a:p>
          <a:p>
            <a:r>
              <a:rPr lang="en-US" altLang="zh-CN">
                <a:latin typeface="Microsoft YaHei" panose="020B0503020204020204" pitchFamily="34" charset="-122"/>
              </a:rPr>
              <a:t>【</a:t>
            </a:r>
            <a:r>
              <a:rPr lang="zh-CN" altLang="en-US">
                <a:latin typeface="Microsoft YaHei" panose="020B0503020204020204" pitchFamily="34" charset="-122"/>
              </a:rPr>
              <a:t>动作</a:t>
            </a:r>
            <a:r>
              <a:rPr lang="en-US" altLang="zh-CN">
                <a:latin typeface="Microsoft YaHei" panose="020B0503020204020204" pitchFamily="34" charset="-122"/>
              </a:rPr>
              <a:t>】</a:t>
            </a:r>
            <a:r>
              <a:rPr lang="zh-CN" altLang="en-US">
                <a:latin typeface="Microsoft YaHei" panose="020B0503020204020204" pitchFamily="34" charset="-122"/>
              </a:rPr>
              <a:t>语气放慢，先承认边界，再指右侧五步。</a:t>
            </a:r>
          </a:p>
          <a:p>
            <a:r>
              <a:rPr lang="en-US" altLang="zh-CN">
                <a:latin typeface="Microsoft YaHei" panose="020B0503020204020204" pitchFamily="34" charset="-122"/>
              </a:rPr>
              <a:t>【</a:t>
            </a:r>
            <a:r>
              <a:rPr lang="zh-CN" altLang="en-US">
                <a:latin typeface="Microsoft YaHei" panose="020B0503020204020204" pitchFamily="34" charset="-122"/>
              </a:rPr>
              <a:t>逐字稿</a:t>
            </a:r>
            <a:r>
              <a:rPr lang="en-US" altLang="zh-CN">
                <a:latin typeface="Microsoft YaHei" panose="020B0503020204020204" pitchFamily="34" charset="-122"/>
              </a:rPr>
              <a:t>】</a:t>
            </a:r>
          </a:p>
          <a:p>
            <a:r>
              <a:rPr lang="zh-CN" altLang="en-US">
                <a:latin typeface="Microsoft YaHei" panose="020B0503020204020204" pitchFamily="34" charset="-122"/>
              </a:rPr>
              <a:t>我也清楚这个系统的边界。一期只覆盖八条线里的三条。禁用账号只挡住再次登录，已经登录的会话不会立刻失效。</a:t>
            </a:r>
            <a:r>
              <a:rPr lang="en-US" altLang="zh-CN">
                <a:latin typeface="Microsoft YaHei" panose="020B0503020204020204" pitchFamily="34" charset="-122"/>
              </a:rPr>
              <a:t>v8 </a:t>
            </a:r>
            <a:r>
              <a:rPr lang="zh-CN" altLang="en-US">
                <a:latin typeface="Microsoft YaHei" panose="020B0503020204020204" pitchFamily="34" charset="-122"/>
              </a:rPr>
              <a:t>的新增修改删除都是单表单语句，没有跨表事务。按月查询用 </a:t>
            </a:r>
            <a:r>
              <a:rPr lang="en-US" altLang="zh-CN">
                <a:latin typeface="Microsoft YaHei" panose="020B0503020204020204" pitchFamily="34" charset="-122"/>
              </a:rPr>
              <a:t>DATE_FORMAT</a:t>
            </a:r>
            <a:r>
              <a:rPr lang="zh-CN" altLang="en-US">
                <a:latin typeface="Microsoft YaHei" panose="020B0503020204020204" pitchFamily="34" charset="-122"/>
              </a:rPr>
              <a:t>，会在列上做函数运算，用不上索引。下一步 </a:t>
            </a:r>
            <a:r>
              <a:rPr lang="en-US" altLang="zh-CN">
                <a:latin typeface="Microsoft YaHei" panose="020B0503020204020204" pitchFamily="34" charset="-122"/>
              </a:rPr>
              <a:t>v9 </a:t>
            </a:r>
            <a:r>
              <a:rPr lang="zh-CN" altLang="en-US">
                <a:latin typeface="Microsoft YaHei" panose="020B0503020204020204" pitchFamily="34" charset="-122"/>
              </a:rPr>
              <a:t>先做三账户和预算：新建账户表，账单挂到账户，记账单和扣余额放进同一个 </a:t>
            </a:r>
            <a:r>
              <a:rPr lang="en-US" altLang="zh-CN">
                <a:latin typeface="Microsoft YaHei" panose="020B0503020204020204" pitchFamily="34" charset="-122"/>
              </a:rPr>
              <a:t>JDBC </a:t>
            </a:r>
            <a:r>
              <a:rPr lang="zh-CN" altLang="en-US">
                <a:latin typeface="Microsoft YaHei" panose="020B0503020204020204" pitchFamily="34" charset="-122"/>
              </a:rPr>
              <a:t>事务，再加预算预警，最后按部委思路扩建健康、教育、社交。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1E9B58-BF12-4F32-B5DB-D919FD54A903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25754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>
                <a:latin typeface="Microsoft YaHei" panose="020B0503020204020204" pitchFamily="34" charset="-122"/>
              </a:rPr>
              <a:t>【4:55–5:10】</a:t>
            </a:r>
            <a:r>
              <a:rPr lang="zh-CN" altLang="en-US">
                <a:latin typeface="Microsoft YaHei" panose="020B0503020204020204" pitchFamily="34" charset="-122"/>
              </a:rPr>
              <a:t>第 </a:t>
            </a:r>
            <a:r>
              <a:rPr lang="en-US" altLang="zh-CN">
                <a:latin typeface="Microsoft YaHei" panose="020B0503020204020204" pitchFamily="34" charset="-122"/>
              </a:rPr>
              <a:t>12 </a:t>
            </a:r>
            <a:r>
              <a:rPr lang="zh-CN" altLang="en-US">
                <a:latin typeface="Microsoft YaHei" panose="020B0503020204020204" pitchFamily="34" charset="-122"/>
              </a:rPr>
              <a:t>页 </a:t>
            </a:r>
            <a:r>
              <a:rPr lang="en-US" altLang="zh-CN">
                <a:latin typeface="Microsoft YaHei" panose="020B0503020204020204" pitchFamily="34" charset="-122"/>
              </a:rPr>
              <a:t>· </a:t>
            </a:r>
            <a:r>
              <a:rPr lang="zh-CN" altLang="en-US">
                <a:latin typeface="Microsoft YaHei" panose="020B0503020204020204" pitchFamily="34" charset="-122"/>
              </a:rPr>
              <a:t>收尾</a:t>
            </a:r>
          </a:p>
          <a:p>
            <a:r>
              <a:rPr lang="en-US" altLang="zh-CN">
                <a:latin typeface="Microsoft YaHei" panose="020B0503020204020204" pitchFamily="34" charset="-122"/>
              </a:rPr>
              <a:t>【</a:t>
            </a:r>
            <a:r>
              <a:rPr lang="zh-CN" altLang="en-US">
                <a:latin typeface="Microsoft YaHei" panose="020B0503020204020204" pitchFamily="34" charset="-122"/>
              </a:rPr>
              <a:t>动作</a:t>
            </a:r>
            <a:r>
              <a:rPr lang="en-US" altLang="zh-CN">
                <a:latin typeface="Microsoft YaHei" panose="020B0503020204020204" pitchFamily="34" charset="-122"/>
              </a:rPr>
              <a:t>】</a:t>
            </a:r>
            <a:r>
              <a:rPr lang="zh-CN" altLang="en-US">
                <a:latin typeface="Microsoft YaHei" panose="020B0503020204020204" pitchFamily="34" charset="-122"/>
              </a:rPr>
              <a:t>停一拍，看向老师，微笑。说完请提问，再放下翻页笔。</a:t>
            </a:r>
          </a:p>
          <a:p>
            <a:r>
              <a:rPr lang="en-US" altLang="zh-CN">
                <a:latin typeface="Microsoft YaHei" panose="020B0503020204020204" pitchFamily="34" charset="-122"/>
              </a:rPr>
              <a:t>【</a:t>
            </a:r>
            <a:r>
              <a:rPr lang="zh-CN" altLang="en-US">
                <a:latin typeface="Microsoft YaHei" panose="020B0503020204020204" pitchFamily="34" charset="-122"/>
              </a:rPr>
              <a:t>逐字稿</a:t>
            </a:r>
            <a:r>
              <a:rPr lang="en-US" altLang="zh-CN">
                <a:latin typeface="Microsoft YaHei" panose="020B0503020204020204" pitchFamily="34" charset="-122"/>
              </a:rPr>
              <a:t>】</a:t>
            </a:r>
          </a:p>
          <a:p>
            <a:r>
              <a:rPr lang="zh-CN" altLang="en-US">
                <a:latin typeface="Microsoft YaHei" panose="020B0503020204020204" pitchFamily="34" charset="-122"/>
              </a:rPr>
              <a:t>一期三个模块是骨架，不是终点。能证明的我都放在了报告和仓库里，做不到的也写在边界那一页。谢谢老师，请提问。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1E9B58-BF12-4F32-B5DB-D919FD54A903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98583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CECEA7-132E-FEF6-43A2-0A74BAB430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2425573-B920-978C-492A-B5E973630E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5F6B401-6D14-852D-1CE2-F31A51431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54AD4-791E-41E0-B939-8F5D5C9807EE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240D31C-8E7E-A2C8-B992-F9D1602AE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74F6509-29D9-C7B0-BAF0-B26EEA68B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3CB5E-10B4-48CF-9285-9E0419FFD3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2859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E0FC18-F64B-45C4-6AD6-E91845929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D1952CF-C9DA-8473-569D-16245CA093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A5D07E-E6AE-54FE-C83B-7F84AC2A8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54AD4-791E-41E0-B939-8F5D5C9807EE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48F09FF-ADE6-A38E-0130-443125D94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3FB793A-B2EC-C01F-4D5E-959319936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3CB5E-10B4-48CF-9285-9E0419FFD3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2473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088978-7132-60BE-922E-FDD416491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BB844C5-1188-4FC4-460D-F2B83F395D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F6304AA-E84D-7F2B-0D87-B72074689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54AD4-791E-41E0-B939-8F5D5C9807EE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1FE39EE-9C85-58BA-AF68-56055E06C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6466708-E8E6-0F1B-C019-74BA1879F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3CB5E-10B4-48CF-9285-9E0419FFD3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80621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095073-EDCD-705E-108C-122EC9A3E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C735638-4958-574E-88E6-0E286C8B33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1699DAB-C9CE-B4D7-23BC-EF8A7D0654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9BE5E6B-9F94-6ED6-8A9F-7AD695FBD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54AD4-791E-41E0-B939-8F5D5C9807EE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A5DEA34-3D93-3E87-3A62-D4EA23E19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8C4EA63-2383-849F-B60F-8E6942B23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3CB5E-10B4-48CF-9285-9E0419FFD3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55262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0FE43A-4153-53BE-D6AA-B32023228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77BAA6E-5525-AA30-9DBF-44BD43E574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7CF954A-A35C-A28E-9C2B-2137CA1CCD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E473888-40B8-131D-B257-79195BF902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ABF7C3F-CE45-40AA-7465-E2FE598360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38727E3-F21B-8404-62A7-EFB52A9C7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54AD4-791E-41E0-B939-8F5D5C9807EE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7C3381E-8D01-00BD-355D-628B8DAB1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6E7E5DD-5891-6DC5-7D88-4983A972B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3CB5E-10B4-48CF-9285-9E0419FFD3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54112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85AC39-2905-F084-1749-29D09702E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11410C6-68C9-6DE9-01FC-3B8966497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54AD4-791E-41E0-B939-8F5D5C9807EE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F5A1B84-9D28-2A32-37A3-61174BE5F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4BB74F7-F570-105C-AD8D-774D2EE48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3CB5E-10B4-48CF-9285-9E0419FFD3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86295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2BF4F31-D8CE-6B0C-87A8-00CBC35F3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54AD4-791E-41E0-B939-8F5D5C9807EE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7EF63AC-607D-5F8B-87F0-A284DB779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B8BCD98-CE4C-1B65-084D-AA422E74B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3CB5E-10B4-48CF-9285-9E0419FFD3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8888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5C4347-DE84-EC1F-654C-20D2D487F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5490711-677C-725F-D497-F9A495230D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6216312-E081-F56E-2B13-B52EA1BD90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E339FEA-D24B-E44B-3EA5-9E9A2CF41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54AD4-791E-41E0-B939-8F5D5C9807EE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89769E6-B391-103A-5F52-3CB086188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769697F-5E40-A159-2386-574F54953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3CB5E-10B4-48CF-9285-9E0419FFD3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1836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BA4475-AF20-7898-2D08-BC645F853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10EB9CF-6697-BD0B-D30B-D9CADEDA670A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02A51BD-946E-8E5E-1016-D81C99713E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958DEAC-750F-F35F-6369-8C57DF595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54AD4-791E-41E0-B939-8F5D5C9807EE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5B217BF-59A5-4D25-A96D-52613B2B7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971614C-96E0-5025-B527-CFAC879E9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3CB5E-10B4-48CF-9285-9E0419FFD3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56628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A6111B-14D7-17D4-6812-371A8CFE4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1549DD8-DBB2-9F6D-0C82-9897403214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E9D00F4-D19F-626D-74F1-B7E38D4C5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54AD4-791E-41E0-B939-8F5D5C9807EE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FF81A55-A916-8FDA-B2D1-E8BD32B8E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487C193-3C44-E3E4-2AE0-90A312C70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3CB5E-10B4-48CF-9285-9E0419FFD3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22839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34B6AC9-1431-EE34-2425-132BA29DBF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071047B-53FA-5A16-918F-35D507D109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8771B50-C5B2-F261-923E-723A5EBF1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54AD4-791E-41E0-B939-8F5D5C9807EE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B93EC5-E5D6-95AA-3125-9F4689588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FBC3D49-BA1D-DFFE-17B4-089C91720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3CB5E-10B4-48CF-9285-9E0419FFD3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4320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34504FC-F632-1E52-6203-743C13C5E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95D1ADE-B7E3-854D-C8F5-F2ED76D62E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428694D-162B-9A69-5E1D-7C8959CB0E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854AD4-791E-41E0-B939-8F5D5C9807EE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3CFDDED-C9F1-0406-279E-8E4A06730D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0279ACB-FAB0-5E9A-CF09-1F89787A05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F3CB5E-10B4-48CF-9285-9E0419FFD3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94167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E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80BEFDC1-A120-B79D-014F-35E13177B4D7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oundRect">
            <a:avLst>
              <a:gd name="adj" fmla="val 0"/>
            </a:avLst>
          </a:prstGeom>
          <a:solidFill>
            <a:srgbClr val="6C8CFF"/>
          </a:solidFill>
          <a:ln w="11430">
            <a:solidFill>
              <a:srgbClr val="6C8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533AAE84-7B65-FFA4-570D-4B0023999E70}"/>
              </a:ext>
            </a:extLst>
          </p:cNvPr>
          <p:cNvSpPr/>
          <p:nvPr/>
        </p:nvSpPr>
        <p:spPr>
          <a:xfrm>
            <a:off x="0" y="0"/>
            <a:ext cx="7112000" cy="6858000"/>
          </a:xfrm>
          <a:prstGeom prst="roundRect">
            <a:avLst>
              <a:gd name="adj" fmla="val 0"/>
            </a:avLst>
          </a:prstGeom>
          <a:solidFill>
            <a:srgbClr val="121B3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79FE1CC6-82B0-E68E-E04F-C29A47CB600E}"/>
              </a:ext>
            </a:extLst>
          </p:cNvPr>
          <p:cNvSpPr/>
          <p:nvPr/>
        </p:nvSpPr>
        <p:spPr>
          <a:xfrm>
            <a:off x="609600" y="1117600"/>
            <a:ext cx="63500" cy="1905000"/>
          </a:xfrm>
          <a:prstGeom prst="roundRect">
            <a:avLst>
              <a:gd name="adj" fmla="val 0"/>
            </a:avLst>
          </a:prstGeom>
          <a:solidFill>
            <a:srgbClr val="6C8CFF"/>
          </a:solidFill>
          <a:ln w="11430">
            <a:solidFill>
              <a:srgbClr val="6C8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43ECF90-1FFF-6E19-3DFC-B36A5CB69963}"/>
              </a:ext>
            </a:extLst>
          </p:cNvPr>
          <p:cNvSpPr txBox="1"/>
          <p:nvPr/>
        </p:nvSpPr>
        <p:spPr>
          <a:xfrm>
            <a:off x="914400" y="10414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zh-CN" sz="1000" b="1">
                <a:solidFill>
                  <a:srgbClr val="6C8C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JAVA WEB · COURSE PROJECT</a:t>
            </a:r>
            <a:endParaRPr lang="zh-CN" altLang="en-US" sz="1000" b="1">
              <a:solidFill>
                <a:srgbClr val="6C8C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F4370E2-84B8-E680-7093-DA366CCC75FE}"/>
              </a:ext>
            </a:extLst>
          </p:cNvPr>
          <p:cNvSpPr txBox="1"/>
          <p:nvPr/>
        </p:nvSpPr>
        <p:spPr>
          <a:xfrm>
            <a:off x="914400" y="1524000"/>
            <a:ext cx="584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4800" b="1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人生管理系统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9EDBAB9-4AD2-6FE8-B266-52173F4BFADA}"/>
              </a:ext>
            </a:extLst>
          </p:cNvPr>
          <p:cNvSpPr txBox="1"/>
          <p:nvPr/>
        </p:nvSpPr>
        <p:spPr>
          <a:xfrm>
            <a:off x="939800" y="2514600"/>
            <a:ext cx="596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2100" b="1">
                <a:solidFill>
                  <a:srgbClr val="FFC46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像建设国家一样，建设自己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019E295-79A7-03D9-73F1-2804E085ED40}"/>
              </a:ext>
            </a:extLst>
          </p:cNvPr>
          <p:cNvSpPr txBox="1"/>
          <p:nvPr/>
        </p:nvSpPr>
        <p:spPr>
          <a:xfrm>
            <a:off x="939800" y="3124200"/>
            <a:ext cx="596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zh-CN" sz="1300" dirty="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sz="1300" dirty="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从每日任务、长期目标到每一笔账</a:t>
            </a: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E8A752C6-DA7B-6B6C-39DD-BA7CDF2D4FFA}"/>
              </a:ext>
            </a:extLst>
          </p:cNvPr>
          <p:cNvCxnSpPr/>
          <p:nvPr/>
        </p:nvCxnSpPr>
        <p:spPr>
          <a:xfrm>
            <a:off x="939800" y="3708400"/>
            <a:ext cx="5410200" cy="0"/>
          </a:xfrm>
          <a:prstGeom prst="straightConnector1">
            <a:avLst/>
          </a:prstGeom>
          <a:ln w="12700">
            <a:solidFill>
              <a:srgbClr val="3443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92D56EBF-9C61-4395-65CC-48AF44E0EAB6}"/>
              </a:ext>
            </a:extLst>
          </p:cNvPr>
          <p:cNvSpPr txBox="1"/>
          <p:nvPr/>
        </p:nvSpPr>
        <p:spPr>
          <a:xfrm>
            <a:off x="939800" y="3987800"/>
            <a:ext cx="584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1300" dirty="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郭群鑫</a:t>
            </a:r>
            <a:r>
              <a:rPr lang="en-US" altLang="zh-CN" sz="1300" dirty="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</a:t>
            </a:r>
            <a:r>
              <a:rPr lang="zh-CN" altLang="en-US" sz="1300" dirty="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学号：</a:t>
            </a:r>
            <a:r>
              <a:rPr lang="en-US" altLang="zh-CN" sz="1300" dirty="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24104010731</a:t>
            </a:r>
            <a:endParaRPr lang="zh-CN" altLang="en-US" sz="1300" dirty="0">
              <a:solidFill>
                <a:srgbClr val="ECF1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81539DC-0948-DA3A-BD4A-97693FA1ED1D}"/>
              </a:ext>
            </a:extLst>
          </p:cNvPr>
          <p:cNvSpPr txBox="1"/>
          <p:nvPr/>
        </p:nvSpPr>
        <p:spPr>
          <a:xfrm>
            <a:off x="939800" y="4343400"/>
            <a:ext cx="584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1200" dirty="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班级：计科</a:t>
            </a:r>
            <a:r>
              <a:rPr lang="en-US" altLang="zh-CN" sz="1200" dirty="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20247</a:t>
            </a:r>
            <a:r>
              <a:rPr lang="zh-CN" altLang="en-US" sz="1200" dirty="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班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D71BCA3F-F820-4919-5C0A-FFC461AEB2D2}"/>
              </a:ext>
            </a:extLst>
          </p:cNvPr>
          <p:cNvSpPr/>
          <p:nvPr/>
        </p:nvSpPr>
        <p:spPr>
          <a:xfrm>
            <a:off x="7569200" y="889000"/>
            <a:ext cx="3810000" cy="5080000"/>
          </a:xfrm>
          <a:prstGeom prst="roundRect">
            <a:avLst>
              <a:gd name="adj" fmla="val 4000"/>
            </a:avLst>
          </a:prstGeom>
          <a:solidFill>
            <a:srgbClr val="182238"/>
          </a:solidFill>
          <a:ln w="11430">
            <a:solidFill>
              <a:srgbClr val="34436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7303357-7287-2CC3-5850-DC9327A65906}"/>
              </a:ext>
            </a:extLst>
          </p:cNvPr>
          <p:cNvSpPr txBox="1"/>
          <p:nvPr/>
        </p:nvSpPr>
        <p:spPr>
          <a:xfrm>
            <a:off x="7899400" y="1168400"/>
            <a:ext cx="3149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zh-CN" sz="3400" b="1">
                <a:solidFill>
                  <a:srgbClr val="6C8C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 MIN</a:t>
            </a:r>
            <a:endParaRPr lang="zh-CN" altLang="en-US" sz="3400" b="1">
              <a:solidFill>
                <a:srgbClr val="6C8C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2706BF4-5686-3492-FB0D-D5FBEF9AD39C}"/>
              </a:ext>
            </a:extLst>
          </p:cNvPr>
          <p:cNvSpPr txBox="1"/>
          <p:nvPr/>
        </p:nvSpPr>
        <p:spPr>
          <a:xfrm>
            <a:off x="7924800" y="1778000"/>
            <a:ext cx="3149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110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项目速览</a:t>
            </a: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F608BC90-33EE-72E3-D2DE-19E2FFF56E9B}"/>
              </a:ext>
            </a:extLst>
          </p:cNvPr>
          <p:cNvCxnSpPr/>
          <p:nvPr/>
        </p:nvCxnSpPr>
        <p:spPr>
          <a:xfrm>
            <a:off x="7924800" y="2184400"/>
            <a:ext cx="3098800" cy="0"/>
          </a:xfrm>
          <a:prstGeom prst="straightConnector1">
            <a:avLst/>
          </a:prstGeom>
          <a:ln w="12700">
            <a:solidFill>
              <a:srgbClr val="3443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40175AC9-A972-C063-3BBF-4E1CBA033D29}"/>
              </a:ext>
            </a:extLst>
          </p:cNvPr>
          <p:cNvSpPr txBox="1"/>
          <p:nvPr/>
        </p:nvSpPr>
        <p:spPr>
          <a:xfrm>
            <a:off x="7924800" y="2463800"/>
            <a:ext cx="685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zh-CN" sz="2400" b="1">
                <a:solidFill>
                  <a:srgbClr val="FFC46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8</a:t>
            </a:r>
            <a:endParaRPr lang="zh-CN" altLang="en-US" sz="2400" b="1">
              <a:solidFill>
                <a:srgbClr val="FFC46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32BDE22-FF3F-7FE5-EAF5-AD9D7BFBF5D2}"/>
              </a:ext>
            </a:extLst>
          </p:cNvPr>
          <p:cNvSpPr txBox="1"/>
          <p:nvPr/>
        </p:nvSpPr>
        <p:spPr>
          <a:xfrm>
            <a:off x="8686800" y="2463800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1200" b="1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原规划条线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C3EBFB82-DE1A-D3B7-8207-2C1EDB0D5F39}"/>
              </a:ext>
            </a:extLst>
          </p:cNvPr>
          <p:cNvSpPr txBox="1"/>
          <p:nvPr/>
        </p:nvSpPr>
        <p:spPr>
          <a:xfrm>
            <a:off x="8686800" y="2705100"/>
            <a:ext cx="241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9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思想 </a:t>
            </a:r>
            <a:r>
              <a:rPr lang="en-US" altLang="zh-CN" sz="9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9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教育 </a:t>
            </a:r>
            <a:r>
              <a:rPr lang="en-US" altLang="zh-CN" sz="9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9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健康 </a:t>
            </a:r>
            <a:r>
              <a:rPr lang="en-US" altLang="zh-CN" sz="9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9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财务</a:t>
            </a:r>
            <a:r>
              <a:rPr lang="en-US" altLang="zh-CN" sz="9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…</a:t>
            </a:r>
            <a:endParaRPr lang="zh-CN" altLang="en-US" sz="950">
              <a:solidFill>
                <a:srgbClr val="9AA6C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5408684-DA24-F9D6-EB3C-A5E136B73383}"/>
              </a:ext>
            </a:extLst>
          </p:cNvPr>
          <p:cNvSpPr txBox="1"/>
          <p:nvPr/>
        </p:nvSpPr>
        <p:spPr>
          <a:xfrm>
            <a:off x="7924800" y="3251200"/>
            <a:ext cx="685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zh-CN" sz="2400" b="1">
                <a:solidFill>
                  <a:srgbClr val="FFC46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endParaRPr lang="zh-CN" altLang="en-US" sz="2400" b="1">
              <a:solidFill>
                <a:srgbClr val="FFC46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D8EA2FB-B933-CF28-CF72-8567022ACC0F}"/>
              </a:ext>
            </a:extLst>
          </p:cNvPr>
          <p:cNvSpPr txBox="1"/>
          <p:nvPr/>
        </p:nvSpPr>
        <p:spPr>
          <a:xfrm>
            <a:off x="8686800" y="3251200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1200" b="1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一期模块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67FCBD5-004E-2B38-6864-2A2188E91DD5}"/>
              </a:ext>
            </a:extLst>
          </p:cNvPr>
          <p:cNvSpPr txBox="1"/>
          <p:nvPr/>
        </p:nvSpPr>
        <p:spPr>
          <a:xfrm>
            <a:off x="8686800" y="3492500"/>
            <a:ext cx="241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9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每日任务 </a:t>
            </a:r>
            <a:r>
              <a:rPr lang="en-US" altLang="zh-CN" sz="9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zh-CN" altLang="en-US" sz="9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长期目标 </a:t>
            </a:r>
            <a:r>
              <a:rPr lang="en-US" altLang="zh-CN" sz="9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zh-CN" altLang="en-US" sz="9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记账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F5F36DB-7BAF-CF7B-018B-81AF921061CF}"/>
              </a:ext>
            </a:extLst>
          </p:cNvPr>
          <p:cNvSpPr txBox="1"/>
          <p:nvPr/>
        </p:nvSpPr>
        <p:spPr>
          <a:xfrm>
            <a:off x="7924800" y="4038600"/>
            <a:ext cx="685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zh-CN" sz="2400" b="1">
                <a:solidFill>
                  <a:srgbClr val="FFC46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</a:t>
            </a:r>
            <a:endParaRPr lang="zh-CN" altLang="en-US" sz="2400" b="1">
              <a:solidFill>
                <a:srgbClr val="FFC46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05C4BEE-F45E-5A06-B25D-665FA99DB906}"/>
              </a:ext>
            </a:extLst>
          </p:cNvPr>
          <p:cNvSpPr txBox="1"/>
          <p:nvPr/>
        </p:nvSpPr>
        <p:spPr>
          <a:xfrm>
            <a:off x="8686800" y="4038600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1200" b="1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张表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AE07EDFB-82CE-08B4-FDF0-44334CAAF002}"/>
              </a:ext>
            </a:extLst>
          </p:cNvPr>
          <p:cNvSpPr txBox="1"/>
          <p:nvPr/>
        </p:nvSpPr>
        <p:spPr>
          <a:xfrm>
            <a:off x="8686800" y="4279900"/>
            <a:ext cx="241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9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用户 </a:t>
            </a:r>
            <a:r>
              <a:rPr lang="en-US" altLang="zh-CN" sz="9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9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任务 </a:t>
            </a:r>
            <a:r>
              <a:rPr lang="en-US" altLang="zh-CN" sz="9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9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目标 </a:t>
            </a:r>
            <a:r>
              <a:rPr lang="en-US" altLang="zh-CN" sz="9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9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账单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AB5D8AC-0058-F989-7D4B-8CB51B1F1854}"/>
              </a:ext>
            </a:extLst>
          </p:cNvPr>
          <p:cNvSpPr txBox="1"/>
          <p:nvPr/>
        </p:nvSpPr>
        <p:spPr>
          <a:xfrm>
            <a:off x="7924800" y="4826000"/>
            <a:ext cx="685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zh-CN" sz="2400" b="1">
                <a:solidFill>
                  <a:srgbClr val="FFC46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30</a:t>
            </a:r>
            <a:endParaRPr lang="zh-CN" altLang="en-US" sz="2400" b="1">
              <a:solidFill>
                <a:srgbClr val="FFC46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A0E7015-2507-7E81-DDDD-651A890D6E98}"/>
              </a:ext>
            </a:extLst>
          </p:cNvPr>
          <p:cNvSpPr txBox="1"/>
          <p:nvPr/>
        </p:nvSpPr>
        <p:spPr>
          <a:xfrm>
            <a:off x="8686800" y="4826000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1200" b="1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项验收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3E913964-9374-85B5-DCAE-65A7FF8B2C31}"/>
              </a:ext>
            </a:extLst>
          </p:cNvPr>
          <p:cNvSpPr txBox="1"/>
          <p:nvPr/>
        </p:nvSpPr>
        <p:spPr>
          <a:xfrm>
            <a:off x="8686800" y="5067300"/>
            <a:ext cx="241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9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功能 </a:t>
            </a:r>
            <a:r>
              <a:rPr lang="en-US" altLang="zh-CN" sz="9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 </a:t>
            </a:r>
            <a:r>
              <a:rPr lang="zh-CN" altLang="en-US" sz="9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权限 </a:t>
            </a:r>
            <a:r>
              <a:rPr lang="en-US" altLang="zh-CN" sz="9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 </a:t>
            </a:r>
            <a:r>
              <a:rPr lang="zh-CN" altLang="en-US" sz="9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安全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18CB2D38-59A5-E532-B0FE-B314BBEA7AEE}"/>
              </a:ext>
            </a:extLst>
          </p:cNvPr>
          <p:cNvSpPr txBox="1"/>
          <p:nvPr/>
        </p:nvSpPr>
        <p:spPr>
          <a:xfrm>
            <a:off x="7924800" y="5384800"/>
            <a:ext cx="3149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950">
                <a:solidFill>
                  <a:srgbClr val="FFC46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一期先立骨架，再按模块扩建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3B100F96-5274-A241-B518-7656C85430C6}"/>
              </a:ext>
            </a:extLst>
          </p:cNvPr>
          <p:cNvSpPr txBox="1"/>
          <p:nvPr/>
        </p:nvSpPr>
        <p:spPr>
          <a:xfrm>
            <a:off x="7924800" y="5638800"/>
            <a:ext cx="3149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zh-CN" sz="90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PDF </a:t>
            </a:r>
            <a:r>
              <a:rPr lang="zh-CN" altLang="en-US" sz="90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备份 </a:t>
            </a:r>
            <a:r>
              <a:rPr lang="en-US" altLang="zh-CN" sz="90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zh-CN" altLang="en-US" sz="90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演示账号在最后一页</a:t>
            </a:r>
          </a:p>
        </p:txBody>
      </p:sp>
    </p:spTree>
    <p:extLst>
      <p:ext uri="{BB962C8B-B14F-4D97-AF65-F5344CB8AC3E}">
        <p14:creationId xmlns:p14="http://schemas.microsoft.com/office/powerpoint/2010/main" val="15361851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F38A5231-1A35-1CF3-A3ED-8BD8A3CFEDA6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oundRect">
            <a:avLst>
              <a:gd name="adj" fmla="val 0"/>
            </a:avLst>
          </a:prstGeom>
          <a:solidFill>
            <a:srgbClr val="6C8CFF"/>
          </a:solidFill>
          <a:ln w="11430">
            <a:solidFill>
              <a:srgbClr val="6C8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B8E285CE-D2B9-CE40-FFB0-56D548792983}"/>
              </a:ext>
            </a:extLst>
          </p:cNvPr>
          <p:cNvSpPr/>
          <p:nvPr/>
        </p:nvSpPr>
        <p:spPr>
          <a:xfrm>
            <a:off x="609600" y="508000"/>
            <a:ext cx="50800" cy="1168400"/>
          </a:xfrm>
          <a:prstGeom prst="roundRect">
            <a:avLst>
              <a:gd name="adj" fmla="val 0"/>
            </a:avLst>
          </a:prstGeom>
          <a:solidFill>
            <a:srgbClr val="6C8CFF"/>
          </a:solidFill>
          <a:ln w="11430">
            <a:solidFill>
              <a:srgbClr val="6C8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3C3AAC4-B858-0CFD-A7E8-9D782D5D8E3C}"/>
              </a:ext>
            </a:extLst>
          </p:cNvPr>
          <p:cNvSpPr txBox="1"/>
          <p:nvPr/>
        </p:nvSpPr>
        <p:spPr>
          <a:xfrm>
            <a:off x="812800" y="482600"/>
            <a:ext cx="889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zh-CN" sz="1000" b="1">
                <a:solidFill>
                  <a:srgbClr val="6C8C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VISION</a:t>
            </a:r>
            <a:endParaRPr lang="zh-CN" altLang="en-US" sz="1000" b="1">
              <a:solidFill>
                <a:srgbClr val="6C8C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9969D1A-9746-EB8B-B239-717C3A48FF26}"/>
              </a:ext>
            </a:extLst>
          </p:cNvPr>
          <p:cNvSpPr txBox="1"/>
          <p:nvPr/>
        </p:nvSpPr>
        <p:spPr>
          <a:xfrm>
            <a:off x="812800" y="762000"/>
            <a:ext cx="1003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2700" b="1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项目立意：把「建设自己」当成一项国家工程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E41B7E6-E064-178F-2BE0-035483CD3887}"/>
              </a:ext>
            </a:extLst>
          </p:cNvPr>
          <p:cNvSpPr txBox="1"/>
          <p:nvPr/>
        </p:nvSpPr>
        <p:spPr>
          <a:xfrm>
            <a:off x="812800" y="13208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12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国家有规划、分工和财政；个人也需要目标、条线和账本</a:t>
            </a: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E8ED47DB-6E45-7FFA-149F-E84CFF359A95}"/>
              </a:ext>
            </a:extLst>
          </p:cNvPr>
          <p:cNvCxnSpPr/>
          <p:nvPr/>
        </p:nvCxnSpPr>
        <p:spPr>
          <a:xfrm>
            <a:off x="812800" y="1803400"/>
            <a:ext cx="10566400" cy="0"/>
          </a:xfrm>
          <a:prstGeom prst="straightConnector1">
            <a:avLst/>
          </a:prstGeom>
          <a:ln w="12700">
            <a:solidFill>
              <a:srgbClr val="3443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8DDAC735-6911-DBD5-D976-A71C9E770A36}"/>
              </a:ext>
            </a:extLst>
          </p:cNvPr>
          <p:cNvSpPr txBox="1"/>
          <p:nvPr/>
        </p:nvSpPr>
        <p:spPr>
          <a:xfrm>
            <a:off x="10363200" y="6477000"/>
            <a:ext cx="101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lang="en-US" altLang="zh-CN" sz="9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02 / 12</a:t>
            </a:r>
            <a:endParaRPr lang="zh-CN" altLang="en-US" sz="950">
              <a:solidFill>
                <a:srgbClr val="9AA6C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E193FF7-B7A7-09B8-0EDB-B9502045B479}"/>
              </a:ext>
            </a:extLst>
          </p:cNvPr>
          <p:cNvSpPr txBox="1"/>
          <p:nvPr/>
        </p:nvSpPr>
        <p:spPr>
          <a:xfrm>
            <a:off x="812800" y="21082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1100" b="1">
                <a:solidFill>
                  <a:srgbClr val="FFC46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国家治理 → 个人建设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ED3CC25C-9AC0-5794-9A38-51C469644B0C}"/>
              </a:ext>
            </a:extLst>
          </p:cNvPr>
          <p:cNvSpPr/>
          <p:nvPr/>
        </p:nvSpPr>
        <p:spPr>
          <a:xfrm>
            <a:off x="812800" y="2463800"/>
            <a:ext cx="1473200" cy="457200"/>
          </a:xfrm>
          <a:prstGeom prst="roundRect">
            <a:avLst>
              <a:gd name="adj" fmla="val 10000"/>
            </a:avLst>
          </a:prstGeom>
          <a:solidFill>
            <a:srgbClr val="121C30"/>
          </a:solidFill>
          <a:ln w="11430">
            <a:solidFill>
              <a:srgbClr val="34436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055F3D9-947D-3BB1-0E62-63142CB327CE}"/>
              </a:ext>
            </a:extLst>
          </p:cNvPr>
          <p:cNvSpPr txBox="1"/>
          <p:nvPr/>
        </p:nvSpPr>
        <p:spPr>
          <a:xfrm>
            <a:off x="812800" y="2578100"/>
            <a:ext cx="1473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lang="zh-CN" altLang="en-US" sz="10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五年规划</a:t>
            </a: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EA79F32F-6368-AE00-3F7D-9677BFE04435}"/>
              </a:ext>
            </a:extLst>
          </p:cNvPr>
          <p:cNvCxnSpPr/>
          <p:nvPr/>
        </p:nvCxnSpPr>
        <p:spPr>
          <a:xfrm>
            <a:off x="2387600" y="2692400"/>
            <a:ext cx="304800" cy="0"/>
          </a:xfrm>
          <a:prstGeom prst="straightConnector1">
            <a:avLst/>
          </a:prstGeom>
          <a:ln w="17780">
            <a:solidFill>
              <a:srgbClr val="A07B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3C25BC1E-12E3-4837-FE73-F2F28333826C}"/>
              </a:ext>
            </a:extLst>
          </p:cNvPr>
          <p:cNvSpPr txBox="1"/>
          <p:nvPr/>
        </p:nvSpPr>
        <p:spPr>
          <a:xfrm>
            <a:off x="2819400" y="2489200"/>
            <a:ext cx="165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1200" b="1">
                <a:solidFill>
                  <a:srgbClr val="A07B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长期目标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E4C0E0D-DC9F-E778-2E8A-1B67C00477A6}"/>
              </a:ext>
            </a:extLst>
          </p:cNvPr>
          <p:cNvSpPr txBox="1"/>
          <p:nvPr/>
        </p:nvSpPr>
        <p:spPr>
          <a:xfrm>
            <a:off x="2819400" y="2730500"/>
            <a:ext cx="254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8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五维 </a:t>
            </a:r>
            <a:r>
              <a:rPr lang="en-US" altLang="zh-CN" sz="8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zh-CN" altLang="en-US" sz="8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五年 </a:t>
            </a:r>
            <a:r>
              <a:rPr lang="en-US" altLang="zh-CN" sz="8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8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年度 </a:t>
            </a:r>
            <a:r>
              <a:rPr lang="en-US" altLang="zh-CN" sz="8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8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季度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3C46A676-41D1-6AD0-D815-9CD61E4EBB3F}"/>
              </a:ext>
            </a:extLst>
          </p:cNvPr>
          <p:cNvSpPr/>
          <p:nvPr/>
        </p:nvSpPr>
        <p:spPr>
          <a:xfrm>
            <a:off x="812800" y="3124200"/>
            <a:ext cx="1473200" cy="457200"/>
          </a:xfrm>
          <a:prstGeom prst="roundRect">
            <a:avLst>
              <a:gd name="adj" fmla="val 10000"/>
            </a:avLst>
          </a:prstGeom>
          <a:solidFill>
            <a:srgbClr val="121C30"/>
          </a:solidFill>
          <a:ln w="11430">
            <a:solidFill>
              <a:srgbClr val="34436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0D42B61-1CBA-C548-8260-BC616D50CAB1}"/>
              </a:ext>
            </a:extLst>
          </p:cNvPr>
          <p:cNvSpPr txBox="1"/>
          <p:nvPr/>
        </p:nvSpPr>
        <p:spPr>
          <a:xfrm>
            <a:off x="812800" y="3238500"/>
            <a:ext cx="1473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lang="zh-CN" altLang="en-US" sz="10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财政预算</a:t>
            </a:r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14C0CFF5-CBB2-1D80-C378-A2ACEF6F0D09}"/>
              </a:ext>
            </a:extLst>
          </p:cNvPr>
          <p:cNvCxnSpPr/>
          <p:nvPr/>
        </p:nvCxnSpPr>
        <p:spPr>
          <a:xfrm>
            <a:off x="2387600" y="3352800"/>
            <a:ext cx="304800" cy="0"/>
          </a:xfrm>
          <a:prstGeom prst="straightConnector1">
            <a:avLst/>
          </a:prstGeom>
          <a:ln w="17780">
            <a:solidFill>
              <a:srgbClr val="FFC46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881E0D78-CC06-2D09-D002-BAED78AFB7E1}"/>
              </a:ext>
            </a:extLst>
          </p:cNvPr>
          <p:cNvSpPr txBox="1"/>
          <p:nvPr/>
        </p:nvSpPr>
        <p:spPr>
          <a:xfrm>
            <a:off x="2819400" y="3149600"/>
            <a:ext cx="165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1200" b="1">
                <a:solidFill>
                  <a:srgbClr val="FFC46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财务账本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2982CC4-7409-41E4-E8E4-DB3E0DB5244B}"/>
              </a:ext>
            </a:extLst>
          </p:cNvPr>
          <p:cNvSpPr txBox="1"/>
          <p:nvPr/>
        </p:nvSpPr>
        <p:spPr>
          <a:xfrm>
            <a:off x="2819400" y="3390900"/>
            <a:ext cx="254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8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收入 </a:t>
            </a:r>
            <a:r>
              <a:rPr lang="en-US" altLang="zh-CN" sz="8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zh-CN" altLang="en-US" sz="8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支出 </a:t>
            </a:r>
            <a:r>
              <a:rPr lang="en-US" altLang="zh-CN" sz="8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zh-CN" altLang="en-US" sz="8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结余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ABEE6B40-B7E7-64FE-C3E8-9841CEB41B2D}"/>
              </a:ext>
            </a:extLst>
          </p:cNvPr>
          <p:cNvSpPr/>
          <p:nvPr/>
        </p:nvSpPr>
        <p:spPr>
          <a:xfrm>
            <a:off x="812800" y="3784600"/>
            <a:ext cx="1473200" cy="457200"/>
          </a:xfrm>
          <a:prstGeom prst="roundRect">
            <a:avLst>
              <a:gd name="adj" fmla="val 10000"/>
            </a:avLst>
          </a:prstGeom>
          <a:solidFill>
            <a:srgbClr val="121C30"/>
          </a:solidFill>
          <a:ln w="11430">
            <a:solidFill>
              <a:srgbClr val="34436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D7700D8-14CF-6FEC-8D22-38ACC72014D7}"/>
              </a:ext>
            </a:extLst>
          </p:cNvPr>
          <p:cNvSpPr txBox="1"/>
          <p:nvPr/>
        </p:nvSpPr>
        <p:spPr>
          <a:xfrm>
            <a:off x="812800" y="3898900"/>
            <a:ext cx="1473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lang="zh-CN" altLang="en-US" sz="10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部委分工</a:t>
            </a:r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DEB17725-E9D4-7F88-F46F-10C6365BD0DB}"/>
              </a:ext>
            </a:extLst>
          </p:cNvPr>
          <p:cNvCxnSpPr/>
          <p:nvPr/>
        </p:nvCxnSpPr>
        <p:spPr>
          <a:xfrm>
            <a:off x="2387600" y="4013200"/>
            <a:ext cx="304800" cy="0"/>
          </a:xfrm>
          <a:prstGeom prst="straightConnector1">
            <a:avLst/>
          </a:prstGeom>
          <a:ln w="17780">
            <a:solidFill>
              <a:srgbClr val="6C8C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FF1DC863-309D-AB15-09E8-9FA76D49D5C5}"/>
              </a:ext>
            </a:extLst>
          </p:cNvPr>
          <p:cNvSpPr txBox="1"/>
          <p:nvPr/>
        </p:nvSpPr>
        <p:spPr>
          <a:xfrm>
            <a:off x="2819400" y="3810000"/>
            <a:ext cx="165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1200" b="1">
                <a:solidFill>
                  <a:srgbClr val="6C8C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个人八维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5B310C26-ED04-685F-2FB4-CE1406E1FEE2}"/>
              </a:ext>
            </a:extLst>
          </p:cNvPr>
          <p:cNvSpPr txBox="1"/>
          <p:nvPr/>
        </p:nvSpPr>
        <p:spPr>
          <a:xfrm>
            <a:off x="2819400" y="4051300"/>
            <a:ext cx="254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8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思想 </a:t>
            </a:r>
            <a:r>
              <a:rPr lang="en-US" altLang="zh-CN" sz="8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8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教育 </a:t>
            </a:r>
            <a:r>
              <a:rPr lang="en-US" altLang="zh-CN" sz="8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8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健康 </a:t>
            </a:r>
            <a:r>
              <a:rPr lang="en-US" altLang="zh-CN" sz="8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8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社交</a:t>
            </a:r>
            <a:r>
              <a:rPr lang="en-US" altLang="zh-CN" sz="8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…</a:t>
            </a:r>
            <a:endParaRPr lang="zh-CN" altLang="en-US" sz="850">
              <a:solidFill>
                <a:srgbClr val="9AA6C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257F5347-48C7-40A9-F69A-32D6AE2EA69E}"/>
              </a:ext>
            </a:extLst>
          </p:cNvPr>
          <p:cNvSpPr/>
          <p:nvPr/>
        </p:nvSpPr>
        <p:spPr>
          <a:xfrm>
            <a:off x="812800" y="4445000"/>
            <a:ext cx="1473200" cy="457200"/>
          </a:xfrm>
          <a:prstGeom prst="roundRect">
            <a:avLst>
              <a:gd name="adj" fmla="val 10000"/>
            </a:avLst>
          </a:prstGeom>
          <a:solidFill>
            <a:srgbClr val="121C30"/>
          </a:solidFill>
          <a:ln w="11430">
            <a:solidFill>
              <a:srgbClr val="34436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EF28E1E-0186-7F1E-FE45-DC3B3F1CDD55}"/>
              </a:ext>
            </a:extLst>
          </p:cNvPr>
          <p:cNvSpPr txBox="1"/>
          <p:nvPr/>
        </p:nvSpPr>
        <p:spPr>
          <a:xfrm>
            <a:off x="812800" y="4559300"/>
            <a:ext cx="1473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lang="zh-CN" altLang="en-US" sz="10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年度计划</a:t>
            </a:r>
          </a:p>
        </p:txBody>
      </p: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85300B7F-7B43-1E69-72ED-AE6925609F5B}"/>
              </a:ext>
            </a:extLst>
          </p:cNvPr>
          <p:cNvCxnSpPr/>
          <p:nvPr/>
        </p:nvCxnSpPr>
        <p:spPr>
          <a:xfrm>
            <a:off x="2387600" y="4673600"/>
            <a:ext cx="304800" cy="0"/>
          </a:xfrm>
          <a:prstGeom prst="straightConnector1">
            <a:avLst/>
          </a:prstGeom>
          <a:ln w="17780">
            <a:solidFill>
              <a:srgbClr val="47D2A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F1A0E55F-D42A-7898-A935-28653F3FDD6C}"/>
              </a:ext>
            </a:extLst>
          </p:cNvPr>
          <p:cNvSpPr txBox="1"/>
          <p:nvPr/>
        </p:nvSpPr>
        <p:spPr>
          <a:xfrm>
            <a:off x="2819400" y="4470400"/>
            <a:ext cx="165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1200" b="1">
                <a:solidFill>
                  <a:srgbClr val="47D2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每日任务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C51EFC30-67AF-CD03-5D09-08BCF965D574}"/>
              </a:ext>
            </a:extLst>
          </p:cNvPr>
          <p:cNvSpPr txBox="1"/>
          <p:nvPr/>
        </p:nvSpPr>
        <p:spPr>
          <a:xfrm>
            <a:off x="2819400" y="4711700"/>
            <a:ext cx="254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8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优先级 </a:t>
            </a:r>
            <a:r>
              <a:rPr lang="en-US" altLang="zh-CN" sz="8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zh-CN" altLang="en-US" sz="8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截止日期 </a:t>
            </a:r>
            <a:r>
              <a:rPr lang="en-US" altLang="zh-CN" sz="8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zh-CN" altLang="en-US" sz="8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完成率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7190B4EA-F245-0858-6AE8-C2F0223F37E6}"/>
              </a:ext>
            </a:extLst>
          </p:cNvPr>
          <p:cNvSpPr txBox="1"/>
          <p:nvPr/>
        </p:nvSpPr>
        <p:spPr>
          <a:xfrm>
            <a:off x="812800" y="5334000"/>
            <a:ext cx="495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1050" i="1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国家建设一期一期来，个人系统也一样。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12516A20-B2D1-A9AC-3031-E4DD8F4D1432}"/>
              </a:ext>
            </a:extLst>
          </p:cNvPr>
          <p:cNvSpPr txBox="1"/>
          <p:nvPr/>
        </p:nvSpPr>
        <p:spPr>
          <a:xfrm>
            <a:off x="6350000" y="21082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1100" b="1">
                <a:solidFill>
                  <a:srgbClr val="FFC46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原规划：八项建设</a:t>
            </a: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591E312C-E20A-2A0C-FFC0-B3B63C93A25D}"/>
              </a:ext>
            </a:extLst>
          </p:cNvPr>
          <p:cNvSpPr/>
          <p:nvPr/>
        </p:nvSpPr>
        <p:spPr>
          <a:xfrm>
            <a:off x="6350000" y="2489200"/>
            <a:ext cx="1168400" cy="482600"/>
          </a:xfrm>
          <a:prstGeom prst="roundRect">
            <a:avLst>
              <a:gd name="adj" fmla="val 10000"/>
            </a:avLst>
          </a:prstGeom>
          <a:solidFill>
            <a:srgbClr val="141D30"/>
          </a:solidFill>
          <a:ln w="11430">
            <a:solidFill>
              <a:srgbClr val="34436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65FF37B0-E05D-D9C1-6792-16F46E759137}"/>
              </a:ext>
            </a:extLst>
          </p:cNvPr>
          <p:cNvSpPr txBox="1"/>
          <p:nvPr/>
        </p:nvSpPr>
        <p:spPr>
          <a:xfrm>
            <a:off x="6350000" y="2552700"/>
            <a:ext cx="1168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lang="zh-CN" altLang="en-US" sz="11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思想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189AD7C2-939B-3227-9BBB-C469FC98B077}"/>
              </a:ext>
            </a:extLst>
          </p:cNvPr>
          <p:cNvSpPr txBox="1"/>
          <p:nvPr/>
        </p:nvSpPr>
        <p:spPr>
          <a:xfrm>
            <a:off x="6350000" y="2781300"/>
            <a:ext cx="1168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lang="zh-CN" altLang="en-US" sz="70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后续</a:t>
            </a: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827BDF8D-478E-4EEF-7135-AFE191EEA0CE}"/>
              </a:ext>
            </a:extLst>
          </p:cNvPr>
          <p:cNvSpPr/>
          <p:nvPr/>
        </p:nvSpPr>
        <p:spPr>
          <a:xfrm>
            <a:off x="7620000" y="2489200"/>
            <a:ext cx="1168400" cy="482600"/>
          </a:xfrm>
          <a:prstGeom prst="roundRect">
            <a:avLst>
              <a:gd name="adj" fmla="val 10000"/>
            </a:avLst>
          </a:prstGeom>
          <a:solidFill>
            <a:srgbClr val="141D30"/>
          </a:solidFill>
          <a:ln w="11430">
            <a:solidFill>
              <a:srgbClr val="34436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C36E888B-8346-459B-3685-837D8AE05B1F}"/>
              </a:ext>
            </a:extLst>
          </p:cNvPr>
          <p:cNvSpPr txBox="1"/>
          <p:nvPr/>
        </p:nvSpPr>
        <p:spPr>
          <a:xfrm>
            <a:off x="7620000" y="2552700"/>
            <a:ext cx="1168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lang="zh-CN" altLang="en-US" sz="11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教育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1AC8ED8C-8F9D-2CC0-D5E5-007F421923A6}"/>
              </a:ext>
            </a:extLst>
          </p:cNvPr>
          <p:cNvSpPr txBox="1"/>
          <p:nvPr/>
        </p:nvSpPr>
        <p:spPr>
          <a:xfrm>
            <a:off x="7620000" y="2781300"/>
            <a:ext cx="1168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lang="zh-CN" altLang="en-US" sz="70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后续</a:t>
            </a: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A63DF6F8-516B-C586-DC63-6DE7B23E1E5E}"/>
              </a:ext>
            </a:extLst>
          </p:cNvPr>
          <p:cNvSpPr/>
          <p:nvPr/>
        </p:nvSpPr>
        <p:spPr>
          <a:xfrm>
            <a:off x="8890000" y="2489200"/>
            <a:ext cx="1168400" cy="482600"/>
          </a:xfrm>
          <a:prstGeom prst="roundRect">
            <a:avLst>
              <a:gd name="adj" fmla="val 10000"/>
            </a:avLst>
          </a:prstGeom>
          <a:solidFill>
            <a:srgbClr val="141D30"/>
          </a:solidFill>
          <a:ln w="11430">
            <a:solidFill>
              <a:srgbClr val="34436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EE3B7191-08CA-73CA-C9AF-21689B27A360}"/>
              </a:ext>
            </a:extLst>
          </p:cNvPr>
          <p:cNvSpPr txBox="1"/>
          <p:nvPr/>
        </p:nvSpPr>
        <p:spPr>
          <a:xfrm>
            <a:off x="8890000" y="2552700"/>
            <a:ext cx="1168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lang="zh-CN" altLang="en-US" sz="11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健康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29020ED4-7A87-CB73-A418-FF2DEA6F8C1B}"/>
              </a:ext>
            </a:extLst>
          </p:cNvPr>
          <p:cNvSpPr txBox="1"/>
          <p:nvPr/>
        </p:nvSpPr>
        <p:spPr>
          <a:xfrm>
            <a:off x="8890000" y="2781300"/>
            <a:ext cx="1168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lang="zh-CN" altLang="en-US" sz="70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后续</a:t>
            </a:r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9FB29362-41A5-E57E-8BA1-487EF12D6C7C}"/>
              </a:ext>
            </a:extLst>
          </p:cNvPr>
          <p:cNvSpPr/>
          <p:nvPr/>
        </p:nvSpPr>
        <p:spPr>
          <a:xfrm>
            <a:off x="10160000" y="2489200"/>
            <a:ext cx="1168400" cy="482600"/>
          </a:xfrm>
          <a:prstGeom prst="roundRect">
            <a:avLst>
              <a:gd name="adj" fmla="val 10000"/>
            </a:avLst>
          </a:prstGeom>
          <a:solidFill>
            <a:srgbClr val="162A2E"/>
          </a:solidFill>
          <a:ln w="11430">
            <a:solidFill>
              <a:srgbClr val="47D2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4938319B-A484-4800-284E-25978108E86F}"/>
              </a:ext>
            </a:extLst>
          </p:cNvPr>
          <p:cNvSpPr txBox="1"/>
          <p:nvPr/>
        </p:nvSpPr>
        <p:spPr>
          <a:xfrm>
            <a:off x="10160000" y="2552700"/>
            <a:ext cx="1168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lang="zh-CN" altLang="en-US" sz="1150" b="1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财务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6136FD34-F8EE-3CED-3EB0-9644C236368D}"/>
              </a:ext>
            </a:extLst>
          </p:cNvPr>
          <p:cNvSpPr txBox="1"/>
          <p:nvPr/>
        </p:nvSpPr>
        <p:spPr>
          <a:xfrm>
            <a:off x="10160000" y="2781300"/>
            <a:ext cx="1168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lang="zh-CN" altLang="en-US" sz="700">
                <a:solidFill>
                  <a:srgbClr val="47D2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已实现</a:t>
            </a:r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EE30851D-18A8-3B29-990D-0CCB2253CD0E}"/>
              </a:ext>
            </a:extLst>
          </p:cNvPr>
          <p:cNvSpPr/>
          <p:nvPr/>
        </p:nvSpPr>
        <p:spPr>
          <a:xfrm>
            <a:off x="6350000" y="3098800"/>
            <a:ext cx="1168400" cy="482600"/>
          </a:xfrm>
          <a:prstGeom prst="roundRect">
            <a:avLst>
              <a:gd name="adj" fmla="val 10000"/>
            </a:avLst>
          </a:prstGeom>
          <a:solidFill>
            <a:srgbClr val="141D30"/>
          </a:solidFill>
          <a:ln w="11430">
            <a:solidFill>
              <a:srgbClr val="47D2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FE881153-1786-461C-E51F-5F246AF8A1B4}"/>
              </a:ext>
            </a:extLst>
          </p:cNvPr>
          <p:cNvSpPr txBox="1"/>
          <p:nvPr/>
        </p:nvSpPr>
        <p:spPr>
          <a:xfrm>
            <a:off x="6350000" y="3162300"/>
            <a:ext cx="1168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lang="zh-CN" altLang="en-US" sz="11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社交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B75B276-4310-0369-464F-1168FCB7A4ED}"/>
              </a:ext>
            </a:extLst>
          </p:cNvPr>
          <p:cNvSpPr txBox="1"/>
          <p:nvPr/>
        </p:nvSpPr>
        <p:spPr>
          <a:xfrm>
            <a:off x="6350000" y="3390900"/>
            <a:ext cx="1168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lang="zh-CN" altLang="en-US" sz="70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后续</a:t>
            </a:r>
          </a:p>
        </p:txBody>
      </p: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DA55C215-9CB5-E6C3-F5BF-3F57CB3EAB21}"/>
              </a:ext>
            </a:extLst>
          </p:cNvPr>
          <p:cNvSpPr/>
          <p:nvPr/>
        </p:nvSpPr>
        <p:spPr>
          <a:xfrm>
            <a:off x="7620000" y="3098800"/>
            <a:ext cx="1168400" cy="482600"/>
          </a:xfrm>
          <a:prstGeom prst="roundRect">
            <a:avLst>
              <a:gd name="adj" fmla="val 10000"/>
            </a:avLst>
          </a:prstGeom>
          <a:solidFill>
            <a:srgbClr val="141D30"/>
          </a:solidFill>
          <a:ln w="11430">
            <a:solidFill>
              <a:srgbClr val="47D2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BE514A08-D03E-5115-A941-9F481F0960C0}"/>
              </a:ext>
            </a:extLst>
          </p:cNvPr>
          <p:cNvSpPr txBox="1"/>
          <p:nvPr/>
        </p:nvSpPr>
        <p:spPr>
          <a:xfrm>
            <a:off x="7620000" y="3162300"/>
            <a:ext cx="1168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lang="zh-CN" altLang="en-US" sz="11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工作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2196367F-8C36-3661-C8DB-C8D0B3A1AED4}"/>
              </a:ext>
            </a:extLst>
          </p:cNvPr>
          <p:cNvSpPr txBox="1"/>
          <p:nvPr/>
        </p:nvSpPr>
        <p:spPr>
          <a:xfrm>
            <a:off x="7620000" y="3390900"/>
            <a:ext cx="1168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lang="zh-CN" altLang="en-US" sz="70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后续</a:t>
            </a:r>
          </a:p>
        </p:txBody>
      </p:sp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D639E86D-00C5-4E44-A096-FBD4825231F8}"/>
              </a:ext>
            </a:extLst>
          </p:cNvPr>
          <p:cNvSpPr/>
          <p:nvPr/>
        </p:nvSpPr>
        <p:spPr>
          <a:xfrm>
            <a:off x="8890000" y="3098800"/>
            <a:ext cx="1168400" cy="482600"/>
          </a:xfrm>
          <a:prstGeom prst="roundRect">
            <a:avLst>
              <a:gd name="adj" fmla="val 10000"/>
            </a:avLst>
          </a:prstGeom>
          <a:solidFill>
            <a:srgbClr val="162A2E"/>
          </a:solidFill>
          <a:ln w="11430">
            <a:solidFill>
              <a:srgbClr val="47D2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C9625CCF-AE4A-CFD0-2DC6-26303F38ADBD}"/>
              </a:ext>
            </a:extLst>
          </p:cNvPr>
          <p:cNvSpPr txBox="1"/>
          <p:nvPr/>
        </p:nvSpPr>
        <p:spPr>
          <a:xfrm>
            <a:off x="8890000" y="3162300"/>
            <a:ext cx="1168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lang="zh-CN" altLang="en-US" sz="1150" b="1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日程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C7D18733-72B3-7209-82F7-1293FCBA94EC}"/>
              </a:ext>
            </a:extLst>
          </p:cNvPr>
          <p:cNvSpPr txBox="1"/>
          <p:nvPr/>
        </p:nvSpPr>
        <p:spPr>
          <a:xfrm>
            <a:off x="8890000" y="3390900"/>
            <a:ext cx="1168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lang="zh-CN" altLang="en-US" sz="700">
                <a:solidFill>
                  <a:srgbClr val="47D2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已实现</a:t>
            </a:r>
          </a:p>
        </p:txBody>
      </p:sp>
      <p:sp>
        <p:nvSpPr>
          <p:cNvPr id="54" name="矩形: 圆角 53">
            <a:extLst>
              <a:ext uri="{FF2B5EF4-FFF2-40B4-BE49-F238E27FC236}">
                <a16:creationId xmlns:a16="http://schemas.microsoft.com/office/drawing/2014/main" id="{983A39A0-3387-E796-6672-9D1F13D90F55}"/>
              </a:ext>
            </a:extLst>
          </p:cNvPr>
          <p:cNvSpPr/>
          <p:nvPr/>
        </p:nvSpPr>
        <p:spPr>
          <a:xfrm>
            <a:off x="10160000" y="3098800"/>
            <a:ext cx="1168400" cy="482600"/>
          </a:xfrm>
          <a:prstGeom prst="roundRect">
            <a:avLst>
              <a:gd name="adj" fmla="val 10000"/>
            </a:avLst>
          </a:prstGeom>
          <a:solidFill>
            <a:srgbClr val="162A2E"/>
          </a:solidFill>
          <a:ln w="11430">
            <a:solidFill>
              <a:srgbClr val="47D2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38CCED19-85BF-6958-B751-71AC56926B5F}"/>
              </a:ext>
            </a:extLst>
          </p:cNvPr>
          <p:cNvSpPr txBox="1"/>
          <p:nvPr/>
        </p:nvSpPr>
        <p:spPr>
          <a:xfrm>
            <a:off x="10160000" y="3162300"/>
            <a:ext cx="1168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lang="zh-CN" altLang="en-US" sz="1150" b="1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计划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37E48346-2933-7AB5-47C8-EFC7026C2D78}"/>
              </a:ext>
            </a:extLst>
          </p:cNvPr>
          <p:cNvSpPr txBox="1"/>
          <p:nvPr/>
        </p:nvSpPr>
        <p:spPr>
          <a:xfrm>
            <a:off x="10160000" y="3390900"/>
            <a:ext cx="1168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lang="zh-CN" altLang="en-US" sz="700">
                <a:solidFill>
                  <a:srgbClr val="47D2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已实现</a:t>
            </a:r>
          </a:p>
        </p:txBody>
      </p:sp>
      <p:sp>
        <p:nvSpPr>
          <p:cNvPr id="57" name="矩形: 圆角 56">
            <a:extLst>
              <a:ext uri="{FF2B5EF4-FFF2-40B4-BE49-F238E27FC236}">
                <a16:creationId xmlns:a16="http://schemas.microsoft.com/office/drawing/2014/main" id="{16745325-3612-32D0-B645-FFBD061C1694}"/>
              </a:ext>
            </a:extLst>
          </p:cNvPr>
          <p:cNvSpPr/>
          <p:nvPr/>
        </p:nvSpPr>
        <p:spPr>
          <a:xfrm>
            <a:off x="6350000" y="3810000"/>
            <a:ext cx="5029200" cy="1270000"/>
          </a:xfrm>
          <a:prstGeom prst="roundRect">
            <a:avLst>
              <a:gd name="adj" fmla="val 6000"/>
            </a:avLst>
          </a:prstGeom>
          <a:solidFill>
            <a:srgbClr val="16223A"/>
          </a:solidFill>
          <a:ln w="11430">
            <a:solidFill>
              <a:srgbClr val="47D2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5D7F2844-69CA-CC32-1863-0056EAE25894}"/>
              </a:ext>
            </a:extLst>
          </p:cNvPr>
          <p:cNvSpPr txBox="1"/>
          <p:nvPr/>
        </p:nvSpPr>
        <p:spPr>
          <a:xfrm>
            <a:off x="6604000" y="3987800"/>
            <a:ext cx="4521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9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时间 </a:t>
            </a:r>
            <a:r>
              <a:rPr lang="en-US" altLang="zh-CN" sz="9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9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精力有限</a:t>
            </a: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184694A8-D6B5-BF39-C780-6019EDC2D5DE}"/>
              </a:ext>
            </a:extLst>
          </p:cNvPr>
          <p:cNvSpPr txBox="1"/>
          <p:nvPr/>
        </p:nvSpPr>
        <p:spPr>
          <a:xfrm>
            <a:off x="6604000" y="4267200"/>
            <a:ext cx="4521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1600" b="1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先做 </a:t>
            </a:r>
            <a:r>
              <a:rPr lang="en-US" altLang="zh-CN" sz="1600" b="1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 </a:t>
            </a:r>
            <a:r>
              <a:rPr lang="zh-CN" altLang="en-US" sz="1600" b="1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个能闭环的模块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01AB6191-4F77-9FC3-3259-7F86C9D77D6D}"/>
              </a:ext>
            </a:extLst>
          </p:cNvPr>
          <p:cNvSpPr txBox="1"/>
          <p:nvPr/>
        </p:nvSpPr>
        <p:spPr>
          <a:xfrm>
            <a:off x="6604000" y="4648200"/>
            <a:ext cx="4521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90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不铺 </a:t>
            </a:r>
            <a:r>
              <a:rPr lang="en-US" altLang="zh-CN" sz="90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8 </a:t>
            </a:r>
            <a:r>
              <a:rPr lang="zh-CN" altLang="en-US" sz="90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个空架子，先把「定目标 → 拆任务 → 看资源」跑通。</a:t>
            </a:r>
          </a:p>
        </p:txBody>
      </p:sp>
      <p:sp>
        <p:nvSpPr>
          <p:cNvPr id="61" name="矩形: 圆角 60">
            <a:extLst>
              <a:ext uri="{FF2B5EF4-FFF2-40B4-BE49-F238E27FC236}">
                <a16:creationId xmlns:a16="http://schemas.microsoft.com/office/drawing/2014/main" id="{826F1D33-B302-3A09-6893-C5DF175FBC64}"/>
              </a:ext>
            </a:extLst>
          </p:cNvPr>
          <p:cNvSpPr/>
          <p:nvPr/>
        </p:nvSpPr>
        <p:spPr>
          <a:xfrm>
            <a:off x="812800" y="5715000"/>
            <a:ext cx="10566400" cy="558800"/>
          </a:xfrm>
          <a:prstGeom prst="roundRect">
            <a:avLst>
              <a:gd name="adj" fmla="val 5000"/>
            </a:avLst>
          </a:prstGeom>
          <a:solidFill>
            <a:srgbClr val="121C30"/>
          </a:solidFill>
          <a:ln w="11430">
            <a:solidFill>
              <a:srgbClr val="47D2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88A2129F-9869-F82E-0A86-8EF0C289635A}"/>
              </a:ext>
            </a:extLst>
          </p:cNvPr>
          <p:cNvSpPr txBox="1"/>
          <p:nvPr/>
        </p:nvSpPr>
        <p:spPr>
          <a:xfrm>
            <a:off x="1092200" y="58547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105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原规划 </a:t>
            </a:r>
            <a:r>
              <a:rPr lang="en-US" altLang="zh-CN" sz="105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8 </a:t>
            </a:r>
            <a:r>
              <a:rPr lang="zh-CN" altLang="en-US" sz="105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个方面  →  一期 </a:t>
            </a:r>
            <a:r>
              <a:rPr lang="en-US" altLang="zh-CN" sz="105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 </a:t>
            </a:r>
            <a:r>
              <a:rPr lang="zh-CN" altLang="en-US" sz="105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个模块：每日任务 </a:t>
            </a:r>
            <a:r>
              <a:rPr lang="en-US" altLang="zh-CN" sz="105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zh-CN" altLang="en-US" sz="105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长期目标 </a:t>
            </a:r>
            <a:r>
              <a:rPr lang="en-US" altLang="zh-CN" sz="105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zh-CN" altLang="en-US" sz="105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财务</a:t>
            </a: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37BFE94B-0438-2E7B-5180-8B4FEB2ADC99}"/>
              </a:ext>
            </a:extLst>
          </p:cNvPr>
          <p:cNvSpPr txBox="1"/>
          <p:nvPr/>
        </p:nvSpPr>
        <p:spPr>
          <a:xfrm>
            <a:off x="8763000" y="5854700"/>
            <a:ext cx="2336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lang="zh-CN" altLang="en-US" sz="1050" b="1">
                <a:solidFill>
                  <a:srgbClr val="FFC46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先立骨架，再扩建</a:t>
            </a:r>
          </a:p>
        </p:txBody>
      </p:sp>
    </p:spTree>
    <p:extLst>
      <p:ext uri="{BB962C8B-B14F-4D97-AF65-F5344CB8AC3E}">
        <p14:creationId xmlns:p14="http://schemas.microsoft.com/office/powerpoint/2010/main" val="23360119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0DE3BAD9-8DD3-626B-BE98-3D288126EE4D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oundRect">
            <a:avLst>
              <a:gd name="adj" fmla="val 0"/>
            </a:avLst>
          </a:prstGeom>
          <a:solidFill>
            <a:srgbClr val="6C8CFF"/>
          </a:solidFill>
          <a:ln w="11430">
            <a:solidFill>
              <a:srgbClr val="6C8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11F1F21A-AB9B-C67B-D656-8BB857A1CADA}"/>
              </a:ext>
            </a:extLst>
          </p:cNvPr>
          <p:cNvSpPr/>
          <p:nvPr/>
        </p:nvSpPr>
        <p:spPr>
          <a:xfrm>
            <a:off x="609600" y="508000"/>
            <a:ext cx="50800" cy="1168400"/>
          </a:xfrm>
          <a:prstGeom prst="roundRect">
            <a:avLst>
              <a:gd name="adj" fmla="val 0"/>
            </a:avLst>
          </a:prstGeom>
          <a:solidFill>
            <a:srgbClr val="6C8CFF"/>
          </a:solidFill>
          <a:ln w="11430">
            <a:solidFill>
              <a:srgbClr val="6C8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42E4F95-3387-94AE-5E87-E2367CFD69F1}"/>
              </a:ext>
            </a:extLst>
          </p:cNvPr>
          <p:cNvSpPr txBox="1"/>
          <p:nvPr/>
        </p:nvSpPr>
        <p:spPr>
          <a:xfrm>
            <a:off x="812800" y="482600"/>
            <a:ext cx="889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zh-CN" sz="1000" b="1">
                <a:solidFill>
                  <a:srgbClr val="6C8C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SCOPE</a:t>
            </a:r>
            <a:endParaRPr lang="zh-CN" altLang="en-US" sz="1000" b="1">
              <a:solidFill>
                <a:srgbClr val="6C8C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64DB012-6233-9B4E-5F7F-38D7DA04C784}"/>
              </a:ext>
            </a:extLst>
          </p:cNvPr>
          <p:cNvSpPr txBox="1"/>
          <p:nvPr/>
        </p:nvSpPr>
        <p:spPr>
          <a:xfrm>
            <a:off x="812800" y="762000"/>
            <a:ext cx="1003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2700" b="1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一期范围：三个模块，一条主线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496CF94-200B-C98F-9BB8-7B5655162598}"/>
              </a:ext>
            </a:extLst>
          </p:cNvPr>
          <p:cNvSpPr txBox="1"/>
          <p:nvPr/>
        </p:nvSpPr>
        <p:spPr>
          <a:xfrm>
            <a:off x="812800" y="13208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12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任务管今天，目标管五年，账本管资源</a:t>
            </a: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73DE1057-1139-217B-0538-04D6B2B456E8}"/>
              </a:ext>
            </a:extLst>
          </p:cNvPr>
          <p:cNvCxnSpPr/>
          <p:nvPr/>
        </p:nvCxnSpPr>
        <p:spPr>
          <a:xfrm>
            <a:off x="812800" y="1803400"/>
            <a:ext cx="10566400" cy="0"/>
          </a:xfrm>
          <a:prstGeom prst="straightConnector1">
            <a:avLst/>
          </a:prstGeom>
          <a:ln w="12700">
            <a:solidFill>
              <a:srgbClr val="47D2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DA94B65D-DECF-C428-AA7E-9860D2A55DBE}"/>
              </a:ext>
            </a:extLst>
          </p:cNvPr>
          <p:cNvSpPr txBox="1"/>
          <p:nvPr/>
        </p:nvSpPr>
        <p:spPr>
          <a:xfrm>
            <a:off x="10363200" y="6477000"/>
            <a:ext cx="101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lang="en-US" altLang="zh-CN" sz="9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 / 12</a:t>
            </a:r>
            <a:endParaRPr lang="zh-CN" altLang="en-US" sz="950">
              <a:solidFill>
                <a:srgbClr val="9AA6C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5A389F32-A5CA-26E4-7A48-A19ADB68228E}"/>
              </a:ext>
            </a:extLst>
          </p:cNvPr>
          <p:cNvSpPr/>
          <p:nvPr/>
        </p:nvSpPr>
        <p:spPr>
          <a:xfrm>
            <a:off x="812800" y="2133600"/>
            <a:ext cx="3302000" cy="3098800"/>
          </a:xfrm>
          <a:prstGeom prst="roundRect">
            <a:avLst>
              <a:gd name="adj" fmla="val 5000"/>
            </a:avLst>
          </a:prstGeom>
          <a:solidFill>
            <a:srgbClr val="182238"/>
          </a:solidFill>
          <a:ln w="11430">
            <a:solidFill>
              <a:srgbClr val="47D2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93C20BCC-603F-B27F-8E1E-94350DB3F270}"/>
              </a:ext>
            </a:extLst>
          </p:cNvPr>
          <p:cNvSpPr/>
          <p:nvPr/>
        </p:nvSpPr>
        <p:spPr>
          <a:xfrm>
            <a:off x="812800" y="2133600"/>
            <a:ext cx="3302000" cy="50800"/>
          </a:xfrm>
          <a:prstGeom prst="roundRect">
            <a:avLst>
              <a:gd name="adj" fmla="val 0"/>
            </a:avLst>
          </a:prstGeom>
          <a:solidFill>
            <a:srgbClr val="47D2A0"/>
          </a:solidFill>
          <a:ln w="11430">
            <a:solidFill>
              <a:srgbClr val="47D2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CC590B0-77FA-CC10-89A8-CC60F713F9AE}"/>
              </a:ext>
            </a:extLst>
          </p:cNvPr>
          <p:cNvSpPr txBox="1"/>
          <p:nvPr/>
        </p:nvSpPr>
        <p:spPr>
          <a:xfrm>
            <a:off x="1066800" y="2336800"/>
            <a:ext cx="76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zh-CN" b="1">
                <a:solidFill>
                  <a:srgbClr val="47D2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01</a:t>
            </a:r>
            <a:endParaRPr lang="zh-CN" altLang="en-US" b="1">
              <a:solidFill>
                <a:srgbClr val="47D2A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84119EA-E3EF-5551-B626-06C73F1FD4A1}"/>
              </a:ext>
            </a:extLst>
          </p:cNvPr>
          <p:cNvSpPr txBox="1"/>
          <p:nvPr/>
        </p:nvSpPr>
        <p:spPr>
          <a:xfrm>
            <a:off x="1066800" y="2743200"/>
            <a:ext cx="279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1900" b="1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每日任务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C3C6D28-AAFA-1506-C96E-8BA173DEEA3D}"/>
              </a:ext>
            </a:extLst>
          </p:cNvPr>
          <p:cNvSpPr txBox="1"/>
          <p:nvPr/>
        </p:nvSpPr>
        <p:spPr>
          <a:xfrm>
            <a:off x="1066800" y="3149600"/>
            <a:ext cx="279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9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日程与执行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444E60E-A070-F2FE-43E2-574251DCE179}"/>
              </a:ext>
            </a:extLst>
          </p:cNvPr>
          <p:cNvSpPr txBox="1"/>
          <p:nvPr/>
        </p:nvSpPr>
        <p:spPr>
          <a:xfrm>
            <a:off x="1066800" y="3530600"/>
            <a:ext cx="279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1300" b="1">
                <a:solidFill>
                  <a:srgbClr val="47D2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任务管今天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054AD43-D769-20D1-B285-E6A10FA1EF26}"/>
              </a:ext>
            </a:extLst>
          </p:cNvPr>
          <p:cNvSpPr txBox="1"/>
          <p:nvPr/>
        </p:nvSpPr>
        <p:spPr>
          <a:xfrm>
            <a:off x="1066800" y="3987800"/>
            <a:ext cx="279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95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zh-CN" altLang="en-US" sz="95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优先级 </a:t>
            </a:r>
            <a:r>
              <a:rPr lang="en-US" altLang="zh-CN" sz="95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1–3
· </a:t>
            </a:r>
            <a:r>
              <a:rPr lang="zh-CN" altLang="en-US" sz="95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截止日期 </a:t>
            </a:r>
            <a:r>
              <a:rPr lang="en-US" altLang="zh-CN" sz="95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95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逾期标红
</a:t>
            </a:r>
            <a:r>
              <a:rPr lang="en-US" altLang="zh-CN" sz="95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zh-CN" altLang="en-US" sz="95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统计卡 </a:t>
            </a:r>
            <a:r>
              <a:rPr lang="en-US" altLang="zh-CN" sz="95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 </a:t>
            </a:r>
            <a:r>
              <a:rPr lang="zh-CN" altLang="en-US" sz="95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状态筛选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4CFD3C40-B6AB-FDEB-7A1B-2FF98612E58C}"/>
              </a:ext>
            </a:extLst>
          </p:cNvPr>
          <p:cNvSpPr/>
          <p:nvPr/>
        </p:nvSpPr>
        <p:spPr>
          <a:xfrm>
            <a:off x="4368800" y="2133600"/>
            <a:ext cx="3302000" cy="3098800"/>
          </a:xfrm>
          <a:prstGeom prst="roundRect">
            <a:avLst>
              <a:gd name="adj" fmla="val 5000"/>
            </a:avLst>
          </a:prstGeom>
          <a:solidFill>
            <a:srgbClr val="182238"/>
          </a:solidFill>
          <a:ln w="11430">
            <a:solidFill>
              <a:srgbClr val="47D2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00AE3832-9137-09DD-1B92-145F0A64BC55}"/>
              </a:ext>
            </a:extLst>
          </p:cNvPr>
          <p:cNvSpPr/>
          <p:nvPr/>
        </p:nvSpPr>
        <p:spPr>
          <a:xfrm>
            <a:off x="4368800" y="2133600"/>
            <a:ext cx="3302000" cy="50800"/>
          </a:xfrm>
          <a:prstGeom prst="roundRect">
            <a:avLst>
              <a:gd name="adj" fmla="val 0"/>
            </a:avLst>
          </a:prstGeom>
          <a:solidFill>
            <a:srgbClr val="A07BFF"/>
          </a:solidFill>
          <a:ln w="11430">
            <a:solidFill>
              <a:srgbClr val="A07B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D1467DC-D062-753D-0942-49EB3E1E01D0}"/>
              </a:ext>
            </a:extLst>
          </p:cNvPr>
          <p:cNvSpPr txBox="1"/>
          <p:nvPr/>
        </p:nvSpPr>
        <p:spPr>
          <a:xfrm>
            <a:off x="4622800" y="2336800"/>
            <a:ext cx="76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zh-CN" b="1">
                <a:solidFill>
                  <a:srgbClr val="A07B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02</a:t>
            </a:r>
            <a:endParaRPr lang="zh-CN" altLang="en-US" b="1">
              <a:solidFill>
                <a:srgbClr val="A07B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11DBB52-CF5D-F7EB-07AC-6C2E586A0F73}"/>
              </a:ext>
            </a:extLst>
          </p:cNvPr>
          <p:cNvSpPr txBox="1"/>
          <p:nvPr/>
        </p:nvSpPr>
        <p:spPr>
          <a:xfrm>
            <a:off x="4622800" y="2743200"/>
            <a:ext cx="279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1900" b="1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长期目标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634B98D-925A-12CE-CF26-6685B7EE868A}"/>
              </a:ext>
            </a:extLst>
          </p:cNvPr>
          <p:cNvSpPr txBox="1"/>
          <p:nvPr/>
        </p:nvSpPr>
        <p:spPr>
          <a:xfrm>
            <a:off x="4622800" y="3149600"/>
            <a:ext cx="279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9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规划与考核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5444F8F-BD7A-CF62-7F31-8F4B23A0B095}"/>
              </a:ext>
            </a:extLst>
          </p:cNvPr>
          <p:cNvSpPr txBox="1"/>
          <p:nvPr/>
        </p:nvSpPr>
        <p:spPr>
          <a:xfrm>
            <a:off x="4622800" y="3530600"/>
            <a:ext cx="279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1300" b="1">
                <a:solidFill>
                  <a:srgbClr val="A07B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目标管五年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1EAB315-D1AB-BC29-A3BB-456B2E744AB4}"/>
              </a:ext>
            </a:extLst>
          </p:cNvPr>
          <p:cNvSpPr txBox="1"/>
          <p:nvPr/>
        </p:nvSpPr>
        <p:spPr>
          <a:xfrm>
            <a:off x="4622800" y="3987800"/>
            <a:ext cx="279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95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zh-CN" altLang="en-US" sz="95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五维：经济</a:t>
            </a:r>
            <a:r>
              <a:rPr lang="en-US" altLang="zh-CN" sz="95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</a:t>
            </a:r>
            <a:r>
              <a:rPr lang="zh-CN" altLang="en-US" sz="95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政治</a:t>
            </a:r>
            <a:r>
              <a:rPr lang="en-US" altLang="zh-CN" sz="95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</a:t>
            </a:r>
            <a:r>
              <a:rPr lang="zh-CN" altLang="en-US" sz="95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文化</a:t>
            </a:r>
            <a:r>
              <a:rPr lang="en-US" altLang="zh-CN" sz="95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</a:t>
            </a:r>
            <a:r>
              <a:rPr lang="zh-CN" altLang="en-US" sz="95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社会</a:t>
            </a:r>
            <a:r>
              <a:rPr lang="en-US" altLang="zh-CN" sz="95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</a:t>
            </a:r>
            <a:r>
              <a:rPr lang="zh-CN" altLang="en-US" sz="95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生态
</a:t>
            </a:r>
            <a:r>
              <a:rPr lang="en-US" altLang="zh-CN" sz="95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zh-CN" altLang="en-US" sz="95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五年 </a:t>
            </a:r>
            <a:r>
              <a:rPr lang="en-US" altLang="zh-CN" sz="95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95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年度 </a:t>
            </a:r>
            <a:r>
              <a:rPr lang="en-US" altLang="zh-CN" sz="95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95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季度
</a:t>
            </a:r>
            <a:r>
              <a:rPr lang="en-US" altLang="zh-CN" sz="95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zh-CN" altLang="en-US" sz="95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进度条 </a:t>
            </a:r>
            <a:r>
              <a:rPr lang="en-US" altLang="zh-CN" sz="95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+ 100% </a:t>
            </a:r>
            <a:r>
              <a:rPr lang="zh-CN" altLang="en-US" sz="95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自动完成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CF3A91F1-BB04-D25B-061F-5EDF26EC888A}"/>
              </a:ext>
            </a:extLst>
          </p:cNvPr>
          <p:cNvSpPr/>
          <p:nvPr/>
        </p:nvSpPr>
        <p:spPr>
          <a:xfrm>
            <a:off x="7924800" y="2133600"/>
            <a:ext cx="3302000" cy="3098800"/>
          </a:xfrm>
          <a:prstGeom prst="roundRect">
            <a:avLst>
              <a:gd name="adj" fmla="val 5000"/>
            </a:avLst>
          </a:prstGeom>
          <a:solidFill>
            <a:srgbClr val="182238"/>
          </a:solidFill>
          <a:ln w="11430">
            <a:solidFill>
              <a:srgbClr val="47D2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7E0F9501-B30F-7C26-229A-8F667129D05E}"/>
              </a:ext>
            </a:extLst>
          </p:cNvPr>
          <p:cNvSpPr/>
          <p:nvPr/>
        </p:nvSpPr>
        <p:spPr>
          <a:xfrm>
            <a:off x="7924800" y="2133600"/>
            <a:ext cx="3302000" cy="50800"/>
          </a:xfrm>
          <a:prstGeom prst="roundRect">
            <a:avLst>
              <a:gd name="adj" fmla="val 0"/>
            </a:avLst>
          </a:prstGeom>
          <a:solidFill>
            <a:srgbClr val="FFC46B"/>
          </a:solidFill>
          <a:ln w="11430">
            <a:solidFill>
              <a:srgbClr val="FFC46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B0F3A447-D4D0-A46A-B075-345AB016AB9E}"/>
              </a:ext>
            </a:extLst>
          </p:cNvPr>
          <p:cNvSpPr txBox="1"/>
          <p:nvPr/>
        </p:nvSpPr>
        <p:spPr>
          <a:xfrm>
            <a:off x="8178800" y="2336800"/>
            <a:ext cx="76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zh-CN" b="1">
                <a:solidFill>
                  <a:srgbClr val="FFC46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</a:t>
            </a:r>
            <a:endParaRPr lang="zh-CN" altLang="en-US" b="1">
              <a:solidFill>
                <a:srgbClr val="FFC46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19C8D54-5F8D-6D2E-DE40-652AAD25ADF4}"/>
              </a:ext>
            </a:extLst>
          </p:cNvPr>
          <p:cNvSpPr txBox="1"/>
          <p:nvPr/>
        </p:nvSpPr>
        <p:spPr>
          <a:xfrm>
            <a:off x="8178800" y="2743200"/>
            <a:ext cx="279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1900" b="1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财务账本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F8430B43-091C-09F3-D7E3-179B11B06BA7}"/>
              </a:ext>
            </a:extLst>
          </p:cNvPr>
          <p:cNvSpPr txBox="1"/>
          <p:nvPr/>
        </p:nvSpPr>
        <p:spPr>
          <a:xfrm>
            <a:off x="8178800" y="3149600"/>
            <a:ext cx="279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9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财政与预算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7A2A403B-2B47-8244-BF8B-BC9D08D68EBE}"/>
              </a:ext>
            </a:extLst>
          </p:cNvPr>
          <p:cNvSpPr txBox="1"/>
          <p:nvPr/>
        </p:nvSpPr>
        <p:spPr>
          <a:xfrm>
            <a:off x="8178800" y="3530600"/>
            <a:ext cx="279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1300" b="1">
                <a:solidFill>
                  <a:srgbClr val="FFC46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账本管资源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0AC0BFBD-7B82-0DF0-C913-681A05CC820B}"/>
              </a:ext>
            </a:extLst>
          </p:cNvPr>
          <p:cNvSpPr txBox="1"/>
          <p:nvPr/>
        </p:nvSpPr>
        <p:spPr>
          <a:xfrm>
            <a:off x="8178800" y="3987800"/>
            <a:ext cx="279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95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zh-CN" altLang="en-US" sz="95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收入 </a:t>
            </a:r>
            <a:r>
              <a:rPr lang="en-US" altLang="zh-CN" sz="95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95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支出 </a:t>
            </a:r>
            <a:r>
              <a:rPr lang="en-US" altLang="zh-CN" sz="95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95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结余
</a:t>
            </a:r>
            <a:r>
              <a:rPr lang="en-US" altLang="zh-CN" sz="95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zh-CN" altLang="en-US" sz="95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分类占比
</a:t>
            </a:r>
            <a:r>
              <a:rPr lang="en-US" altLang="zh-CN" sz="95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zh-CN" altLang="en-US" sz="95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按月过滤 </a:t>
            </a:r>
            <a:r>
              <a:rPr lang="en-US" altLang="zh-CN" sz="95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 </a:t>
            </a:r>
            <a:r>
              <a:rPr lang="zh-CN" altLang="en-US" sz="95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上月对照</a:t>
            </a: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C6FDE94C-2CE3-E5C3-8372-85ADA5504082}"/>
              </a:ext>
            </a:extLst>
          </p:cNvPr>
          <p:cNvSpPr/>
          <p:nvPr/>
        </p:nvSpPr>
        <p:spPr>
          <a:xfrm>
            <a:off x="812800" y="5461000"/>
            <a:ext cx="10566400" cy="431800"/>
          </a:xfrm>
          <a:prstGeom prst="roundRect">
            <a:avLst>
              <a:gd name="adj" fmla="val 6000"/>
            </a:avLst>
          </a:prstGeom>
          <a:solidFill>
            <a:srgbClr val="16223A"/>
          </a:solidFill>
          <a:ln w="11430">
            <a:solidFill>
              <a:srgbClr val="47D2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44D8E47E-AF5C-47AC-25DF-A103257A5585}"/>
              </a:ext>
            </a:extLst>
          </p:cNvPr>
          <p:cNvSpPr txBox="1"/>
          <p:nvPr/>
        </p:nvSpPr>
        <p:spPr>
          <a:xfrm>
            <a:off x="1066800" y="5575300"/>
            <a:ext cx="546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100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未做条线：思想 </a:t>
            </a:r>
            <a:r>
              <a:rPr lang="en-US" altLang="zh-CN" sz="100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zh-CN" altLang="en-US" sz="100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教育 </a:t>
            </a:r>
            <a:r>
              <a:rPr lang="en-US" altLang="zh-CN" sz="100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zh-CN" altLang="en-US" sz="100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健康 </a:t>
            </a:r>
            <a:r>
              <a:rPr lang="en-US" altLang="zh-CN" sz="100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zh-CN" altLang="en-US" sz="100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社交 </a:t>
            </a:r>
            <a:r>
              <a:rPr lang="en-US" altLang="zh-CN" sz="100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zh-CN" altLang="en-US" sz="100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工作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23334ED6-5A39-7A0F-DB7F-DDB92FE7C32C}"/>
              </a:ext>
            </a:extLst>
          </p:cNvPr>
          <p:cNvSpPr txBox="1"/>
          <p:nvPr/>
        </p:nvSpPr>
        <p:spPr>
          <a:xfrm>
            <a:off x="6604000" y="5575300"/>
            <a:ext cx="4521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lang="zh-CN" altLang="en-US" sz="1000" b="1">
                <a:solidFill>
                  <a:srgbClr val="FFC46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不是砍掉，是排进路线图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416AA327-30DC-8260-710B-70D38D73099A}"/>
              </a:ext>
            </a:extLst>
          </p:cNvPr>
          <p:cNvSpPr txBox="1"/>
          <p:nvPr/>
        </p:nvSpPr>
        <p:spPr>
          <a:xfrm>
            <a:off x="812800" y="6070600"/>
            <a:ext cx="10566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1050" i="1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一期只做能形成闭环的三件事：定目标 → 拆任务 → 看资源。</a:t>
            </a:r>
          </a:p>
        </p:txBody>
      </p:sp>
    </p:spTree>
    <p:extLst>
      <p:ext uri="{BB962C8B-B14F-4D97-AF65-F5344CB8AC3E}">
        <p14:creationId xmlns:p14="http://schemas.microsoft.com/office/powerpoint/2010/main" val="26981636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EC68080E-A352-CD03-9FAC-C18F8C7D63AE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oundRect">
            <a:avLst>
              <a:gd name="adj" fmla="val 0"/>
            </a:avLst>
          </a:prstGeom>
          <a:solidFill>
            <a:srgbClr val="6C8CFF"/>
          </a:solidFill>
          <a:ln w="11430">
            <a:solidFill>
              <a:srgbClr val="6C8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608BD03C-F6C4-D576-95AD-DE57783C2D2F}"/>
              </a:ext>
            </a:extLst>
          </p:cNvPr>
          <p:cNvSpPr/>
          <p:nvPr/>
        </p:nvSpPr>
        <p:spPr>
          <a:xfrm>
            <a:off x="609600" y="508000"/>
            <a:ext cx="50800" cy="1168400"/>
          </a:xfrm>
          <a:prstGeom prst="roundRect">
            <a:avLst>
              <a:gd name="adj" fmla="val 0"/>
            </a:avLst>
          </a:prstGeom>
          <a:solidFill>
            <a:srgbClr val="6C8CFF"/>
          </a:solidFill>
          <a:ln w="11430">
            <a:solidFill>
              <a:srgbClr val="6C8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490CA4E-2D0E-70CF-8BD5-2BB0D9B77B7F}"/>
              </a:ext>
            </a:extLst>
          </p:cNvPr>
          <p:cNvSpPr txBox="1"/>
          <p:nvPr/>
        </p:nvSpPr>
        <p:spPr>
          <a:xfrm>
            <a:off x="812800" y="482600"/>
            <a:ext cx="889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zh-CN" sz="1000" b="1">
                <a:solidFill>
                  <a:srgbClr val="6C8C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ARCHITECTURE</a:t>
            </a:r>
            <a:endParaRPr lang="zh-CN" altLang="en-US" sz="1000" b="1">
              <a:solidFill>
                <a:srgbClr val="6C8C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56F66BC-28AE-6B6B-2B13-9D85315E9481}"/>
              </a:ext>
            </a:extLst>
          </p:cNvPr>
          <p:cNvSpPr txBox="1"/>
          <p:nvPr/>
        </p:nvSpPr>
        <p:spPr>
          <a:xfrm>
            <a:off x="812800" y="762000"/>
            <a:ext cx="1003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2700" b="1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技术架构：一条请求走完五层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9977495-39D1-6B9A-1CBD-3B07700C1D8C}"/>
              </a:ext>
            </a:extLst>
          </p:cNvPr>
          <p:cNvSpPr txBox="1"/>
          <p:nvPr/>
        </p:nvSpPr>
        <p:spPr>
          <a:xfrm>
            <a:off x="812800" y="13208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12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原生 </a:t>
            </a:r>
            <a:r>
              <a:rPr lang="en-US" altLang="zh-CN" sz="12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JavaWeb</a:t>
            </a:r>
            <a:r>
              <a:rPr lang="zh-CN" altLang="en-US" sz="12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，把 </a:t>
            </a:r>
            <a:r>
              <a:rPr lang="en-US" altLang="zh-CN" sz="12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MVC </a:t>
            </a:r>
            <a:r>
              <a:rPr lang="zh-CN" altLang="en-US" sz="12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的每一层都拆开</a:t>
            </a: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DA27F289-B79A-D614-1B06-358F9A7717D9}"/>
              </a:ext>
            </a:extLst>
          </p:cNvPr>
          <p:cNvCxnSpPr/>
          <p:nvPr/>
        </p:nvCxnSpPr>
        <p:spPr>
          <a:xfrm>
            <a:off x="812800" y="1803400"/>
            <a:ext cx="10566400" cy="0"/>
          </a:xfrm>
          <a:prstGeom prst="straightConnector1">
            <a:avLst/>
          </a:prstGeom>
          <a:ln w="12700">
            <a:solidFill>
              <a:srgbClr val="47D2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670448A8-D9B6-34ED-F9E4-81387B0AF212}"/>
              </a:ext>
            </a:extLst>
          </p:cNvPr>
          <p:cNvSpPr txBox="1"/>
          <p:nvPr/>
        </p:nvSpPr>
        <p:spPr>
          <a:xfrm>
            <a:off x="812800" y="6477000"/>
            <a:ext cx="533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endParaRPr lang="zh-CN" altLang="en-US" sz="950" dirty="0">
              <a:solidFill>
                <a:srgbClr val="9AA6C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743593B-8BDE-09A4-06A4-03A636929CCD}"/>
              </a:ext>
            </a:extLst>
          </p:cNvPr>
          <p:cNvSpPr txBox="1"/>
          <p:nvPr/>
        </p:nvSpPr>
        <p:spPr>
          <a:xfrm>
            <a:off x="10363200" y="6477000"/>
            <a:ext cx="101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lang="en-US" altLang="zh-CN" sz="9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04 / 12</a:t>
            </a:r>
            <a:endParaRPr lang="zh-CN" altLang="en-US" sz="950">
              <a:solidFill>
                <a:srgbClr val="9AA6C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1FE07F13-7EC8-3D1B-26A6-E70D0308C260}"/>
              </a:ext>
            </a:extLst>
          </p:cNvPr>
          <p:cNvSpPr/>
          <p:nvPr/>
        </p:nvSpPr>
        <p:spPr>
          <a:xfrm>
            <a:off x="812800" y="2108200"/>
            <a:ext cx="4826000" cy="431800"/>
          </a:xfrm>
          <a:prstGeom prst="roundRect">
            <a:avLst>
              <a:gd name="adj" fmla="val 10000"/>
            </a:avLst>
          </a:prstGeom>
          <a:solidFill>
            <a:srgbClr val="182238"/>
          </a:solidFill>
          <a:ln w="11430">
            <a:solidFill>
              <a:srgbClr val="47D2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1A02280-82DD-4BDC-DCE1-2159A978542F}"/>
              </a:ext>
            </a:extLst>
          </p:cNvPr>
          <p:cNvSpPr txBox="1"/>
          <p:nvPr/>
        </p:nvSpPr>
        <p:spPr>
          <a:xfrm>
            <a:off x="990600" y="2197100"/>
            <a:ext cx="1320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zh-CN" sz="1200" b="1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Browser</a:t>
            </a:r>
            <a:endParaRPr lang="zh-CN" altLang="en-US" sz="1200" b="1">
              <a:solidFill>
                <a:srgbClr val="9AA6C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2D557A0-B50E-8AE6-4EFC-AB0AB71ADA65}"/>
              </a:ext>
            </a:extLst>
          </p:cNvPr>
          <p:cNvSpPr txBox="1"/>
          <p:nvPr/>
        </p:nvSpPr>
        <p:spPr>
          <a:xfrm>
            <a:off x="2336800" y="2209800"/>
            <a:ext cx="3098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100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浏览器发起请求</a:t>
            </a: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B8C70FEC-296C-9B16-7865-A2C89D1D4BC1}"/>
              </a:ext>
            </a:extLst>
          </p:cNvPr>
          <p:cNvCxnSpPr/>
          <p:nvPr/>
        </p:nvCxnSpPr>
        <p:spPr>
          <a:xfrm>
            <a:off x="3225800" y="2540000"/>
            <a:ext cx="0" cy="101600"/>
          </a:xfrm>
          <a:prstGeom prst="straightConnector1">
            <a:avLst/>
          </a:prstGeom>
          <a:ln w="15240">
            <a:solidFill>
              <a:srgbClr val="47D2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6C63D050-5B09-A818-5DE3-8F20E352D0C0}"/>
              </a:ext>
            </a:extLst>
          </p:cNvPr>
          <p:cNvSpPr/>
          <p:nvPr/>
        </p:nvSpPr>
        <p:spPr>
          <a:xfrm>
            <a:off x="812800" y="2641600"/>
            <a:ext cx="4826000" cy="431800"/>
          </a:xfrm>
          <a:prstGeom prst="roundRect">
            <a:avLst>
              <a:gd name="adj" fmla="val 10000"/>
            </a:avLst>
          </a:prstGeom>
          <a:solidFill>
            <a:srgbClr val="182238"/>
          </a:solidFill>
          <a:ln w="11430">
            <a:solidFill>
              <a:srgbClr val="47D2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06FD0DA-FA92-7031-59BE-64844EF6777A}"/>
              </a:ext>
            </a:extLst>
          </p:cNvPr>
          <p:cNvSpPr txBox="1"/>
          <p:nvPr/>
        </p:nvSpPr>
        <p:spPr>
          <a:xfrm>
            <a:off x="990600" y="2730500"/>
            <a:ext cx="1320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zh-CN" sz="1200" b="1">
                <a:solidFill>
                  <a:srgbClr val="6C8C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LoginFilter</a:t>
            </a:r>
            <a:endParaRPr lang="zh-CN" altLang="en-US" sz="1200" b="1">
              <a:solidFill>
                <a:srgbClr val="6C8C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C847020-5F06-48EE-964C-DF3D543B5811}"/>
              </a:ext>
            </a:extLst>
          </p:cNvPr>
          <p:cNvSpPr txBox="1"/>
          <p:nvPr/>
        </p:nvSpPr>
        <p:spPr>
          <a:xfrm>
            <a:off x="2336800" y="2743200"/>
            <a:ext cx="3098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100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登录态 </a:t>
            </a:r>
            <a:r>
              <a:rPr lang="en-US" altLang="zh-CN" sz="100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00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白名单</a:t>
            </a:r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65F681A5-B800-AFE1-8330-92B02602CF5D}"/>
              </a:ext>
            </a:extLst>
          </p:cNvPr>
          <p:cNvCxnSpPr/>
          <p:nvPr/>
        </p:nvCxnSpPr>
        <p:spPr>
          <a:xfrm>
            <a:off x="3225800" y="3073400"/>
            <a:ext cx="0" cy="101600"/>
          </a:xfrm>
          <a:prstGeom prst="straightConnector1">
            <a:avLst/>
          </a:prstGeom>
          <a:ln w="15240">
            <a:solidFill>
              <a:srgbClr val="47D2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8C2065C9-DB3C-514C-FDEC-D0CCD7B49B2F}"/>
              </a:ext>
            </a:extLst>
          </p:cNvPr>
          <p:cNvSpPr/>
          <p:nvPr/>
        </p:nvSpPr>
        <p:spPr>
          <a:xfrm>
            <a:off x="812800" y="3175000"/>
            <a:ext cx="4826000" cy="431800"/>
          </a:xfrm>
          <a:prstGeom prst="roundRect">
            <a:avLst>
              <a:gd name="adj" fmla="val 10000"/>
            </a:avLst>
          </a:prstGeom>
          <a:solidFill>
            <a:srgbClr val="182238"/>
          </a:solidFill>
          <a:ln w="11430">
            <a:solidFill>
              <a:srgbClr val="47D2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337F9B5-C289-9F37-9F2B-CD87433C5825}"/>
              </a:ext>
            </a:extLst>
          </p:cNvPr>
          <p:cNvSpPr txBox="1"/>
          <p:nvPr/>
        </p:nvSpPr>
        <p:spPr>
          <a:xfrm>
            <a:off x="990600" y="3263900"/>
            <a:ext cx="1320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zh-CN" sz="1200" b="1">
                <a:solidFill>
                  <a:srgbClr val="6C8C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Servlet</a:t>
            </a:r>
            <a:endParaRPr lang="zh-CN" altLang="en-US" sz="1200" b="1">
              <a:solidFill>
                <a:srgbClr val="6C8C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2A301C4-4B02-C023-534A-FEB2F97862EA}"/>
              </a:ext>
            </a:extLst>
          </p:cNvPr>
          <p:cNvSpPr txBox="1"/>
          <p:nvPr/>
        </p:nvSpPr>
        <p:spPr>
          <a:xfrm>
            <a:off x="2336800" y="3276600"/>
            <a:ext cx="3098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zh-CN" sz="100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Controller</a:t>
            </a:r>
            <a:r>
              <a:rPr lang="zh-CN" altLang="en-US" sz="100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：取参数、选 </a:t>
            </a:r>
            <a:r>
              <a:rPr lang="en-US" altLang="zh-CN" sz="100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action</a:t>
            </a:r>
            <a:endParaRPr lang="zh-CN" altLang="en-US" sz="1000">
              <a:solidFill>
                <a:srgbClr val="9AA6C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28648578-90B4-9BE9-820D-B3F3D2AFF786}"/>
              </a:ext>
            </a:extLst>
          </p:cNvPr>
          <p:cNvCxnSpPr/>
          <p:nvPr/>
        </p:nvCxnSpPr>
        <p:spPr>
          <a:xfrm>
            <a:off x="3225800" y="3606800"/>
            <a:ext cx="0" cy="101600"/>
          </a:xfrm>
          <a:prstGeom prst="straightConnector1">
            <a:avLst/>
          </a:prstGeom>
          <a:ln w="15240">
            <a:solidFill>
              <a:srgbClr val="47D2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556F3DEE-8547-E2AF-2789-28A8DCC8E583}"/>
              </a:ext>
            </a:extLst>
          </p:cNvPr>
          <p:cNvSpPr/>
          <p:nvPr/>
        </p:nvSpPr>
        <p:spPr>
          <a:xfrm>
            <a:off x="812800" y="3708400"/>
            <a:ext cx="4826000" cy="431800"/>
          </a:xfrm>
          <a:prstGeom prst="roundRect">
            <a:avLst>
              <a:gd name="adj" fmla="val 10000"/>
            </a:avLst>
          </a:prstGeom>
          <a:solidFill>
            <a:srgbClr val="182238"/>
          </a:solidFill>
          <a:ln w="11430">
            <a:solidFill>
              <a:srgbClr val="47D2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100CAD9-EEB0-3A39-6F54-C87B30A9B823}"/>
              </a:ext>
            </a:extLst>
          </p:cNvPr>
          <p:cNvSpPr txBox="1"/>
          <p:nvPr/>
        </p:nvSpPr>
        <p:spPr>
          <a:xfrm>
            <a:off x="990600" y="3797300"/>
            <a:ext cx="1320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zh-CN" sz="1200" b="1">
                <a:solidFill>
                  <a:srgbClr val="A07B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Service</a:t>
            </a:r>
            <a:endParaRPr lang="zh-CN" altLang="en-US" sz="1200" b="1">
              <a:solidFill>
                <a:srgbClr val="A07B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1DF9288-CFC7-F46C-544E-F24921769031}"/>
              </a:ext>
            </a:extLst>
          </p:cNvPr>
          <p:cNvSpPr txBox="1"/>
          <p:nvPr/>
        </p:nvSpPr>
        <p:spPr>
          <a:xfrm>
            <a:off x="2336800" y="3810000"/>
            <a:ext cx="3098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100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业务校验、越权判断</a:t>
            </a:r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E7D3796D-BAEF-8B3A-BDE6-7AE2D997891F}"/>
              </a:ext>
            </a:extLst>
          </p:cNvPr>
          <p:cNvCxnSpPr/>
          <p:nvPr/>
        </p:nvCxnSpPr>
        <p:spPr>
          <a:xfrm>
            <a:off x="3225800" y="4140200"/>
            <a:ext cx="0" cy="101600"/>
          </a:xfrm>
          <a:prstGeom prst="straightConnector1">
            <a:avLst/>
          </a:prstGeom>
          <a:ln w="15240">
            <a:solidFill>
              <a:srgbClr val="47D2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5D79ABD3-B587-72CD-D46B-C5A6EE269273}"/>
              </a:ext>
            </a:extLst>
          </p:cNvPr>
          <p:cNvSpPr/>
          <p:nvPr/>
        </p:nvSpPr>
        <p:spPr>
          <a:xfrm>
            <a:off x="812800" y="4241800"/>
            <a:ext cx="4826000" cy="431800"/>
          </a:xfrm>
          <a:prstGeom prst="roundRect">
            <a:avLst>
              <a:gd name="adj" fmla="val 10000"/>
            </a:avLst>
          </a:prstGeom>
          <a:solidFill>
            <a:srgbClr val="182238"/>
          </a:solidFill>
          <a:ln w="11430">
            <a:solidFill>
              <a:srgbClr val="47D2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E40D252-70E5-935F-5486-4AA00120DD00}"/>
              </a:ext>
            </a:extLst>
          </p:cNvPr>
          <p:cNvSpPr txBox="1"/>
          <p:nvPr/>
        </p:nvSpPr>
        <p:spPr>
          <a:xfrm>
            <a:off x="990600" y="4330700"/>
            <a:ext cx="1320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zh-CN" sz="1200" b="1">
                <a:solidFill>
                  <a:srgbClr val="47D2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DAO</a:t>
            </a:r>
            <a:endParaRPr lang="zh-CN" altLang="en-US" sz="1200" b="1">
              <a:solidFill>
                <a:srgbClr val="47D2A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153098E9-6390-E4E0-E247-3CADA6F9CE44}"/>
              </a:ext>
            </a:extLst>
          </p:cNvPr>
          <p:cNvSpPr txBox="1"/>
          <p:nvPr/>
        </p:nvSpPr>
        <p:spPr>
          <a:xfrm>
            <a:off x="2336800" y="4343400"/>
            <a:ext cx="3098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zh-CN" sz="100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PreparedStatement</a:t>
            </a:r>
            <a:r>
              <a:rPr lang="zh-CN" altLang="en-US" sz="100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、行映射</a:t>
            </a:r>
          </a:p>
        </p:txBody>
      </p: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E36F3455-F0BA-0E8F-749F-126522BF22BE}"/>
              </a:ext>
            </a:extLst>
          </p:cNvPr>
          <p:cNvCxnSpPr/>
          <p:nvPr/>
        </p:nvCxnSpPr>
        <p:spPr>
          <a:xfrm>
            <a:off x="3225800" y="4673600"/>
            <a:ext cx="0" cy="101600"/>
          </a:xfrm>
          <a:prstGeom prst="straightConnector1">
            <a:avLst/>
          </a:prstGeom>
          <a:ln w="15240">
            <a:solidFill>
              <a:srgbClr val="47D2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E4C11729-AB4B-5A3F-4C25-929A60BFFD6B}"/>
              </a:ext>
            </a:extLst>
          </p:cNvPr>
          <p:cNvSpPr/>
          <p:nvPr/>
        </p:nvSpPr>
        <p:spPr>
          <a:xfrm>
            <a:off x="812800" y="4775200"/>
            <a:ext cx="4826000" cy="431800"/>
          </a:xfrm>
          <a:prstGeom prst="roundRect">
            <a:avLst>
              <a:gd name="adj" fmla="val 10000"/>
            </a:avLst>
          </a:prstGeom>
          <a:solidFill>
            <a:srgbClr val="182238"/>
          </a:solidFill>
          <a:ln w="11430">
            <a:solidFill>
              <a:srgbClr val="47D2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B0C36C2E-B16A-CEFD-505A-1BBC4D67AA24}"/>
              </a:ext>
            </a:extLst>
          </p:cNvPr>
          <p:cNvSpPr txBox="1"/>
          <p:nvPr/>
        </p:nvSpPr>
        <p:spPr>
          <a:xfrm>
            <a:off x="990600" y="4864100"/>
            <a:ext cx="1320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zh-CN" sz="1200" b="1">
                <a:solidFill>
                  <a:srgbClr val="FFC46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MySQL</a:t>
            </a:r>
            <a:endParaRPr lang="zh-CN" altLang="en-US" sz="1200" b="1">
              <a:solidFill>
                <a:srgbClr val="FFC46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A0E5B031-CADF-9005-A23E-8ED4BF1AB74F}"/>
              </a:ext>
            </a:extLst>
          </p:cNvPr>
          <p:cNvSpPr txBox="1"/>
          <p:nvPr/>
        </p:nvSpPr>
        <p:spPr>
          <a:xfrm>
            <a:off x="2336800" y="4876800"/>
            <a:ext cx="3098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zh-CN" sz="100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life_db · 4 </a:t>
            </a:r>
            <a:r>
              <a:rPr lang="zh-CN" altLang="en-US" sz="100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张表</a:t>
            </a: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30D5712C-A580-FC39-EFA4-C54046D2996B}"/>
              </a:ext>
            </a:extLst>
          </p:cNvPr>
          <p:cNvSpPr/>
          <p:nvPr/>
        </p:nvSpPr>
        <p:spPr>
          <a:xfrm>
            <a:off x="812800" y="5435600"/>
            <a:ext cx="4826000" cy="558800"/>
          </a:xfrm>
          <a:prstGeom prst="roundRect">
            <a:avLst>
              <a:gd name="adj" fmla="val 8000"/>
            </a:avLst>
          </a:prstGeom>
          <a:solidFill>
            <a:srgbClr val="121C30"/>
          </a:solidFill>
          <a:ln w="11430">
            <a:solidFill>
              <a:srgbClr val="47D2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A578BAC5-B57B-447E-70D0-237948039BCF}"/>
              </a:ext>
            </a:extLst>
          </p:cNvPr>
          <p:cNvSpPr txBox="1"/>
          <p:nvPr/>
        </p:nvSpPr>
        <p:spPr>
          <a:xfrm>
            <a:off x="990600" y="5588000"/>
            <a:ext cx="4470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10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返回：</a:t>
            </a:r>
            <a:r>
              <a:rPr lang="en-US" altLang="zh-CN" sz="10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MySQL → Bean → request.setAttribute → JSP → HTML</a:t>
            </a:r>
            <a:endParaRPr lang="zh-CN" altLang="en-US" sz="1050">
              <a:solidFill>
                <a:srgbClr val="9AA6C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22F91732-5BBB-B880-7BDB-86FD0F3D56D9}"/>
              </a:ext>
            </a:extLst>
          </p:cNvPr>
          <p:cNvSpPr txBox="1"/>
          <p:nvPr/>
        </p:nvSpPr>
        <p:spPr>
          <a:xfrm>
            <a:off x="6350000" y="2108200"/>
            <a:ext cx="254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1100" b="1">
                <a:solidFill>
                  <a:srgbClr val="FFC46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技术栈</a:t>
            </a: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457E81DA-A1EF-ED59-0C05-990811BCB833}"/>
              </a:ext>
            </a:extLst>
          </p:cNvPr>
          <p:cNvSpPr/>
          <p:nvPr/>
        </p:nvSpPr>
        <p:spPr>
          <a:xfrm>
            <a:off x="6350000" y="2463800"/>
            <a:ext cx="1219200" cy="355600"/>
          </a:xfrm>
          <a:prstGeom prst="roundRect">
            <a:avLst>
              <a:gd name="adj" fmla="val 18000"/>
            </a:avLst>
          </a:prstGeom>
          <a:solidFill>
            <a:srgbClr val="182238"/>
          </a:solidFill>
          <a:ln w="11430">
            <a:solidFill>
              <a:srgbClr val="47D2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D02A4D77-22AB-493A-DED8-C936091B876E}"/>
              </a:ext>
            </a:extLst>
          </p:cNvPr>
          <p:cNvSpPr txBox="1"/>
          <p:nvPr/>
        </p:nvSpPr>
        <p:spPr>
          <a:xfrm>
            <a:off x="6350000" y="2540000"/>
            <a:ext cx="1219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US" altLang="zh-CN" sz="95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JDK 17+</a:t>
            </a:r>
            <a:endParaRPr lang="zh-CN" altLang="en-US" sz="950">
              <a:solidFill>
                <a:srgbClr val="ECF1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EADA5931-D747-AE28-651C-FFC16014E9F0}"/>
              </a:ext>
            </a:extLst>
          </p:cNvPr>
          <p:cNvSpPr/>
          <p:nvPr/>
        </p:nvSpPr>
        <p:spPr>
          <a:xfrm>
            <a:off x="7772400" y="2463800"/>
            <a:ext cx="1219200" cy="355600"/>
          </a:xfrm>
          <a:prstGeom prst="roundRect">
            <a:avLst>
              <a:gd name="adj" fmla="val 18000"/>
            </a:avLst>
          </a:prstGeom>
          <a:solidFill>
            <a:srgbClr val="182238"/>
          </a:solidFill>
          <a:ln w="11430">
            <a:solidFill>
              <a:srgbClr val="47D2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E6DABE42-98A9-1EAE-E73B-D9704839D2C9}"/>
              </a:ext>
            </a:extLst>
          </p:cNvPr>
          <p:cNvSpPr txBox="1"/>
          <p:nvPr/>
        </p:nvSpPr>
        <p:spPr>
          <a:xfrm>
            <a:off x="7772400" y="2540000"/>
            <a:ext cx="1219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US" altLang="zh-CN" sz="95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Tomcat 10.1</a:t>
            </a:r>
            <a:endParaRPr lang="zh-CN" altLang="en-US" sz="950">
              <a:solidFill>
                <a:srgbClr val="ECF1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436C5612-D68E-F5F5-9E71-72FFE460B723}"/>
              </a:ext>
            </a:extLst>
          </p:cNvPr>
          <p:cNvSpPr/>
          <p:nvPr/>
        </p:nvSpPr>
        <p:spPr>
          <a:xfrm>
            <a:off x="6350000" y="2946400"/>
            <a:ext cx="1219200" cy="355600"/>
          </a:xfrm>
          <a:prstGeom prst="roundRect">
            <a:avLst>
              <a:gd name="adj" fmla="val 18000"/>
            </a:avLst>
          </a:prstGeom>
          <a:solidFill>
            <a:srgbClr val="182238"/>
          </a:solidFill>
          <a:ln w="11430">
            <a:solidFill>
              <a:srgbClr val="47D2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BD51FE8F-65CB-D52E-2AA9-339A274A4E97}"/>
              </a:ext>
            </a:extLst>
          </p:cNvPr>
          <p:cNvSpPr txBox="1"/>
          <p:nvPr/>
        </p:nvSpPr>
        <p:spPr>
          <a:xfrm>
            <a:off x="6350000" y="3022600"/>
            <a:ext cx="1219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US" altLang="zh-CN" sz="95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MySQL 8</a:t>
            </a:r>
            <a:endParaRPr lang="zh-CN" altLang="en-US" sz="950">
              <a:solidFill>
                <a:srgbClr val="ECF1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28AFB2B9-E77A-0F2C-2156-1339003C1F74}"/>
              </a:ext>
            </a:extLst>
          </p:cNvPr>
          <p:cNvSpPr/>
          <p:nvPr/>
        </p:nvSpPr>
        <p:spPr>
          <a:xfrm>
            <a:off x="7772400" y="2946400"/>
            <a:ext cx="1219200" cy="355600"/>
          </a:xfrm>
          <a:prstGeom prst="roundRect">
            <a:avLst>
              <a:gd name="adj" fmla="val 18000"/>
            </a:avLst>
          </a:prstGeom>
          <a:solidFill>
            <a:srgbClr val="182238"/>
          </a:solidFill>
          <a:ln w="11430">
            <a:solidFill>
              <a:srgbClr val="47D2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2D7C05DA-6338-0FD5-2BD7-0604722753B3}"/>
              </a:ext>
            </a:extLst>
          </p:cNvPr>
          <p:cNvSpPr txBox="1"/>
          <p:nvPr/>
        </p:nvSpPr>
        <p:spPr>
          <a:xfrm>
            <a:off x="7772400" y="3022600"/>
            <a:ext cx="1219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US" altLang="zh-CN" sz="95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JSP / Servlet</a:t>
            </a:r>
            <a:endParaRPr lang="zh-CN" altLang="en-US" sz="950">
              <a:solidFill>
                <a:srgbClr val="ECF1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06966B51-AA3B-262E-BB49-2007472FF365}"/>
              </a:ext>
            </a:extLst>
          </p:cNvPr>
          <p:cNvSpPr/>
          <p:nvPr/>
        </p:nvSpPr>
        <p:spPr>
          <a:xfrm>
            <a:off x="6350000" y="3429000"/>
            <a:ext cx="1219200" cy="355600"/>
          </a:xfrm>
          <a:prstGeom prst="roundRect">
            <a:avLst>
              <a:gd name="adj" fmla="val 18000"/>
            </a:avLst>
          </a:prstGeom>
          <a:solidFill>
            <a:srgbClr val="182238"/>
          </a:solidFill>
          <a:ln w="11430">
            <a:solidFill>
              <a:srgbClr val="47D2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76EC1A4C-339C-C9A6-939A-F45F4F443D1E}"/>
              </a:ext>
            </a:extLst>
          </p:cNvPr>
          <p:cNvSpPr txBox="1"/>
          <p:nvPr/>
        </p:nvSpPr>
        <p:spPr>
          <a:xfrm>
            <a:off x="6350000" y="3505200"/>
            <a:ext cx="1219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US" altLang="zh-CN" sz="95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JSTL 3</a:t>
            </a:r>
            <a:endParaRPr lang="zh-CN" altLang="en-US" sz="950">
              <a:solidFill>
                <a:srgbClr val="ECF1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B1E59652-571A-E5A0-D734-56586D2D84FF}"/>
              </a:ext>
            </a:extLst>
          </p:cNvPr>
          <p:cNvSpPr/>
          <p:nvPr/>
        </p:nvSpPr>
        <p:spPr>
          <a:xfrm>
            <a:off x="7772400" y="3429000"/>
            <a:ext cx="1219200" cy="355600"/>
          </a:xfrm>
          <a:prstGeom prst="roundRect">
            <a:avLst>
              <a:gd name="adj" fmla="val 18000"/>
            </a:avLst>
          </a:prstGeom>
          <a:solidFill>
            <a:srgbClr val="182238"/>
          </a:solidFill>
          <a:ln w="11430">
            <a:solidFill>
              <a:srgbClr val="47D2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D91F4CF7-C41F-3EA4-A664-5BF30E70D6B3}"/>
              </a:ext>
            </a:extLst>
          </p:cNvPr>
          <p:cNvSpPr txBox="1"/>
          <p:nvPr/>
        </p:nvSpPr>
        <p:spPr>
          <a:xfrm>
            <a:off x="7772400" y="3505200"/>
            <a:ext cx="1219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US" altLang="zh-CN" sz="95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BCrypt</a:t>
            </a:r>
            <a:endParaRPr lang="zh-CN" altLang="en-US" sz="950">
              <a:solidFill>
                <a:srgbClr val="ECF1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1190BFC5-21B2-EBEB-FA16-4B96E51FEA0F}"/>
              </a:ext>
            </a:extLst>
          </p:cNvPr>
          <p:cNvSpPr/>
          <p:nvPr/>
        </p:nvSpPr>
        <p:spPr>
          <a:xfrm>
            <a:off x="6350000" y="3911600"/>
            <a:ext cx="1219200" cy="355600"/>
          </a:xfrm>
          <a:prstGeom prst="roundRect">
            <a:avLst>
              <a:gd name="adj" fmla="val 18000"/>
            </a:avLst>
          </a:prstGeom>
          <a:solidFill>
            <a:srgbClr val="182238"/>
          </a:solidFill>
          <a:ln w="11430">
            <a:solidFill>
              <a:srgbClr val="47D2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52E2CB4D-E3B9-FDA8-0F96-F1C05FF46710}"/>
              </a:ext>
            </a:extLst>
          </p:cNvPr>
          <p:cNvSpPr txBox="1"/>
          <p:nvPr/>
        </p:nvSpPr>
        <p:spPr>
          <a:xfrm>
            <a:off x="6350000" y="3987800"/>
            <a:ext cx="1219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US" altLang="zh-CN" sz="95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Maven</a:t>
            </a:r>
            <a:endParaRPr lang="zh-CN" altLang="en-US" sz="950">
              <a:solidFill>
                <a:srgbClr val="ECF1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F171DF78-0AD2-9A58-4135-1CE24B7C673A}"/>
              </a:ext>
            </a:extLst>
          </p:cNvPr>
          <p:cNvSpPr/>
          <p:nvPr/>
        </p:nvSpPr>
        <p:spPr>
          <a:xfrm>
            <a:off x="7772400" y="3911600"/>
            <a:ext cx="1219200" cy="355600"/>
          </a:xfrm>
          <a:prstGeom prst="roundRect">
            <a:avLst>
              <a:gd name="adj" fmla="val 18000"/>
            </a:avLst>
          </a:prstGeom>
          <a:solidFill>
            <a:srgbClr val="182238"/>
          </a:solidFill>
          <a:ln w="11430">
            <a:solidFill>
              <a:srgbClr val="47D2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6EE16B2C-30AE-DCC5-5B4E-5D69759E852E}"/>
              </a:ext>
            </a:extLst>
          </p:cNvPr>
          <p:cNvSpPr txBox="1"/>
          <p:nvPr/>
        </p:nvSpPr>
        <p:spPr>
          <a:xfrm>
            <a:off x="7772400" y="3987800"/>
            <a:ext cx="1219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US" altLang="zh-CN" sz="95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JDBC</a:t>
            </a:r>
            <a:endParaRPr lang="zh-CN" altLang="en-US" sz="950">
              <a:solidFill>
                <a:srgbClr val="ECF1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1F7EB3EE-5222-04E0-7610-708C5850EE82}"/>
              </a:ext>
            </a:extLst>
          </p:cNvPr>
          <p:cNvSpPr/>
          <p:nvPr/>
        </p:nvSpPr>
        <p:spPr>
          <a:xfrm>
            <a:off x="6350000" y="4445000"/>
            <a:ext cx="5029200" cy="1549400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1430">
            <a:solidFill>
              <a:srgbClr val="47D2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6573753C-C45F-F9F0-2CF6-78CEA6491C1F}"/>
              </a:ext>
            </a:extLst>
          </p:cNvPr>
          <p:cNvSpPr txBox="1"/>
          <p:nvPr/>
        </p:nvSpPr>
        <p:spPr>
          <a:xfrm>
            <a:off x="6604000" y="4648200"/>
            <a:ext cx="254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1100" b="1">
                <a:solidFill>
                  <a:srgbClr val="6C8C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分层纪律</a:t>
            </a: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EF1B6507-E1B2-9FEB-E031-8257EDC1048E}"/>
              </a:ext>
            </a:extLst>
          </p:cNvPr>
          <p:cNvSpPr txBox="1"/>
          <p:nvPr/>
        </p:nvSpPr>
        <p:spPr>
          <a:xfrm>
            <a:off x="6604000" y="4978400"/>
            <a:ext cx="444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5000"/>
              </a:lnSpc>
            </a:pPr>
            <a:r>
              <a:rPr lang="en-US" altLang="zh-CN" sz="120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Servlet </a:t>
            </a:r>
            <a:r>
              <a:rPr lang="zh-CN" altLang="en-US" sz="120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不写 </a:t>
            </a:r>
            <a:r>
              <a:rPr lang="en-US" altLang="zh-CN" sz="120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SQL
DAO </a:t>
            </a:r>
            <a:r>
              <a:rPr lang="zh-CN" altLang="en-US" sz="120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不写业务判断
</a:t>
            </a:r>
            <a:r>
              <a:rPr lang="en-US" altLang="zh-CN" sz="120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JSP </a:t>
            </a:r>
            <a:r>
              <a:rPr lang="zh-CN" altLang="en-US" sz="120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不查数据库</a:t>
            </a:r>
          </a:p>
        </p:txBody>
      </p:sp>
    </p:spTree>
    <p:extLst>
      <p:ext uri="{BB962C8B-B14F-4D97-AF65-F5344CB8AC3E}">
        <p14:creationId xmlns:p14="http://schemas.microsoft.com/office/powerpoint/2010/main" val="34231789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7302A24B-30D5-5927-43C2-A738DE690D8F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oundRect">
            <a:avLst>
              <a:gd name="adj" fmla="val 0"/>
            </a:avLst>
          </a:prstGeom>
          <a:solidFill>
            <a:srgbClr val="6C8CFF"/>
          </a:solidFill>
          <a:ln w="11430">
            <a:solidFill>
              <a:srgbClr val="6C8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D77802AA-A83A-3C70-4A41-B2F880DDEA62}"/>
              </a:ext>
            </a:extLst>
          </p:cNvPr>
          <p:cNvSpPr/>
          <p:nvPr/>
        </p:nvSpPr>
        <p:spPr>
          <a:xfrm>
            <a:off x="609600" y="508000"/>
            <a:ext cx="50800" cy="1168400"/>
          </a:xfrm>
          <a:prstGeom prst="roundRect">
            <a:avLst>
              <a:gd name="adj" fmla="val 0"/>
            </a:avLst>
          </a:prstGeom>
          <a:solidFill>
            <a:srgbClr val="6C8CFF"/>
          </a:solidFill>
          <a:ln w="11430">
            <a:solidFill>
              <a:srgbClr val="6C8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6AAB5C3-F3A6-3CE0-D450-BB79CFC350AF}"/>
              </a:ext>
            </a:extLst>
          </p:cNvPr>
          <p:cNvSpPr txBox="1"/>
          <p:nvPr/>
        </p:nvSpPr>
        <p:spPr>
          <a:xfrm>
            <a:off x="812800" y="482600"/>
            <a:ext cx="889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zh-CN" sz="1000" b="1">
                <a:solidFill>
                  <a:srgbClr val="6C8C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DATABASE</a:t>
            </a:r>
            <a:endParaRPr lang="zh-CN" altLang="en-US" sz="1000" b="1">
              <a:solidFill>
                <a:srgbClr val="6C8C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546828A-5140-1249-5812-521F992493F8}"/>
              </a:ext>
            </a:extLst>
          </p:cNvPr>
          <p:cNvSpPr txBox="1"/>
          <p:nvPr/>
        </p:nvSpPr>
        <p:spPr>
          <a:xfrm>
            <a:off x="812800" y="762000"/>
            <a:ext cx="1003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2700" b="1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数据库：</a:t>
            </a:r>
            <a:r>
              <a:rPr lang="en-US" altLang="zh-CN" sz="2700" b="1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 </a:t>
            </a:r>
            <a:r>
              <a:rPr lang="zh-CN" altLang="en-US" sz="2700" b="1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张表，</a:t>
            </a:r>
            <a:r>
              <a:rPr lang="en-US" altLang="zh-CN" sz="2700" b="1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 </a:t>
            </a:r>
            <a:r>
              <a:rPr lang="zh-CN" altLang="en-US" sz="2700" b="1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 </a:t>
            </a:r>
            <a:r>
              <a:rPr lang="en-US" altLang="zh-CN" sz="2700" b="1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1:N</a:t>
            </a:r>
            <a:endParaRPr lang="zh-CN" altLang="en-US" sz="2700" b="1">
              <a:solidFill>
                <a:srgbClr val="ECF1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4283653-6CD2-904A-78B4-28B71D6FB3D1}"/>
              </a:ext>
            </a:extLst>
          </p:cNvPr>
          <p:cNvSpPr txBox="1"/>
          <p:nvPr/>
        </p:nvSpPr>
        <p:spPr>
          <a:xfrm>
            <a:off x="812800" y="13208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12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所有业务数据都挂在 </a:t>
            </a:r>
            <a:r>
              <a:rPr lang="en-US" altLang="zh-CN" sz="12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user_id </a:t>
            </a:r>
            <a:r>
              <a:rPr lang="zh-CN" altLang="en-US" sz="12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下，删除用户级联清理</a:t>
            </a: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0AFFD729-7477-0597-A9A3-DCFEF91D156F}"/>
              </a:ext>
            </a:extLst>
          </p:cNvPr>
          <p:cNvCxnSpPr/>
          <p:nvPr/>
        </p:nvCxnSpPr>
        <p:spPr>
          <a:xfrm>
            <a:off x="812800" y="1803400"/>
            <a:ext cx="10566400" cy="0"/>
          </a:xfrm>
          <a:prstGeom prst="straightConnector1">
            <a:avLst/>
          </a:prstGeom>
          <a:ln w="12700">
            <a:solidFill>
              <a:srgbClr val="47D2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0E99852B-B88D-6CFD-ED68-FEBF139108FC}"/>
              </a:ext>
            </a:extLst>
          </p:cNvPr>
          <p:cNvSpPr txBox="1"/>
          <p:nvPr/>
        </p:nvSpPr>
        <p:spPr>
          <a:xfrm>
            <a:off x="812800" y="6477000"/>
            <a:ext cx="533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endParaRPr lang="zh-CN" altLang="en-US" sz="950" dirty="0">
              <a:solidFill>
                <a:srgbClr val="9AA6C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30E5276-168C-3474-FBF2-C73DAB5DD49B}"/>
              </a:ext>
            </a:extLst>
          </p:cNvPr>
          <p:cNvSpPr txBox="1"/>
          <p:nvPr/>
        </p:nvSpPr>
        <p:spPr>
          <a:xfrm>
            <a:off x="10363200" y="6477000"/>
            <a:ext cx="101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lang="en-US" altLang="zh-CN" sz="9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05 / 12</a:t>
            </a:r>
            <a:endParaRPr lang="zh-CN" altLang="en-US" sz="950">
              <a:solidFill>
                <a:srgbClr val="9AA6C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35F1BB06-406C-1C34-9579-953AA4998797}"/>
              </a:ext>
            </a:extLst>
          </p:cNvPr>
          <p:cNvCxnSpPr/>
          <p:nvPr/>
        </p:nvCxnSpPr>
        <p:spPr>
          <a:xfrm flipH="1">
            <a:off x="2197100" y="3225800"/>
            <a:ext cx="3898900" cy="990600"/>
          </a:xfrm>
          <a:prstGeom prst="straightConnector1">
            <a:avLst/>
          </a:prstGeom>
          <a:ln w="15240">
            <a:solidFill>
              <a:srgbClr val="47D2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EE811F40-B6E8-F637-8639-14ABB05BFEFD}"/>
              </a:ext>
            </a:extLst>
          </p:cNvPr>
          <p:cNvCxnSpPr/>
          <p:nvPr/>
        </p:nvCxnSpPr>
        <p:spPr>
          <a:xfrm>
            <a:off x="6096000" y="3225800"/>
            <a:ext cx="0" cy="1117600"/>
          </a:xfrm>
          <a:prstGeom prst="straightConnector1">
            <a:avLst/>
          </a:prstGeom>
          <a:ln w="15240">
            <a:solidFill>
              <a:srgbClr val="47D2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9669D3D0-1987-FB15-F9E9-377870D62E30}"/>
              </a:ext>
            </a:extLst>
          </p:cNvPr>
          <p:cNvCxnSpPr/>
          <p:nvPr/>
        </p:nvCxnSpPr>
        <p:spPr>
          <a:xfrm>
            <a:off x="6096000" y="3225800"/>
            <a:ext cx="3898900" cy="990600"/>
          </a:xfrm>
          <a:prstGeom prst="straightConnector1">
            <a:avLst/>
          </a:prstGeom>
          <a:ln w="15240">
            <a:solidFill>
              <a:srgbClr val="47D2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7BAB59C1-341E-D4FC-D54A-AA11693943A8}"/>
              </a:ext>
            </a:extLst>
          </p:cNvPr>
          <p:cNvSpPr txBox="1"/>
          <p:nvPr/>
        </p:nvSpPr>
        <p:spPr>
          <a:xfrm>
            <a:off x="3708400" y="3581400"/>
            <a:ext cx="50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US" altLang="zh-CN" sz="90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1:N</a:t>
            </a:r>
            <a:endParaRPr lang="zh-CN" altLang="en-US" sz="900">
              <a:solidFill>
                <a:srgbClr val="9AA6C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1397AAD-67D5-2210-7F2B-61CA4EC6FFD4}"/>
              </a:ext>
            </a:extLst>
          </p:cNvPr>
          <p:cNvSpPr txBox="1"/>
          <p:nvPr/>
        </p:nvSpPr>
        <p:spPr>
          <a:xfrm>
            <a:off x="6223000" y="3708400"/>
            <a:ext cx="50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US" altLang="zh-CN" sz="90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1:N</a:t>
            </a:r>
            <a:endParaRPr lang="zh-CN" altLang="en-US" sz="900">
              <a:solidFill>
                <a:srgbClr val="9AA6C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AA74D59-92F9-DD33-3414-E06523C152B6}"/>
              </a:ext>
            </a:extLst>
          </p:cNvPr>
          <p:cNvSpPr txBox="1"/>
          <p:nvPr/>
        </p:nvSpPr>
        <p:spPr>
          <a:xfrm>
            <a:off x="8077200" y="3581400"/>
            <a:ext cx="50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US" altLang="zh-CN" sz="90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1:N</a:t>
            </a:r>
            <a:endParaRPr lang="zh-CN" altLang="en-US" sz="900">
              <a:solidFill>
                <a:srgbClr val="9AA6C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A75B010C-43F0-304F-4024-7B59982F35FB}"/>
              </a:ext>
            </a:extLst>
          </p:cNvPr>
          <p:cNvSpPr/>
          <p:nvPr/>
        </p:nvSpPr>
        <p:spPr>
          <a:xfrm>
            <a:off x="4572000" y="2082800"/>
            <a:ext cx="3048000" cy="1143000"/>
          </a:xfrm>
          <a:prstGeom prst="roundRect">
            <a:avLst>
              <a:gd name="adj" fmla="val 8000"/>
            </a:avLst>
          </a:prstGeom>
          <a:solidFill>
            <a:srgbClr val="16223A"/>
          </a:solidFill>
          <a:ln w="11430">
            <a:solidFill>
              <a:srgbClr val="6C8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203FDE6-0565-7486-07BB-63EA0AFB3041}"/>
              </a:ext>
            </a:extLst>
          </p:cNvPr>
          <p:cNvSpPr txBox="1"/>
          <p:nvPr/>
        </p:nvSpPr>
        <p:spPr>
          <a:xfrm>
            <a:off x="4826000" y="2260600"/>
            <a:ext cx="254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zh-CN" sz="1600" b="1">
                <a:solidFill>
                  <a:srgbClr val="6C8C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t_user</a:t>
            </a:r>
            <a:endParaRPr lang="zh-CN" altLang="en-US" sz="1600" b="1">
              <a:solidFill>
                <a:srgbClr val="6C8C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B9A5903-9B15-5F53-0894-2C5F5DD56805}"/>
              </a:ext>
            </a:extLst>
          </p:cNvPr>
          <p:cNvSpPr txBox="1"/>
          <p:nvPr/>
        </p:nvSpPr>
        <p:spPr>
          <a:xfrm>
            <a:off x="4826000" y="2590800"/>
            <a:ext cx="254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9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用户 </a:t>
            </a:r>
            <a:r>
              <a:rPr lang="en-US" altLang="zh-CN" sz="9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8 </a:t>
            </a:r>
            <a:r>
              <a:rPr lang="zh-CN" altLang="en-US" sz="9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字段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B55F2DB-CD04-1E82-A57A-A8AA75B0B049}"/>
              </a:ext>
            </a:extLst>
          </p:cNvPr>
          <p:cNvSpPr txBox="1"/>
          <p:nvPr/>
        </p:nvSpPr>
        <p:spPr>
          <a:xfrm>
            <a:off x="4826000" y="2870200"/>
            <a:ext cx="2590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nl-NL" altLang="zh-CN" sz="90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id PK · username UK · role / status</a:t>
            </a:r>
            <a:endParaRPr lang="zh-CN" altLang="en-US" sz="900">
              <a:solidFill>
                <a:srgbClr val="ECF1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CF2FAFE4-478D-18E2-02B7-E21E7E54B726}"/>
              </a:ext>
            </a:extLst>
          </p:cNvPr>
          <p:cNvSpPr/>
          <p:nvPr/>
        </p:nvSpPr>
        <p:spPr>
          <a:xfrm>
            <a:off x="609600" y="4216400"/>
            <a:ext cx="3175000" cy="1473200"/>
          </a:xfrm>
          <a:prstGeom prst="roundRect">
            <a:avLst>
              <a:gd name="adj" fmla="val 7000"/>
            </a:avLst>
          </a:prstGeom>
          <a:solidFill>
            <a:srgbClr val="182238"/>
          </a:solidFill>
          <a:ln w="11430">
            <a:solidFill>
              <a:srgbClr val="47D2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EB0F6C3-C53E-EA0B-FBDF-24A183F7A1DD}"/>
              </a:ext>
            </a:extLst>
          </p:cNvPr>
          <p:cNvSpPr txBox="1"/>
          <p:nvPr/>
        </p:nvSpPr>
        <p:spPr>
          <a:xfrm>
            <a:off x="838200" y="4394200"/>
            <a:ext cx="2717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zh-CN" sz="1400" b="1">
                <a:solidFill>
                  <a:srgbClr val="47D2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t_task</a:t>
            </a:r>
            <a:endParaRPr lang="zh-CN" altLang="en-US" sz="1400" b="1">
              <a:solidFill>
                <a:srgbClr val="47D2A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66FB56F-FD32-71BB-EFEB-FCEBAB463DC7}"/>
              </a:ext>
            </a:extLst>
          </p:cNvPr>
          <p:cNvSpPr txBox="1"/>
          <p:nvPr/>
        </p:nvSpPr>
        <p:spPr>
          <a:xfrm>
            <a:off x="838200" y="4699000"/>
            <a:ext cx="2717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9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每日任务 </a:t>
            </a:r>
            <a:r>
              <a:rPr lang="en-US" altLang="zh-CN" sz="9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8 </a:t>
            </a:r>
            <a:r>
              <a:rPr lang="zh-CN" altLang="en-US" sz="9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字段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E321A9F-BF64-898C-EF5A-93FB004F4F17}"/>
              </a:ext>
            </a:extLst>
          </p:cNvPr>
          <p:cNvSpPr txBox="1"/>
          <p:nvPr/>
        </p:nvSpPr>
        <p:spPr>
          <a:xfrm>
            <a:off x="838200" y="5016500"/>
            <a:ext cx="2717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zh-CN" sz="90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user_id FK → t_user.id</a:t>
            </a:r>
            <a:endParaRPr lang="zh-CN" altLang="en-US" sz="900">
              <a:solidFill>
                <a:srgbClr val="ECF1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D3CED458-E4BB-6576-05B8-F158F678EF64}"/>
              </a:ext>
            </a:extLst>
          </p:cNvPr>
          <p:cNvSpPr txBox="1"/>
          <p:nvPr/>
        </p:nvSpPr>
        <p:spPr>
          <a:xfrm>
            <a:off x="838200" y="5308600"/>
            <a:ext cx="2717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zh-CN" sz="90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priority / due_date</a:t>
            </a:r>
            <a:endParaRPr lang="zh-CN" altLang="en-US" sz="900">
              <a:solidFill>
                <a:srgbClr val="ECF1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2976EE2C-D53E-F801-98B2-2FA3FFDB9B80}"/>
              </a:ext>
            </a:extLst>
          </p:cNvPr>
          <p:cNvSpPr/>
          <p:nvPr/>
        </p:nvSpPr>
        <p:spPr>
          <a:xfrm>
            <a:off x="4508500" y="4343400"/>
            <a:ext cx="3175000" cy="1473200"/>
          </a:xfrm>
          <a:prstGeom prst="roundRect">
            <a:avLst>
              <a:gd name="adj" fmla="val 7000"/>
            </a:avLst>
          </a:prstGeom>
          <a:solidFill>
            <a:srgbClr val="182238"/>
          </a:solidFill>
          <a:ln w="11430">
            <a:solidFill>
              <a:srgbClr val="47D2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18A2FE0E-E674-8137-29F6-C99174880EAB}"/>
              </a:ext>
            </a:extLst>
          </p:cNvPr>
          <p:cNvSpPr txBox="1"/>
          <p:nvPr/>
        </p:nvSpPr>
        <p:spPr>
          <a:xfrm>
            <a:off x="4737100" y="4521200"/>
            <a:ext cx="2717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zh-CN" sz="1400" b="1">
                <a:solidFill>
                  <a:srgbClr val="A07B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t_goal</a:t>
            </a:r>
            <a:endParaRPr lang="zh-CN" altLang="en-US" sz="1400" b="1">
              <a:solidFill>
                <a:srgbClr val="A07B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DD74E65-ED4D-0EF7-E3EA-8726CFBD5A53}"/>
              </a:ext>
            </a:extLst>
          </p:cNvPr>
          <p:cNvSpPr txBox="1"/>
          <p:nvPr/>
        </p:nvSpPr>
        <p:spPr>
          <a:xfrm>
            <a:off x="4737100" y="4826000"/>
            <a:ext cx="2717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9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长期目标 </a:t>
            </a:r>
            <a:r>
              <a:rPr lang="en-US" altLang="zh-CN" sz="9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10 </a:t>
            </a:r>
            <a:r>
              <a:rPr lang="zh-CN" altLang="en-US" sz="9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字段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953C962C-BF86-AEDE-AD18-B478AB1AD7E6}"/>
              </a:ext>
            </a:extLst>
          </p:cNvPr>
          <p:cNvSpPr txBox="1"/>
          <p:nvPr/>
        </p:nvSpPr>
        <p:spPr>
          <a:xfrm>
            <a:off x="4737100" y="5143500"/>
            <a:ext cx="2717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zh-CN" sz="90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user_id FK → t_user.id</a:t>
            </a:r>
            <a:endParaRPr lang="zh-CN" altLang="en-US" sz="900">
              <a:solidFill>
                <a:srgbClr val="ECF1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5A54FF68-0E4F-309D-4BA4-93100CB02847}"/>
              </a:ext>
            </a:extLst>
          </p:cNvPr>
          <p:cNvSpPr txBox="1"/>
          <p:nvPr/>
        </p:nvSpPr>
        <p:spPr>
          <a:xfrm>
            <a:off x="4737100" y="5435600"/>
            <a:ext cx="2717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zh-CN" sz="90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progress / status</a:t>
            </a:r>
            <a:endParaRPr lang="zh-CN" altLang="en-US" sz="900">
              <a:solidFill>
                <a:srgbClr val="ECF1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1B55501B-692F-11F5-DEA7-92305F941E34}"/>
              </a:ext>
            </a:extLst>
          </p:cNvPr>
          <p:cNvSpPr/>
          <p:nvPr/>
        </p:nvSpPr>
        <p:spPr>
          <a:xfrm>
            <a:off x="8407400" y="4216400"/>
            <a:ext cx="3175000" cy="1473200"/>
          </a:xfrm>
          <a:prstGeom prst="roundRect">
            <a:avLst>
              <a:gd name="adj" fmla="val 7000"/>
            </a:avLst>
          </a:prstGeom>
          <a:solidFill>
            <a:srgbClr val="182238"/>
          </a:solidFill>
          <a:ln w="11430">
            <a:solidFill>
              <a:srgbClr val="47D2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E44056C0-9D24-4F20-6DCF-3C9831B69A70}"/>
              </a:ext>
            </a:extLst>
          </p:cNvPr>
          <p:cNvSpPr txBox="1"/>
          <p:nvPr/>
        </p:nvSpPr>
        <p:spPr>
          <a:xfrm>
            <a:off x="8636000" y="4394200"/>
            <a:ext cx="2717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zh-CN" sz="1400" b="1">
                <a:solidFill>
                  <a:srgbClr val="FFC46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t_bill</a:t>
            </a:r>
            <a:endParaRPr lang="zh-CN" altLang="en-US" sz="1400" b="1">
              <a:solidFill>
                <a:srgbClr val="FFC46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F445BA86-7096-D6B9-3D9F-06961F196513}"/>
              </a:ext>
            </a:extLst>
          </p:cNvPr>
          <p:cNvSpPr txBox="1"/>
          <p:nvPr/>
        </p:nvSpPr>
        <p:spPr>
          <a:xfrm>
            <a:off x="8636000" y="4699000"/>
            <a:ext cx="2717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9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收支账单 </a:t>
            </a:r>
            <a:r>
              <a:rPr lang="en-US" altLang="zh-CN" sz="9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8 </a:t>
            </a:r>
            <a:r>
              <a:rPr lang="zh-CN" altLang="en-US" sz="9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字段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C4C18B2C-02A4-FE06-2CAF-F513FDF91C2E}"/>
              </a:ext>
            </a:extLst>
          </p:cNvPr>
          <p:cNvSpPr txBox="1"/>
          <p:nvPr/>
        </p:nvSpPr>
        <p:spPr>
          <a:xfrm>
            <a:off x="8636000" y="5016500"/>
            <a:ext cx="2717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zh-CN" sz="90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user_id FK → t_user.id</a:t>
            </a:r>
            <a:endParaRPr lang="zh-CN" altLang="en-US" sz="900">
              <a:solidFill>
                <a:srgbClr val="ECF1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E98801C5-D332-8FCC-DB6E-10BB3F0C3C22}"/>
              </a:ext>
            </a:extLst>
          </p:cNvPr>
          <p:cNvSpPr txBox="1"/>
          <p:nvPr/>
        </p:nvSpPr>
        <p:spPr>
          <a:xfrm>
            <a:off x="8636000" y="5308600"/>
            <a:ext cx="2717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zh-CN" sz="90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amount DECIMAL(12,2)</a:t>
            </a:r>
            <a:endParaRPr lang="zh-CN" altLang="en-US" sz="900">
              <a:solidFill>
                <a:srgbClr val="ECF1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58F34B26-3220-2FC8-2084-5A3CECB1C9DD}"/>
              </a:ext>
            </a:extLst>
          </p:cNvPr>
          <p:cNvSpPr txBox="1"/>
          <p:nvPr/>
        </p:nvSpPr>
        <p:spPr>
          <a:xfrm>
            <a:off x="609600" y="5842000"/>
            <a:ext cx="762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zh-CN" sz="90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 </a:t>
            </a:r>
            <a:r>
              <a:rPr lang="zh-CN" altLang="en-US" sz="90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个外键均 </a:t>
            </a:r>
            <a:r>
              <a:rPr lang="en-US" altLang="zh-CN" sz="90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ON DELETE CASCADE</a:t>
            </a:r>
            <a:r>
              <a:rPr lang="zh-CN" altLang="en-US" sz="90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：删用户会级联清理他的任务、目标、账单。</a:t>
            </a: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524E4DDF-2859-F6BF-F1C6-CCE51F6F0092}"/>
              </a:ext>
            </a:extLst>
          </p:cNvPr>
          <p:cNvSpPr/>
          <p:nvPr/>
        </p:nvSpPr>
        <p:spPr>
          <a:xfrm>
            <a:off x="609600" y="6096000"/>
            <a:ext cx="1676400" cy="330200"/>
          </a:xfrm>
          <a:prstGeom prst="roundRect">
            <a:avLst>
              <a:gd name="adj" fmla="val 20000"/>
            </a:avLst>
          </a:prstGeom>
          <a:solidFill>
            <a:srgbClr val="16223A"/>
          </a:solidFill>
          <a:ln w="11430">
            <a:solidFill>
              <a:srgbClr val="47D2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CB9C31DC-6ECF-55F5-E7E9-34321B377D5C}"/>
              </a:ext>
            </a:extLst>
          </p:cNvPr>
          <p:cNvSpPr txBox="1"/>
          <p:nvPr/>
        </p:nvSpPr>
        <p:spPr>
          <a:xfrm>
            <a:off x="609600" y="6184900"/>
            <a:ext cx="1676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US" altLang="zh-CN" sz="85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uk_user_username</a:t>
            </a:r>
            <a:endParaRPr lang="zh-CN" altLang="en-US" sz="850">
              <a:solidFill>
                <a:srgbClr val="ECF1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B98DFA34-5A79-2484-CD38-7C6332FE4EC3}"/>
              </a:ext>
            </a:extLst>
          </p:cNvPr>
          <p:cNvSpPr/>
          <p:nvPr/>
        </p:nvSpPr>
        <p:spPr>
          <a:xfrm>
            <a:off x="2425700" y="6096000"/>
            <a:ext cx="1676400" cy="330200"/>
          </a:xfrm>
          <a:prstGeom prst="roundRect">
            <a:avLst>
              <a:gd name="adj" fmla="val 20000"/>
            </a:avLst>
          </a:prstGeom>
          <a:solidFill>
            <a:srgbClr val="16223A"/>
          </a:solidFill>
          <a:ln w="11430">
            <a:solidFill>
              <a:srgbClr val="47D2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4AD54CA6-1D8D-8B6C-CACC-02A87914EF32}"/>
              </a:ext>
            </a:extLst>
          </p:cNvPr>
          <p:cNvSpPr txBox="1"/>
          <p:nvPr/>
        </p:nvSpPr>
        <p:spPr>
          <a:xfrm>
            <a:off x="2425700" y="6184900"/>
            <a:ext cx="1676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US" altLang="zh-CN" sz="85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idx_task_user</a:t>
            </a:r>
            <a:endParaRPr lang="zh-CN" altLang="en-US" sz="850">
              <a:solidFill>
                <a:srgbClr val="ECF1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60E67000-9A49-707B-2357-F99870E758CF}"/>
              </a:ext>
            </a:extLst>
          </p:cNvPr>
          <p:cNvSpPr/>
          <p:nvPr/>
        </p:nvSpPr>
        <p:spPr>
          <a:xfrm>
            <a:off x="4241800" y="6096000"/>
            <a:ext cx="1676400" cy="330200"/>
          </a:xfrm>
          <a:prstGeom prst="roundRect">
            <a:avLst>
              <a:gd name="adj" fmla="val 20000"/>
            </a:avLst>
          </a:prstGeom>
          <a:solidFill>
            <a:srgbClr val="16223A"/>
          </a:solidFill>
          <a:ln w="11430">
            <a:solidFill>
              <a:srgbClr val="47D2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88614EEE-98B6-F16D-08D2-E8087CE1C29E}"/>
              </a:ext>
            </a:extLst>
          </p:cNvPr>
          <p:cNvSpPr txBox="1"/>
          <p:nvPr/>
        </p:nvSpPr>
        <p:spPr>
          <a:xfrm>
            <a:off x="4241800" y="6184900"/>
            <a:ext cx="1676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US" altLang="zh-CN" sz="85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idx_goal_user</a:t>
            </a:r>
            <a:endParaRPr lang="zh-CN" altLang="en-US" sz="850">
              <a:solidFill>
                <a:srgbClr val="ECF1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0890B323-CEF6-10AA-F7E8-294035C8DFD6}"/>
              </a:ext>
            </a:extLst>
          </p:cNvPr>
          <p:cNvSpPr/>
          <p:nvPr/>
        </p:nvSpPr>
        <p:spPr>
          <a:xfrm>
            <a:off x="6057900" y="6096000"/>
            <a:ext cx="1905000" cy="330200"/>
          </a:xfrm>
          <a:prstGeom prst="roundRect">
            <a:avLst>
              <a:gd name="adj" fmla="val 20000"/>
            </a:avLst>
          </a:prstGeom>
          <a:solidFill>
            <a:srgbClr val="16223A"/>
          </a:solidFill>
          <a:ln w="11430">
            <a:solidFill>
              <a:srgbClr val="47D2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868D52E6-977F-0EA2-B4C3-B0D014240F1C}"/>
              </a:ext>
            </a:extLst>
          </p:cNvPr>
          <p:cNvSpPr txBox="1"/>
          <p:nvPr/>
        </p:nvSpPr>
        <p:spPr>
          <a:xfrm>
            <a:off x="6057900" y="61849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US" altLang="zh-CN" sz="85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idx_bill_user_date</a:t>
            </a:r>
            <a:endParaRPr lang="zh-CN" altLang="en-US" sz="850">
              <a:solidFill>
                <a:srgbClr val="ECF1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344C39E5-663E-1C81-64B1-126CBE6866F9}"/>
              </a:ext>
            </a:extLst>
          </p:cNvPr>
          <p:cNvSpPr/>
          <p:nvPr/>
        </p:nvSpPr>
        <p:spPr>
          <a:xfrm>
            <a:off x="8102600" y="6096000"/>
            <a:ext cx="1625600" cy="330200"/>
          </a:xfrm>
          <a:prstGeom prst="roundRect">
            <a:avLst>
              <a:gd name="adj" fmla="val 20000"/>
            </a:avLst>
          </a:prstGeom>
          <a:solidFill>
            <a:srgbClr val="16223A"/>
          </a:solidFill>
          <a:ln w="11430">
            <a:solidFill>
              <a:srgbClr val="47D2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2DD58F35-76E2-17FE-17E2-AC7AAF273647}"/>
              </a:ext>
            </a:extLst>
          </p:cNvPr>
          <p:cNvSpPr txBox="1"/>
          <p:nvPr/>
        </p:nvSpPr>
        <p:spPr>
          <a:xfrm>
            <a:off x="8102600" y="6184900"/>
            <a:ext cx="1625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US" altLang="zh-CN" sz="85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DECIMAL(12,2)</a:t>
            </a:r>
            <a:endParaRPr lang="zh-CN" altLang="en-US" sz="850">
              <a:solidFill>
                <a:srgbClr val="ECF1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794957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3BD9110F-F7ED-8884-0322-2CF9576C3838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oundRect">
            <a:avLst>
              <a:gd name="adj" fmla="val 0"/>
            </a:avLst>
          </a:prstGeom>
          <a:solidFill>
            <a:srgbClr val="6C8CFF"/>
          </a:solidFill>
          <a:ln w="11430">
            <a:solidFill>
              <a:srgbClr val="6C8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DFA893DF-E59C-B279-539D-CA6844C95AC0}"/>
              </a:ext>
            </a:extLst>
          </p:cNvPr>
          <p:cNvSpPr/>
          <p:nvPr/>
        </p:nvSpPr>
        <p:spPr>
          <a:xfrm>
            <a:off x="609600" y="508000"/>
            <a:ext cx="50800" cy="1168400"/>
          </a:xfrm>
          <a:prstGeom prst="roundRect">
            <a:avLst>
              <a:gd name="adj" fmla="val 0"/>
            </a:avLst>
          </a:prstGeom>
          <a:solidFill>
            <a:srgbClr val="6C8CFF"/>
          </a:solidFill>
          <a:ln w="11430">
            <a:solidFill>
              <a:srgbClr val="6C8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E63D243-DF4E-30CC-CB9F-120387D57AAF}"/>
              </a:ext>
            </a:extLst>
          </p:cNvPr>
          <p:cNvSpPr txBox="1"/>
          <p:nvPr/>
        </p:nvSpPr>
        <p:spPr>
          <a:xfrm>
            <a:off x="812800" y="482600"/>
            <a:ext cx="889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zh-CN" sz="1000" b="1">
                <a:solidFill>
                  <a:srgbClr val="6C8C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AUTH</a:t>
            </a:r>
            <a:endParaRPr lang="zh-CN" altLang="en-US" sz="1000" b="1">
              <a:solidFill>
                <a:srgbClr val="6C8C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66E076D-6479-56A0-6738-EEBFFA45504F}"/>
              </a:ext>
            </a:extLst>
          </p:cNvPr>
          <p:cNvSpPr txBox="1"/>
          <p:nvPr/>
        </p:nvSpPr>
        <p:spPr>
          <a:xfrm>
            <a:off x="812800" y="762000"/>
            <a:ext cx="1003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2700" b="1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登录与权限：两层拦截，一条底线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2307888-F13A-BA87-33EF-9E1AF8979BB8}"/>
              </a:ext>
            </a:extLst>
          </p:cNvPr>
          <p:cNvSpPr txBox="1"/>
          <p:nvPr/>
        </p:nvSpPr>
        <p:spPr>
          <a:xfrm>
            <a:off x="812800" y="13208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12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认证解决「你是谁」，授权解决「你能动谁的数据」</a:t>
            </a: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D82E1BEA-BD93-49ED-6038-79B9D54BD55B}"/>
              </a:ext>
            </a:extLst>
          </p:cNvPr>
          <p:cNvCxnSpPr/>
          <p:nvPr/>
        </p:nvCxnSpPr>
        <p:spPr>
          <a:xfrm>
            <a:off x="812800" y="1803400"/>
            <a:ext cx="10566400" cy="0"/>
          </a:xfrm>
          <a:prstGeom prst="straightConnector1">
            <a:avLst/>
          </a:prstGeom>
          <a:ln w="12700">
            <a:solidFill>
              <a:srgbClr val="47D2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8E806BC9-C282-C2B6-D351-B5F74DB24FD9}"/>
              </a:ext>
            </a:extLst>
          </p:cNvPr>
          <p:cNvSpPr txBox="1"/>
          <p:nvPr/>
        </p:nvSpPr>
        <p:spPr>
          <a:xfrm>
            <a:off x="812800" y="6477000"/>
            <a:ext cx="533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endParaRPr lang="zh-CN" altLang="en-US" sz="950" dirty="0">
              <a:solidFill>
                <a:srgbClr val="9AA6C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C4EAA9F-8A42-D562-2B06-7999E8B474B6}"/>
              </a:ext>
            </a:extLst>
          </p:cNvPr>
          <p:cNvSpPr txBox="1"/>
          <p:nvPr/>
        </p:nvSpPr>
        <p:spPr>
          <a:xfrm>
            <a:off x="10363200" y="6477000"/>
            <a:ext cx="101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lang="en-US" altLang="zh-CN" sz="9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06 / 12</a:t>
            </a:r>
            <a:endParaRPr lang="zh-CN" altLang="en-US" sz="950">
              <a:solidFill>
                <a:srgbClr val="9AA6C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266AC917-0B0A-E3D3-2341-098D29E9F368}"/>
              </a:ext>
            </a:extLst>
          </p:cNvPr>
          <p:cNvSpPr/>
          <p:nvPr/>
        </p:nvSpPr>
        <p:spPr>
          <a:xfrm>
            <a:off x="812800" y="2108200"/>
            <a:ext cx="4953000" cy="2895600"/>
          </a:xfrm>
          <a:prstGeom prst="roundRect">
            <a:avLst>
              <a:gd name="adj" fmla="val 6000"/>
            </a:avLst>
          </a:prstGeom>
          <a:solidFill>
            <a:srgbClr val="182238"/>
          </a:solidFill>
          <a:ln w="11430">
            <a:solidFill>
              <a:srgbClr val="47D2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A4EAA2E-A825-8F69-BDAE-D3B8A19E196F}"/>
              </a:ext>
            </a:extLst>
          </p:cNvPr>
          <p:cNvSpPr txBox="1"/>
          <p:nvPr/>
        </p:nvSpPr>
        <p:spPr>
          <a:xfrm>
            <a:off x="1117600" y="233680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1500" b="1">
                <a:solidFill>
                  <a:srgbClr val="6C8C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认证：你是谁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D8A2C48-F54F-0285-B6B3-684CD4510A13}"/>
              </a:ext>
            </a:extLst>
          </p:cNvPr>
          <p:cNvSpPr txBox="1"/>
          <p:nvPr/>
        </p:nvSpPr>
        <p:spPr>
          <a:xfrm>
            <a:off x="1117600" y="2819400"/>
            <a:ext cx="4267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70000"/>
              </a:lnSpc>
            </a:pPr>
            <a:r>
              <a:rPr lang="en-US" altLang="zh-CN" sz="125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25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密码 </a:t>
            </a:r>
            <a:r>
              <a:rPr lang="en-US" altLang="zh-CN" sz="125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BCrypt </a:t>
            </a:r>
            <a:r>
              <a:rPr lang="zh-CN" altLang="en-US" sz="125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加盐，库里不存明文
</a:t>
            </a:r>
            <a:r>
              <a:rPr lang="en-US" altLang="zh-CN" sz="125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25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登录成功：</a:t>
            </a:r>
            <a:r>
              <a:rPr lang="en-US" altLang="zh-CN" sz="125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User </a:t>
            </a:r>
            <a:r>
              <a:rPr lang="zh-CN" altLang="en-US" sz="125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放进 </a:t>
            </a:r>
            <a:r>
              <a:rPr lang="en-US" altLang="zh-CN" sz="125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Session
• </a:t>
            </a:r>
            <a:r>
              <a:rPr lang="zh-CN" altLang="en-US" sz="125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退出：</a:t>
            </a:r>
            <a:r>
              <a:rPr lang="en-US" altLang="zh-CN" sz="125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session.invalidate()
• </a:t>
            </a:r>
            <a:r>
              <a:rPr lang="zh-CN" altLang="en-US" sz="125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登录时校验 </a:t>
            </a:r>
            <a:r>
              <a:rPr lang="en-US" altLang="zh-CN" sz="125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status==1</a:t>
            </a:r>
            <a:endParaRPr lang="zh-CN" altLang="en-US" sz="1250">
              <a:solidFill>
                <a:srgbClr val="ECF1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910287D7-23B8-3A1C-9981-0CF05F8374BD}"/>
              </a:ext>
            </a:extLst>
          </p:cNvPr>
          <p:cNvSpPr/>
          <p:nvPr/>
        </p:nvSpPr>
        <p:spPr>
          <a:xfrm>
            <a:off x="6350000" y="2108200"/>
            <a:ext cx="5029200" cy="2895600"/>
          </a:xfrm>
          <a:prstGeom prst="roundRect">
            <a:avLst>
              <a:gd name="adj" fmla="val 6000"/>
            </a:avLst>
          </a:prstGeom>
          <a:solidFill>
            <a:srgbClr val="182238"/>
          </a:solidFill>
          <a:ln w="11430">
            <a:solidFill>
              <a:srgbClr val="47D2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912E2E3-40ED-2DE6-6541-B32D33D4E806}"/>
              </a:ext>
            </a:extLst>
          </p:cNvPr>
          <p:cNvSpPr txBox="1"/>
          <p:nvPr/>
        </p:nvSpPr>
        <p:spPr>
          <a:xfrm>
            <a:off x="6654800" y="2336800"/>
            <a:ext cx="431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1500" b="1">
                <a:solidFill>
                  <a:srgbClr val="FFC46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授权：你能动谁的数据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02D903C-1FF1-4C2C-6FB8-BAA51963E2B9}"/>
              </a:ext>
            </a:extLst>
          </p:cNvPr>
          <p:cNvSpPr txBox="1"/>
          <p:nvPr/>
        </p:nvSpPr>
        <p:spPr>
          <a:xfrm>
            <a:off x="6654800" y="2819400"/>
            <a:ext cx="4419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70000"/>
              </a:lnSpc>
            </a:pPr>
            <a:r>
              <a:rPr lang="en-US" altLang="zh-CN" sz="120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LoginFilter</a:t>
            </a:r>
            <a:r>
              <a:rPr lang="zh-CN" altLang="en-US" sz="120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：未登录 → </a:t>
            </a:r>
            <a:r>
              <a:rPr lang="en-US" altLang="zh-CN" sz="120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/login
• </a:t>
            </a:r>
            <a:r>
              <a:rPr lang="zh-CN" altLang="en-US" sz="120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白名单：首页 </a:t>
            </a:r>
            <a:r>
              <a:rPr lang="en-US" altLang="zh-CN" sz="120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20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登录 </a:t>
            </a:r>
            <a:r>
              <a:rPr lang="en-US" altLang="zh-CN" sz="120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20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注册 </a:t>
            </a:r>
            <a:r>
              <a:rPr lang="en-US" altLang="zh-CN" sz="120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20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静态资源
</a:t>
            </a:r>
            <a:r>
              <a:rPr lang="en-US" altLang="zh-CN" sz="120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AdminFilter</a:t>
            </a:r>
            <a:r>
              <a:rPr lang="zh-CN" altLang="en-US" sz="120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en-US" altLang="zh-CN" sz="120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/admin/* </a:t>
            </a:r>
            <a:r>
              <a:rPr lang="zh-CN" altLang="en-US" sz="120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非管理员 → </a:t>
            </a:r>
            <a:r>
              <a:rPr lang="en-US" altLang="zh-CN" sz="120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403
• DAO</a:t>
            </a:r>
            <a:r>
              <a:rPr lang="zh-CN" altLang="en-US" sz="120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en-US" altLang="zh-CN" sz="120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WHERE id=? AND user_id=?</a:t>
            </a:r>
            <a:endParaRPr lang="zh-CN" altLang="en-US" sz="1200">
              <a:solidFill>
                <a:srgbClr val="ECF1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E213512-0F12-6667-8DD4-3E5EFE658229}"/>
              </a:ext>
            </a:extLst>
          </p:cNvPr>
          <p:cNvSpPr txBox="1"/>
          <p:nvPr/>
        </p:nvSpPr>
        <p:spPr>
          <a:xfrm>
            <a:off x="812800" y="5181600"/>
            <a:ext cx="10566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zh-CN" sz="1150" i="1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Filter </a:t>
            </a:r>
            <a:r>
              <a:rPr lang="zh-CN" altLang="en-US" sz="1150" i="1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管入口，</a:t>
            </a:r>
            <a:r>
              <a:rPr lang="en-US" altLang="zh-CN" sz="1150" i="1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SQL </a:t>
            </a:r>
            <a:r>
              <a:rPr lang="zh-CN" altLang="en-US" sz="1150" i="1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管归属；两层都做，才不是只挡页面、不挡数据。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C1235325-351A-5C5C-5169-CCEA6B6C7036}"/>
              </a:ext>
            </a:extLst>
          </p:cNvPr>
          <p:cNvSpPr/>
          <p:nvPr/>
        </p:nvSpPr>
        <p:spPr>
          <a:xfrm>
            <a:off x="812800" y="5562600"/>
            <a:ext cx="10566400" cy="685800"/>
          </a:xfrm>
          <a:prstGeom prst="roundRect">
            <a:avLst>
              <a:gd name="adj" fmla="val 5000"/>
            </a:avLst>
          </a:prstGeom>
          <a:solidFill>
            <a:srgbClr val="121C30"/>
          </a:solidFill>
          <a:ln w="11430">
            <a:solidFill>
              <a:srgbClr val="47D2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CDDC702-3F46-5318-CD16-487CA26800FA}"/>
              </a:ext>
            </a:extLst>
          </p:cNvPr>
          <p:cNvSpPr txBox="1"/>
          <p:nvPr/>
        </p:nvSpPr>
        <p:spPr>
          <a:xfrm>
            <a:off x="1092200" y="5715000"/>
            <a:ext cx="482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zh-CN" sz="1150">
                <a:solidFill>
                  <a:srgbClr val="47D2A0"/>
                </a:solidFill>
                <a:latin typeface="Consolas" panose="020B0609020204030204" pitchFamily="49" charset="0"/>
              </a:rPr>
              <a:t>SELECT ... WHERE id = ? AND user_id = ?</a:t>
            </a:r>
            <a:endParaRPr lang="zh-CN" altLang="en-US" sz="1150">
              <a:solidFill>
                <a:srgbClr val="47D2A0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CDD6A349-DA07-6746-85CF-DA3294DDD8B7}"/>
              </a:ext>
            </a:extLst>
          </p:cNvPr>
          <p:cNvSpPr txBox="1"/>
          <p:nvPr/>
        </p:nvSpPr>
        <p:spPr>
          <a:xfrm>
            <a:off x="6350000" y="5715000"/>
            <a:ext cx="469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zh-CN" sz="1050">
                <a:solidFill>
                  <a:srgbClr val="FFC46B"/>
                </a:solidFill>
                <a:latin typeface="Consolas" panose="020B0609020204030204" pitchFamily="49" charset="0"/>
              </a:rPr>
              <a:t>BCrypt.hashpw(raw, BCrypt.gensalt(10))</a:t>
            </a:r>
            <a:endParaRPr lang="zh-CN" altLang="en-US" sz="1050">
              <a:solidFill>
                <a:srgbClr val="FFC46B"/>
              </a:solidFill>
              <a:latin typeface="Consolas" panose="020B0609020204030204" pitchFamily="49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E8C650D-88E5-E80C-EAD2-980F019A3EF0}"/>
              </a:ext>
            </a:extLst>
          </p:cNvPr>
          <p:cNvSpPr txBox="1"/>
          <p:nvPr/>
        </p:nvSpPr>
        <p:spPr>
          <a:xfrm>
            <a:off x="1092200" y="5969000"/>
            <a:ext cx="965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90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越权删除返回 </a:t>
            </a:r>
            <a:r>
              <a:rPr lang="en-US" altLang="zh-CN" sz="90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 </a:t>
            </a:r>
            <a:r>
              <a:rPr lang="zh-CN" altLang="en-US" sz="90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行 → 「不存在，或无权操作」</a:t>
            </a:r>
          </a:p>
        </p:txBody>
      </p:sp>
    </p:spTree>
    <p:extLst>
      <p:ext uri="{BB962C8B-B14F-4D97-AF65-F5344CB8AC3E}">
        <p14:creationId xmlns:p14="http://schemas.microsoft.com/office/powerpoint/2010/main" val="1200751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66300DBE-B604-7C33-2287-708C31CBAD01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oundRect">
            <a:avLst>
              <a:gd name="adj" fmla="val 0"/>
            </a:avLst>
          </a:prstGeom>
          <a:solidFill>
            <a:srgbClr val="6C8CFF"/>
          </a:solidFill>
          <a:ln w="11430">
            <a:solidFill>
              <a:srgbClr val="6C8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1635959E-5850-214C-8161-80EEEB7E202D}"/>
              </a:ext>
            </a:extLst>
          </p:cNvPr>
          <p:cNvSpPr/>
          <p:nvPr/>
        </p:nvSpPr>
        <p:spPr>
          <a:xfrm>
            <a:off x="609600" y="508000"/>
            <a:ext cx="50800" cy="1168400"/>
          </a:xfrm>
          <a:prstGeom prst="roundRect">
            <a:avLst>
              <a:gd name="adj" fmla="val 0"/>
            </a:avLst>
          </a:prstGeom>
          <a:solidFill>
            <a:srgbClr val="6C8CFF"/>
          </a:solidFill>
          <a:ln w="11430">
            <a:solidFill>
              <a:srgbClr val="6C8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B128FB3-C2E8-5B4C-6726-AB38FCB9348A}"/>
              </a:ext>
            </a:extLst>
          </p:cNvPr>
          <p:cNvSpPr txBox="1"/>
          <p:nvPr/>
        </p:nvSpPr>
        <p:spPr>
          <a:xfrm>
            <a:off x="812800" y="482600"/>
            <a:ext cx="889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zh-CN" sz="1000" b="1">
                <a:solidFill>
                  <a:srgbClr val="6C8C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TASK</a:t>
            </a:r>
            <a:endParaRPr lang="zh-CN" altLang="en-US" sz="1000" b="1">
              <a:solidFill>
                <a:srgbClr val="6C8C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E8EAE4A-C673-C5B7-7CDC-011F9864CB5A}"/>
              </a:ext>
            </a:extLst>
          </p:cNvPr>
          <p:cNvSpPr txBox="1"/>
          <p:nvPr/>
        </p:nvSpPr>
        <p:spPr>
          <a:xfrm>
            <a:off x="812800" y="762000"/>
            <a:ext cx="1003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2700" b="1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任务模块：从「记下来」到「看得见」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F6D6640-3FF7-38BD-488C-331D825A5D85}"/>
              </a:ext>
            </a:extLst>
          </p:cNvPr>
          <p:cNvSpPr txBox="1"/>
          <p:nvPr/>
        </p:nvSpPr>
        <p:spPr>
          <a:xfrm>
            <a:off x="812800" y="13208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zh-CN" sz="12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CRUD + </a:t>
            </a:r>
            <a:r>
              <a:rPr lang="zh-CN" altLang="en-US" sz="12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优先级 </a:t>
            </a:r>
            <a:r>
              <a:rPr lang="en-US" altLang="zh-CN" sz="12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 </a:t>
            </a:r>
            <a:r>
              <a:rPr lang="zh-CN" altLang="en-US" sz="12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截止日期 </a:t>
            </a:r>
            <a:r>
              <a:rPr lang="en-US" altLang="zh-CN" sz="12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 </a:t>
            </a:r>
            <a:r>
              <a:rPr lang="zh-CN" altLang="en-US" sz="12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筛选统计 </a:t>
            </a:r>
            <a:r>
              <a:rPr lang="en-US" altLang="zh-CN" sz="12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 PRG</a:t>
            </a:r>
            <a:endParaRPr lang="zh-CN" altLang="en-US" sz="1250">
              <a:solidFill>
                <a:srgbClr val="9AA6C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8441D690-A909-80B0-647D-E9AFC36F6103}"/>
              </a:ext>
            </a:extLst>
          </p:cNvPr>
          <p:cNvCxnSpPr/>
          <p:nvPr/>
        </p:nvCxnSpPr>
        <p:spPr>
          <a:xfrm>
            <a:off x="812800" y="1803400"/>
            <a:ext cx="10566400" cy="0"/>
          </a:xfrm>
          <a:prstGeom prst="straightConnector1">
            <a:avLst/>
          </a:prstGeom>
          <a:ln w="12700">
            <a:solidFill>
              <a:srgbClr val="47D2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2BE2FB2B-3C3A-0390-9B2B-1286A0CB11D2}"/>
              </a:ext>
            </a:extLst>
          </p:cNvPr>
          <p:cNvSpPr txBox="1"/>
          <p:nvPr/>
        </p:nvSpPr>
        <p:spPr>
          <a:xfrm>
            <a:off x="812800" y="6477000"/>
            <a:ext cx="533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endParaRPr lang="zh-CN" altLang="en-US" sz="950" dirty="0">
              <a:solidFill>
                <a:srgbClr val="9AA6C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0CF2FD5-C82F-FDE2-842E-60C3C5A257D5}"/>
              </a:ext>
            </a:extLst>
          </p:cNvPr>
          <p:cNvSpPr txBox="1"/>
          <p:nvPr/>
        </p:nvSpPr>
        <p:spPr>
          <a:xfrm>
            <a:off x="10363200" y="6477000"/>
            <a:ext cx="101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lang="en-US" altLang="zh-CN" sz="9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07 / 12</a:t>
            </a:r>
            <a:endParaRPr lang="zh-CN" altLang="en-US" sz="950">
              <a:solidFill>
                <a:srgbClr val="9AA6C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CD0B20F6-35E5-7F80-95F0-5F0CB6168022}"/>
              </a:ext>
            </a:extLst>
          </p:cNvPr>
          <p:cNvSpPr/>
          <p:nvPr/>
        </p:nvSpPr>
        <p:spPr>
          <a:xfrm>
            <a:off x="812800" y="2108200"/>
            <a:ext cx="2286000" cy="990600"/>
          </a:xfrm>
          <a:prstGeom prst="roundRect">
            <a:avLst>
              <a:gd name="adj" fmla="val 8000"/>
            </a:avLst>
          </a:prstGeom>
          <a:solidFill>
            <a:srgbClr val="182238"/>
          </a:solidFill>
          <a:ln w="11430">
            <a:solidFill>
              <a:srgbClr val="47D2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A86EA00-ED25-2EE3-8AA6-DB9A851E881D}"/>
              </a:ext>
            </a:extLst>
          </p:cNvPr>
          <p:cNvSpPr txBox="1"/>
          <p:nvPr/>
        </p:nvSpPr>
        <p:spPr>
          <a:xfrm>
            <a:off x="965200" y="2235200"/>
            <a:ext cx="1981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US" altLang="zh-CN" sz="2600" b="1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endParaRPr lang="zh-CN" altLang="en-US" sz="2600" b="1">
              <a:solidFill>
                <a:srgbClr val="ECF1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5584B7D-E756-C8C4-0E6D-F653665248B8}"/>
              </a:ext>
            </a:extLst>
          </p:cNvPr>
          <p:cNvSpPr txBox="1"/>
          <p:nvPr/>
        </p:nvSpPr>
        <p:spPr>
          <a:xfrm>
            <a:off x="965200" y="2705100"/>
            <a:ext cx="1981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lang="zh-CN" altLang="en-US" sz="110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总任务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90855783-44F1-837E-FDC9-6AC79A458C61}"/>
              </a:ext>
            </a:extLst>
          </p:cNvPr>
          <p:cNvSpPr/>
          <p:nvPr/>
        </p:nvSpPr>
        <p:spPr>
          <a:xfrm>
            <a:off x="3429000" y="2108200"/>
            <a:ext cx="2286000" cy="990600"/>
          </a:xfrm>
          <a:prstGeom prst="roundRect">
            <a:avLst>
              <a:gd name="adj" fmla="val 8000"/>
            </a:avLst>
          </a:prstGeom>
          <a:solidFill>
            <a:srgbClr val="182238"/>
          </a:solidFill>
          <a:ln w="11430">
            <a:solidFill>
              <a:srgbClr val="47D2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9C29F62-1AD0-C391-FA75-2F1EA5F955DB}"/>
              </a:ext>
            </a:extLst>
          </p:cNvPr>
          <p:cNvSpPr txBox="1"/>
          <p:nvPr/>
        </p:nvSpPr>
        <p:spPr>
          <a:xfrm>
            <a:off x="3581400" y="2235200"/>
            <a:ext cx="1981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US" altLang="zh-CN" sz="2600" b="1">
                <a:solidFill>
                  <a:srgbClr val="47D2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endParaRPr lang="zh-CN" altLang="en-US" sz="2600" b="1">
              <a:solidFill>
                <a:srgbClr val="47D2A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5368D80-1019-A334-0276-DA30EE52D6EF}"/>
              </a:ext>
            </a:extLst>
          </p:cNvPr>
          <p:cNvSpPr txBox="1"/>
          <p:nvPr/>
        </p:nvSpPr>
        <p:spPr>
          <a:xfrm>
            <a:off x="3581400" y="2705100"/>
            <a:ext cx="1981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lang="zh-CN" altLang="en-US" sz="110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已完成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E99BA1A7-DFF8-FB21-6497-A42CE7F83799}"/>
              </a:ext>
            </a:extLst>
          </p:cNvPr>
          <p:cNvSpPr/>
          <p:nvPr/>
        </p:nvSpPr>
        <p:spPr>
          <a:xfrm>
            <a:off x="6045200" y="2108200"/>
            <a:ext cx="2286000" cy="990600"/>
          </a:xfrm>
          <a:prstGeom prst="roundRect">
            <a:avLst>
              <a:gd name="adj" fmla="val 8000"/>
            </a:avLst>
          </a:prstGeom>
          <a:solidFill>
            <a:srgbClr val="182238"/>
          </a:solidFill>
          <a:ln w="11430">
            <a:solidFill>
              <a:srgbClr val="47D2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E702E9B-B55B-563C-7877-840CBE3BC575}"/>
              </a:ext>
            </a:extLst>
          </p:cNvPr>
          <p:cNvSpPr txBox="1"/>
          <p:nvPr/>
        </p:nvSpPr>
        <p:spPr>
          <a:xfrm>
            <a:off x="6197600" y="2235200"/>
            <a:ext cx="1981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US" altLang="zh-CN" sz="2600" b="1">
                <a:solidFill>
                  <a:srgbClr val="FFC46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endParaRPr lang="zh-CN" altLang="en-US" sz="2600" b="1">
              <a:solidFill>
                <a:srgbClr val="FFC46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98A71C1-ABA1-ABA1-6A7C-6E7E84CECD4A}"/>
              </a:ext>
            </a:extLst>
          </p:cNvPr>
          <p:cNvSpPr txBox="1"/>
          <p:nvPr/>
        </p:nvSpPr>
        <p:spPr>
          <a:xfrm>
            <a:off x="6197600" y="2705100"/>
            <a:ext cx="1981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lang="zh-CN" altLang="en-US" sz="110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待办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AAA5A5EE-7DA0-C5E0-18F6-0B0477D6F994}"/>
              </a:ext>
            </a:extLst>
          </p:cNvPr>
          <p:cNvSpPr/>
          <p:nvPr/>
        </p:nvSpPr>
        <p:spPr>
          <a:xfrm>
            <a:off x="8661400" y="2108200"/>
            <a:ext cx="2286000" cy="990600"/>
          </a:xfrm>
          <a:prstGeom prst="roundRect">
            <a:avLst>
              <a:gd name="adj" fmla="val 8000"/>
            </a:avLst>
          </a:prstGeom>
          <a:solidFill>
            <a:srgbClr val="182238"/>
          </a:solidFill>
          <a:ln w="11430">
            <a:solidFill>
              <a:srgbClr val="47D2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92F9C26-1978-A7C3-50C2-C425847974DF}"/>
              </a:ext>
            </a:extLst>
          </p:cNvPr>
          <p:cNvSpPr txBox="1"/>
          <p:nvPr/>
        </p:nvSpPr>
        <p:spPr>
          <a:xfrm>
            <a:off x="8813800" y="2235200"/>
            <a:ext cx="1981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US" altLang="zh-CN" sz="2600" b="1">
                <a:solidFill>
                  <a:srgbClr val="6C8C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33%</a:t>
            </a:r>
            <a:endParaRPr lang="zh-CN" altLang="en-US" sz="2600" b="1">
              <a:solidFill>
                <a:srgbClr val="6C8C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F332F7E-FD57-75C6-56F3-6FCE14D9D64A}"/>
              </a:ext>
            </a:extLst>
          </p:cNvPr>
          <p:cNvSpPr txBox="1"/>
          <p:nvPr/>
        </p:nvSpPr>
        <p:spPr>
          <a:xfrm>
            <a:off x="8813800" y="2705100"/>
            <a:ext cx="1981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lang="zh-CN" altLang="en-US" sz="110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完成率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D4FB4558-16A8-02B5-21D7-785C5876D7A4}"/>
              </a:ext>
            </a:extLst>
          </p:cNvPr>
          <p:cNvSpPr/>
          <p:nvPr/>
        </p:nvSpPr>
        <p:spPr>
          <a:xfrm>
            <a:off x="812800" y="3352800"/>
            <a:ext cx="7620000" cy="2768600"/>
          </a:xfrm>
          <a:prstGeom prst="roundRect">
            <a:avLst>
              <a:gd name="adj" fmla="val 5000"/>
            </a:avLst>
          </a:prstGeom>
          <a:solidFill>
            <a:srgbClr val="182238"/>
          </a:solidFill>
          <a:ln w="11430">
            <a:solidFill>
              <a:srgbClr val="47D2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77EB38E-0CA4-D326-4801-CFA5E4BEDE54}"/>
              </a:ext>
            </a:extLst>
          </p:cNvPr>
          <p:cNvSpPr txBox="1"/>
          <p:nvPr/>
        </p:nvSpPr>
        <p:spPr>
          <a:xfrm>
            <a:off x="1092200" y="3556000"/>
            <a:ext cx="203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1400" b="1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任务列表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A969817D-40C5-5278-6E3B-EAAB8BA50F7E}"/>
              </a:ext>
            </a:extLst>
          </p:cNvPr>
          <p:cNvSpPr txBox="1"/>
          <p:nvPr/>
        </p:nvSpPr>
        <p:spPr>
          <a:xfrm>
            <a:off x="5334000" y="3606800"/>
            <a:ext cx="279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lang="zh-CN" altLang="en-US" sz="9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全部 </a:t>
            </a:r>
            <a:r>
              <a:rPr lang="en-US" altLang="zh-CN" sz="9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zh-CN" altLang="en-US" sz="9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未完成 </a:t>
            </a:r>
            <a:r>
              <a:rPr lang="en-US" altLang="zh-CN" sz="9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zh-CN" altLang="en-US" sz="9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已完成</a:t>
            </a:r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6F1B5C3B-C87A-A2F2-B0ED-A6EBEF444B8B}"/>
              </a:ext>
            </a:extLst>
          </p:cNvPr>
          <p:cNvCxnSpPr/>
          <p:nvPr/>
        </p:nvCxnSpPr>
        <p:spPr>
          <a:xfrm>
            <a:off x="1092200" y="3911600"/>
            <a:ext cx="7061200" cy="0"/>
          </a:xfrm>
          <a:prstGeom prst="straightConnector1">
            <a:avLst/>
          </a:prstGeom>
          <a:ln w="12700">
            <a:solidFill>
              <a:srgbClr val="47D2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6135EDF6-CE99-2ADA-8D0F-29970C6B1463}"/>
              </a:ext>
            </a:extLst>
          </p:cNvPr>
          <p:cNvSpPr/>
          <p:nvPr/>
        </p:nvSpPr>
        <p:spPr>
          <a:xfrm>
            <a:off x="1016000" y="4089400"/>
            <a:ext cx="7213600" cy="533400"/>
          </a:xfrm>
          <a:prstGeom prst="roundRect">
            <a:avLst>
              <a:gd name="adj" fmla="val 12000"/>
            </a:avLst>
          </a:prstGeom>
          <a:solidFill>
            <a:srgbClr val="141E32"/>
          </a:solidFill>
          <a:ln w="11430">
            <a:solidFill>
              <a:srgbClr val="47D2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742AF80-DD52-A4DF-1246-476C680D6697}"/>
              </a:ext>
            </a:extLst>
          </p:cNvPr>
          <p:cNvSpPr txBox="1"/>
          <p:nvPr/>
        </p:nvSpPr>
        <p:spPr>
          <a:xfrm>
            <a:off x="1219200" y="42291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120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提交课程设计文档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1A2D37D1-828B-CB35-DA43-31CE1BCB6466}"/>
              </a:ext>
            </a:extLst>
          </p:cNvPr>
          <p:cNvSpPr txBox="1"/>
          <p:nvPr/>
        </p:nvSpPr>
        <p:spPr>
          <a:xfrm>
            <a:off x="4851400" y="42545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lang="zh-CN" altLang="en-US" sz="90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优先级：高 </a:t>
            </a:r>
            <a:r>
              <a:rPr lang="en-US" altLang="zh-CN" sz="90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zh-CN" altLang="en-US" sz="90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截止：昨天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256CE65D-6254-1C70-5698-01B6A8E869AF}"/>
              </a:ext>
            </a:extLst>
          </p:cNvPr>
          <p:cNvSpPr txBox="1"/>
          <p:nvPr/>
        </p:nvSpPr>
        <p:spPr>
          <a:xfrm>
            <a:off x="6959600" y="4241800"/>
            <a:ext cx="1066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lang="zh-CN" altLang="en-US" sz="950" b="1">
                <a:solidFill>
                  <a:srgbClr val="FF6B6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逾期</a:t>
            </a: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C6ACE000-F643-863B-3CC6-897FEE37A11F}"/>
              </a:ext>
            </a:extLst>
          </p:cNvPr>
          <p:cNvSpPr/>
          <p:nvPr/>
        </p:nvSpPr>
        <p:spPr>
          <a:xfrm>
            <a:off x="1016000" y="4724400"/>
            <a:ext cx="7213600" cy="533400"/>
          </a:xfrm>
          <a:prstGeom prst="roundRect">
            <a:avLst>
              <a:gd name="adj" fmla="val 12000"/>
            </a:avLst>
          </a:prstGeom>
          <a:solidFill>
            <a:srgbClr val="141E32"/>
          </a:solidFill>
          <a:ln w="11430">
            <a:solidFill>
              <a:srgbClr val="47D2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90E3FAFD-9649-3272-18FE-9A43D53EEAB1}"/>
              </a:ext>
            </a:extLst>
          </p:cNvPr>
          <p:cNvSpPr txBox="1"/>
          <p:nvPr/>
        </p:nvSpPr>
        <p:spPr>
          <a:xfrm>
            <a:off x="1219200" y="48641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120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完成登录注册模块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44C80B54-7BDD-960B-47DD-A1E341C5C818}"/>
              </a:ext>
            </a:extLst>
          </p:cNvPr>
          <p:cNvSpPr txBox="1"/>
          <p:nvPr/>
        </p:nvSpPr>
        <p:spPr>
          <a:xfrm>
            <a:off x="4851400" y="48895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lang="zh-CN" altLang="en-US" sz="90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优先级：中 </a:t>
            </a:r>
            <a:r>
              <a:rPr lang="en-US" altLang="zh-CN" sz="90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zh-CN" altLang="en-US" sz="90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截止：今天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B03825E5-2D99-0015-B367-FAD38B61CB5B}"/>
              </a:ext>
            </a:extLst>
          </p:cNvPr>
          <p:cNvSpPr txBox="1"/>
          <p:nvPr/>
        </p:nvSpPr>
        <p:spPr>
          <a:xfrm>
            <a:off x="6959600" y="4876800"/>
            <a:ext cx="1066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lang="zh-CN" altLang="en-US" sz="950" b="1">
                <a:solidFill>
                  <a:srgbClr val="47D2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已完成</a:t>
            </a: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A5E1FE4E-903D-A2DD-8BEE-3A15437389EE}"/>
              </a:ext>
            </a:extLst>
          </p:cNvPr>
          <p:cNvSpPr/>
          <p:nvPr/>
        </p:nvSpPr>
        <p:spPr>
          <a:xfrm>
            <a:off x="1016000" y="5359400"/>
            <a:ext cx="7213600" cy="533400"/>
          </a:xfrm>
          <a:prstGeom prst="roundRect">
            <a:avLst>
              <a:gd name="adj" fmla="val 12000"/>
            </a:avLst>
          </a:prstGeom>
          <a:solidFill>
            <a:srgbClr val="141E32"/>
          </a:solidFill>
          <a:ln w="11430">
            <a:solidFill>
              <a:srgbClr val="47D2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022AEC25-ADA4-90A9-2109-4EBE1D43B9EE}"/>
              </a:ext>
            </a:extLst>
          </p:cNvPr>
          <p:cNvSpPr txBox="1"/>
          <p:nvPr/>
        </p:nvSpPr>
        <p:spPr>
          <a:xfrm>
            <a:off x="1219200" y="54991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120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跑通 </a:t>
            </a:r>
            <a:r>
              <a:rPr lang="en-US" altLang="zh-CN" sz="120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v1 </a:t>
            </a:r>
            <a:r>
              <a:rPr lang="zh-CN" altLang="en-US" sz="120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项目骨架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55ED06AF-B836-3504-431A-80EDEC2DD4C5}"/>
              </a:ext>
            </a:extLst>
          </p:cNvPr>
          <p:cNvSpPr txBox="1"/>
          <p:nvPr/>
        </p:nvSpPr>
        <p:spPr>
          <a:xfrm>
            <a:off x="4851400" y="55245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lang="zh-CN" altLang="en-US" sz="90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优先级：低 </a:t>
            </a:r>
            <a:r>
              <a:rPr lang="en-US" altLang="zh-CN" sz="90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zh-CN" altLang="en-US" sz="90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截止：</a:t>
            </a:r>
            <a:r>
              <a:rPr lang="en-US" altLang="zh-CN" sz="90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—</a:t>
            </a:r>
            <a:endParaRPr lang="zh-CN" altLang="en-US" sz="900">
              <a:solidFill>
                <a:srgbClr val="9AA6C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AFC74FD5-70E9-6538-B87A-6F9F9DAA8661}"/>
              </a:ext>
            </a:extLst>
          </p:cNvPr>
          <p:cNvSpPr txBox="1"/>
          <p:nvPr/>
        </p:nvSpPr>
        <p:spPr>
          <a:xfrm>
            <a:off x="6959600" y="5511800"/>
            <a:ext cx="1066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lang="zh-CN" altLang="en-US" sz="950" b="1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待办</a:t>
            </a: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172CA2D7-37AC-67BD-0B3B-17512B420BE3}"/>
              </a:ext>
            </a:extLst>
          </p:cNvPr>
          <p:cNvSpPr/>
          <p:nvPr/>
        </p:nvSpPr>
        <p:spPr>
          <a:xfrm>
            <a:off x="8763000" y="3352800"/>
            <a:ext cx="2616200" cy="2768600"/>
          </a:xfrm>
          <a:prstGeom prst="roundRect">
            <a:avLst>
              <a:gd name="adj" fmla="val 6000"/>
            </a:avLst>
          </a:prstGeom>
          <a:solidFill>
            <a:srgbClr val="16223A"/>
          </a:solidFill>
          <a:ln w="11430">
            <a:solidFill>
              <a:srgbClr val="47D2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1238A368-0446-D9BB-898C-B868C2666846}"/>
              </a:ext>
            </a:extLst>
          </p:cNvPr>
          <p:cNvSpPr txBox="1"/>
          <p:nvPr/>
        </p:nvSpPr>
        <p:spPr>
          <a:xfrm>
            <a:off x="9017000" y="3556000"/>
            <a:ext cx="2108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1200" b="1">
                <a:solidFill>
                  <a:srgbClr val="FFC46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关键点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A1A949CC-7ADB-0516-7782-2DA1E08E48B8}"/>
              </a:ext>
            </a:extLst>
          </p:cNvPr>
          <p:cNvSpPr txBox="1"/>
          <p:nvPr/>
        </p:nvSpPr>
        <p:spPr>
          <a:xfrm>
            <a:off x="9017000" y="3937000"/>
            <a:ext cx="2108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70000"/>
              </a:lnSpc>
            </a:pPr>
            <a:r>
              <a:rPr lang="en-US" altLang="zh-CN" sz="105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05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优先级 </a:t>
            </a:r>
            <a:r>
              <a:rPr lang="en-US" altLang="zh-CN" sz="105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1/2/3
• </a:t>
            </a:r>
            <a:r>
              <a:rPr lang="zh-CN" altLang="en-US" sz="105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截止日期可空
</a:t>
            </a:r>
            <a:r>
              <a:rPr lang="en-US" altLang="zh-CN" sz="105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05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逾期红字
</a:t>
            </a:r>
            <a:r>
              <a:rPr lang="en-US" altLang="zh-CN" sz="105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POST </a:t>
            </a:r>
            <a:r>
              <a:rPr lang="zh-CN" altLang="en-US" sz="105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成功 </a:t>
            </a:r>
            <a:r>
              <a:rPr lang="en-US" altLang="zh-CN" sz="105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302
• </a:t>
            </a:r>
            <a:r>
              <a:rPr lang="zh-CN" altLang="en-US" sz="105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删除带 </a:t>
            </a:r>
            <a:r>
              <a:rPr lang="en-US" altLang="zh-CN" sz="105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user_id</a:t>
            </a:r>
            <a:endParaRPr lang="zh-CN" altLang="en-US" sz="1050">
              <a:solidFill>
                <a:srgbClr val="ECF1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246049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42501AB5-8154-2FC8-F693-4DA6FCD85F2A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oundRect">
            <a:avLst>
              <a:gd name="adj" fmla="val 0"/>
            </a:avLst>
          </a:prstGeom>
          <a:solidFill>
            <a:srgbClr val="6C8CFF"/>
          </a:solidFill>
          <a:ln w="11430">
            <a:solidFill>
              <a:srgbClr val="6C8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6825AF08-04D0-6392-F055-24B1A5C51830}"/>
              </a:ext>
            </a:extLst>
          </p:cNvPr>
          <p:cNvSpPr/>
          <p:nvPr/>
        </p:nvSpPr>
        <p:spPr>
          <a:xfrm>
            <a:off x="609600" y="508000"/>
            <a:ext cx="50800" cy="1168400"/>
          </a:xfrm>
          <a:prstGeom prst="roundRect">
            <a:avLst>
              <a:gd name="adj" fmla="val 0"/>
            </a:avLst>
          </a:prstGeom>
          <a:solidFill>
            <a:srgbClr val="6C8CFF"/>
          </a:solidFill>
          <a:ln w="11430">
            <a:solidFill>
              <a:srgbClr val="6C8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596886F-5F7B-1929-A5A2-FFAA3FBABBE8}"/>
              </a:ext>
            </a:extLst>
          </p:cNvPr>
          <p:cNvSpPr txBox="1"/>
          <p:nvPr/>
        </p:nvSpPr>
        <p:spPr>
          <a:xfrm>
            <a:off x="812800" y="482600"/>
            <a:ext cx="889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zh-CN" sz="1000" b="1">
                <a:solidFill>
                  <a:srgbClr val="6C8C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GOAL</a:t>
            </a:r>
            <a:endParaRPr lang="zh-CN" altLang="en-US" sz="1000" b="1">
              <a:solidFill>
                <a:srgbClr val="6C8C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4D3F001-4785-CD21-006E-60E422C1D615}"/>
              </a:ext>
            </a:extLst>
          </p:cNvPr>
          <p:cNvSpPr txBox="1"/>
          <p:nvPr/>
        </p:nvSpPr>
        <p:spPr>
          <a:xfrm>
            <a:off x="812800" y="762000"/>
            <a:ext cx="1003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2700" b="1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长期目标：把「想要」拆成可更新的进度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43D9F90-299D-BF7A-87A3-DC418FF8114F}"/>
              </a:ext>
            </a:extLst>
          </p:cNvPr>
          <p:cNvSpPr txBox="1"/>
          <p:nvPr/>
        </p:nvSpPr>
        <p:spPr>
          <a:xfrm>
            <a:off x="812800" y="13208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12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五位一体 </a:t>
            </a:r>
            <a:r>
              <a:rPr lang="en-US" altLang="zh-CN" sz="12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× </a:t>
            </a:r>
            <a:r>
              <a:rPr lang="zh-CN" altLang="en-US" sz="12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五年</a:t>
            </a:r>
            <a:r>
              <a:rPr lang="en-US" altLang="zh-CN" sz="12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12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年度</a:t>
            </a:r>
            <a:r>
              <a:rPr lang="en-US" altLang="zh-CN" sz="12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12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季度 </a:t>
            </a:r>
            <a:r>
              <a:rPr lang="en-US" altLang="zh-CN" sz="12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× </a:t>
            </a:r>
            <a:r>
              <a:rPr lang="zh-CN" altLang="en-US" sz="12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进度条</a:t>
            </a: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C5DD2DCE-2257-7537-CB06-1810D4D31869}"/>
              </a:ext>
            </a:extLst>
          </p:cNvPr>
          <p:cNvCxnSpPr/>
          <p:nvPr/>
        </p:nvCxnSpPr>
        <p:spPr>
          <a:xfrm>
            <a:off x="812800" y="1803400"/>
            <a:ext cx="10566400" cy="0"/>
          </a:xfrm>
          <a:prstGeom prst="straightConnector1">
            <a:avLst/>
          </a:prstGeom>
          <a:ln w="12700">
            <a:solidFill>
              <a:srgbClr val="47D2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1B51EECE-8257-D757-D6B5-67093ABC0FD0}"/>
              </a:ext>
            </a:extLst>
          </p:cNvPr>
          <p:cNvSpPr txBox="1"/>
          <p:nvPr/>
        </p:nvSpPr>
        <p:spPr>
          <a:xfrm>
            <a:off x="812800" y="6477000"/>
            <a:ext cx="533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endParaRPr lang="zh-CN" altLang="en-US" sz="950" dirty="0">
              <a:solidFill>
                <a:srgbClr val="9AA6C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CF65E02-CD8A-EDF5-B3CE-0ECBAD96F4A1}"/>
              </a:ext>
            </a:extLst>
          </p:cNvPr>
          <p:cNvSpPr txBox="1"/>
          <p:nvPr/>
        </p:nvSpPr>
        <p:spPr>
          <a:xfrm>
            <a:off x="10363200" y="6477000"/>
            <a:ext cx="101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lang="en-US" altLang="zh-CN" sz="9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08 / 12</a:t>
            </a:r>
            <a:endParaRPr lang="zh-CN" altLang="en-US" sz="950">
              <a:solidFill>
                <a:srgbClr val="9AA6C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0A98479A-9B40-B464-B418-217EB83EBA94}"/>
              </a:ext>
            </a:extLst>
          </p:cNvPr>
          <p:cNvSpPr/>
          <p:nvPr/>
        </p:nvSpPr>
        <p:spPr>
          <a:xfrm>
            <a:off x="812800" y="2108200"/>
            <a:ext cx="6858000" cy="1117600"/>
          </a:xfrm>
          <a:prstGeom prst="roundRect">
            <a:avLst>
              <a:gd name="adj" fmla="val 7000"/>
            </a:avLst>
          </a:prstGeom>
          <a:solidFill>
            <a:srgbClr val="182238"/>
          </a:solidFill>
          <a:ln w="11430">
            <a:solidFill>
              <a:srgbClr val="47D2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7DE1702-3E48-41AB-DB15-9DFE1CC89A77}"/>
              </a:ext>
            </a:extLst>
          </p:cNvPr>
          <p:cNvSpPr txBox="1"/>
          <p:nvPr/>
        </p:nvSpPr>
        <p:spPr>
          <a:xfrm>
            <a:off x="1066800" y="2260600"/>
            <a:ext cx="495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1300" b="1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毕业前拿到一份 </a:t>
            </a:r>
            <a:r>
              <a:rPr lang="en-US" altLang="zh-CN" sz="1300" b="1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Java </a:t>
            </a:r>
            <a:r>
              <a:rPr lang="zh-CN" altLang="en-US" sz="1300" b="1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后端 </a:t>
            </a:r>
            <a:r>
              <a:rPr lang="en-US" altLang="zh-CN" sz="1300" b="1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offer</a:t>
            </a:r>
            <a:endParaRPr lang="zh-CN" altLang="en-US" sz="1300" b="1">
              <a:solidFill>
                <a:srgbClr val="ECF1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1DBA122-101F-8AB6-8F24-1B560924119D}"/>
              </a:ext>
            </a:extLst>
          </p:cNvPr>
          <p:cNvSpPr txBox="1"/>
          <p:nvPr/>
        </p:nvSpPr>
        <p:spPr>
          <a:xfrm>
            <a:off x="1066800" y="2578100"/>
            <a:ext cx="431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9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经济 </a:t>
            </a:r>
            <a:r>
              <a:rPr lang="en-US" altLang="zh-CN" sz="9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zh-CN" altLang="en-US" sz="9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五年 </a:t>
            </a:r>
            <a:r>
              <a:rPr lang="en-US" altLang="zh-CN" sz="9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2026–2030</a:t>
            </a:r>
            <a:endParaRPr lang="zh-CN" altLang="en-US" sz="950">
              <a:solidFill>
                <a:srgbClr val="9AA6C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7254CB00-92E3-9CD6-4810-E582CCDFF49D}"/>
              </a:ext>
            </a:extLst>
          </p:cNvPr>
          <p:cNvSpPr/>
          <p:nvPr/>
        </p:nvSpPr>
        <p:spPr>
          <a:xfrm>
            <a:off x="1066800" y="2946400"/>
            <a:ext cx="4572000" cy="101600"/>
          </a:xfrm>
          <a:prstGeom prst="roundRect">
            <a:avLst>
              <a:gd name="adj" fmla="val 100000"/>
            </a:avLst>
          </a:prstGeom>
          <a:solidFill>
            <a:srgbClr val="24304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4B38B689-6E5C-5362-53BD-C7BD89D139C7}"/>
              </a:ext>
            </a:extLst>
          </p:cNvPr>
          <p:cNvSpPr/>
          <p:nvPr/>
        </p:nvSpPr>
        <p:spPr>
          <a:xfrm>
            <a:off x="1066800" y="2946400"/>
            <a:ext cx="1143000" cy="101600"/>
          </a:xfrm>
          <a:prstGeom prst="roundRect">
            <a:avLst>
              <a:gd name="adj" fmla="val 100000"/>
            </a:avLst>
          </a:prstGeom>
          <a:solidFill>
            <a:srgbClr val="6C8C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2BE459D-E0D1-0208-7B9C-6752CE519CD5}"/>
              </a:ext>
            </a:extLst>
          </p:cNvPr>
          <p:cNvSpPr txBox="1"/>
          <p:nvPr/>
        </p:nvSpPr>
        <p:spPr>
          <a:xfrm>
            <a:off x="5969000" y="2844800"/>
            <a:ext cx="1168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lang="en-US" altLang="zh-CN" sz="1300" b="1">
                <a:solidFill>
                  <a:srgbClr val="6C8C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25%</a:t>
            </a:r>
            <a:endParaRPr lang="zh-CN" altLang="en-US" sz="1300" b="1">
              <a:solidFill>
                <a:srgbClr val="6C8C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1555A3A7-CF39-851E-A549-5AA91DE9D3A1}"/>
              </a:ext>
            </a:extLst>
          </p:cNvPr>
          <p:cNvSpPr/>
          <p:nvPr/>
        </p:nvSpPr>
        <p:spPr>
          <a:xfrm>
            <a:off x="812800" y="3378200"/>
            <a:ext cx="6858000" cy="1117600"/>
          </a:xfrm>
          <a:prstGeom prst="roundRect">
            <a:avLst>
              <a:gd name="adj" fmla="val 7000"/>
            </a:avLst>
          </a:prstGeom>
          <a:solidFill>
            <a:srgbClr val="182238"/>
          </a:solidFill>
          <a:ln w="11430">
            <a:solidFill>
              <a:srgbClr val="47D2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694989F-B2CD-433B-7DA7-5C01BF864D00}"/>
              </a:ext>
            </a:extLst>
          </p:cNvPr>
          <p:cNvSpPr txBox="1"/>
          <p:nvPr/>
        </p:nvSpPr>
        <p:spPr>
          <a:xfrm>
            <a:off x="1066800" y="3530600"/>
            <a:ext cx="495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1300" b="1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读完 </a:t>
            </a:r>
            <a:r>
              <a:rPr lang="en-US" altLang="zh-CN" sz="1300" b="1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12 </a:t>
            </a:r>
            <a:r>
              <a:rPr lang="zh-CN" altLang="en-US" sz="1300" b="1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本专业以外的书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F38BD91-70CA-ABA1-4710-4DC0D9040616}"/>
              </a:ext>
            </a:extLst>
          </p:cNvPr>
          <p:cNvSpPr txBox="1"/>
          <p:nvPr/>
        </p:nvSpPr>
        <p:spPr>
          <a:xfrm>
            <a:off x="1066800" y="3848100"/>
            <a:ext cx="431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9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文化 </a:t>
            </a:r>
            <a:r>
              <a:rPr lang="en-US" altLang="zh-CN" sz="9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zh-CN" altLang="en-US" sz="9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年度 </a:t>
            </a:r>
            <a:r>
              <a:rPr lang="en-US" altLang="zh-CN" sz="9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2026</a:t>
            </a:r>
            <a:endParaRPr lang="zh-CN" altLang="en-US" sz="950">
              <a:solidFill>
                <a:srgbClr val="9AA6C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782D6058-33F5-9560-D003-60264F0242DF}"/>
              </a:ext>
            </a:extLst>
          </p:cNvPr>
          <p:cNvSpPr/>
          <p:nvPr/>
        </p:nvSpPr>
        <p:spPr>
          <a:xfrm>
            <a:off x="1066800" y="4216400"/>
            <a:ext cx="4572000" cy="101600"/>
          </a:xfrm>
          <a:prstGeom prst="roundRect">
            <a:avLst>
              <a:gd name="adj" fmla="val 100000"/>
            </a:avLst>
          </a:prstGeom>
          <a:solidFill>
            <a:srgbClr val="24304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45C5F527-A4A9-8604-9B99-A82BE121D12C}"/>
              </a:ext>
            </a:extLst>
          </p:cNvPr>
          <p:cNvSpPr/>
          <p:nvPr/>
        </p:nvSpPr>
        <p:spPr>
          <a:xfrm>
            <a:off x="1066800" y="4216400"/>
            <a:ext cx="2286000" cy="101600"/>
          </a:xfrm>
          <a:prstGeom prst="roundRect">
            <a:avLst>
              <a:gd name="adj" fmla="val 100000"/>
            </a:avLst>
          </a:prstGeom>
          <a:solidFill>
            <a:srgbClr val="A07B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36FA86F-24AF-51A7-A325-C466C3235F67}"/>
              </a:ext>
            </a:extLst>
          </p:cNvPr>
          <p:cNvSpPr txBox="1"/>
          <p:nvPr/>
        </p:nvSpPr>
        <p:spPr>
          <a:xfrm>
            <a:off x="5969000" y="4114800"/>
            <a:ext cx="1168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lang="en-US" altLang="zh-CN" sz="1300" b="1">
                <a:solidFill>
                  <a:srgbClr val="A07B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50%</a:t>
            </a:r>
            <a:endParaRPr lang="zh-CN" altLang="en-US" sz="1300" b="1">
              <a:solidFill>
                <a:srgbClr val="A07B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38E48306-D55E-06D7-9CE5-B8015D42424A}"/>
              </a:ext>
            </a:extLst>
          </p:cNvPr>
          <p:cNvSpPr/>
          <p:nvPr/>
        </p:nvSpPr>
        <p:spPr>
          <a:xfrm>
            <a:off x="812800" y="4648200"/>
            <a:ext cx="6858000" cy="1117600"/>
          </a:xfrm>
          <a:prstGeom prst="roundRect">
            <a:avLst>
              <a:gd name="adj" fmla="val 7000"/>
            </a:avLst>
          </a:prstGeom>
          <a:solidFill>
            <a:srgbClr val="182238"/>
          </a:solidFill>
          <a:ln w="11430">
            <a:solidFill>
              <a:srgbClr val="47D2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323C41D-0EFC-8E20-6306-82CD3A4A9B87}"/>
              </a:ext>
            </a:extLst>
          </p:cNvPr>
          <p:cNvSpPr txBox="1"/>
          <p:nvPr/>
        </p:nvSpPr>
        <p:spPr>
          <a:xfrm>
            <a:off x="1066800" y="4800600"/>
            <a:ext cx="495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1300" b="1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每周至少运动三次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638303B-6A7B-228E-014E-20B920873938}"/>
              </a:ext>
            </a:extLst>
          </p:cNvPr>
          <p:cNvSpPr txBox="1"/>
          <p:nvPr/>
        </p:nvSpPr>
        <p:spPr>
          <a:xfrm>
            <a:off x="1066800" y="5118100"/>
            <a:ext cx="431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9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社会 </a:t>
            </a:r>
            <a:r>
              <a:rPr lang="en-US" altLang="zh-CN" sz="9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zh-CN" altLang="en-US" sz="9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季度 </a:t>
            </a:r>
            <a:r>
              <a:rPr lang="en-US" altLang="zh-CN" sz="9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2026Q4</a:t>
            </a:r>
            <a:endParaRPr lang="zh-CN" altLang="en-US" sz="950">
              <a:solidFill>
                <a:srgbClr val="9AA6C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B509C694-4A5E-E09F-FABE-AD6E15999621}"/>
              </a:ext>
            </a:extLst>
          </p:cNvPr>
          <p:cNvSpPr/>
          <p:nvPr/>
        </p:nvSpPr>
        <p:spPr>
          <a:xfrm>
            <a:off x="1066800" y="5486400"/>
            <a:ext cx="4572000" cy="101600"/>
          </a:xfrm>
          <a:prstGeom prst="roundRect">
            <a:avLst>
              <a:gd name="adj" fmla="val 100000"/>
            </a:avLst>
          </a:prstGeom>
          <a:solidFill>
            <a:srgbClr val="24304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9BA9E601-7038-FF1B-D0E5-E8B6C99DAB10}"/>
              </a:ext>
            </a:extLst>
          </p:cNvPr>
          <p:cNvSpPr/>
          <p:nvPr/>
        </p:nvSpPr>
        <p:spPr>
          <a:xfrm>
            <a:off x="1066800" y="5486400"/>
            <a:ext cx="4572000" cy="101600"/>
          </a:xfrm>
          <a:prstGeom prst="roundRect">
            <a:avLst>
              <a:gd name="adj" fmla="val 100000"/>
            </a:avLst>
          </a:prstGeom>
          <a:solidFill>
            <a:srgbClr val="47D2A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100D146-A8E1-6DCF-004B-4A8344137C96}"/>
              </a:ext>
            </a:extLst>
          </p:cNvPr>
          <p:cNvSpPr txBox="1"/>
          <p:nvPr/>
        </p:nvSpPr>
        <p:spPr>
          <a:xfrm>
            <a:off x="5969000" y="5384800"/>
            <a:ext cx="1168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lang="en-US" altLang="zh-CN" sz="1300" b="1">
                <a:solidFill>
                  <a:srgbClr val="47D2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100%</a:t>
            </a:r>
            <a:endParaRPr lang="zh-CN" altLang="en-US" sz="1300" b="1">
              <a:solidFill>
                <a:srgbClr val="47D2A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13204689-4C53-DF46-BBDD-A0515C0E57BC}"/>
              </a:ext>
            </a:extLst>
          </p:cNvPr>
          <p:cNvSpPr txBox="1"/>
          <p:nvPr/>
        </p:nvSpPr>
        <p:spPr>
          <a:xfrm>
            <a:off x="5969000" y="5080000"/>
            <a:ext cx="1168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lang="zh-CN" altLang="en-US" sz="900">
                <a:solidFill>
                  <a:srgbClr val="47D2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已完成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0D2DBD30-2898-29BE-3E3C-06AAEBF98354}"/>
              </a:ext>
            </a:extLst>
          </p:cNvPr>
          <p:cNvSpPr/>
          <p:nvPr/>
        </p:nvSpPr>
        <p:spPr>
          <a:xfrm>
            <a:off x="8026400" y="2108200"/>
            <a:ext cx="3352800" cy="4191000"/>
          </a:xfrm>
          <a:prstGeom prst="roundRect">
            <a:avLst>
              <a:gd name="adj" fmla="val 6000"/>
            </a:avLst>
          </a:prstGeom>
          <a:solidFill>
            <a:srgbClr val="16223A"/>
          </a:solidFill>
          <a:ln w="11430">
            <a:solidFill>
              <a:srgbClr val="47D2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3C9EC2CC-B3FC-C0AC-0046-C24ABCB59757}"/>
              </a:ext>
            </a:extLst>
          </p:cNvPr>
          <p:cNvSpPr txBox="1"/>
          <p:nvPr/>
        </p:nvSpPr>
        <p:spPr>
          <a:xfrm>
            <a:off x="8280400" y="2311400"/>
            <a:ext cx="279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1200" b="1">
                <a:solidFill>
                  <a:srgbClr val="FFC46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进度规则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C62DB134-E542-4ECA-ECB8-85AB6D39CE12}"/>
              </a:ext>
            </a:extLst>
          </p:cNvPr>
          <p:cNvSpPr txBox="1"/>
          <p:nvPr/>
        </p:nvSpPr>
        <p:spPr>
          <a:xfrm>
            <a:off x="8280400" y="2692400"/>
            <a:ext cx="279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70000"/>
              </a:lnSpc>
            </a:pPr>
            <a:r>
              <a:rPr lang="en-US" altLang="zh-CN" sz="110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±10% </a:t>
            </a:r>
            <a:r>
              <a:rPr lang="zh-CN" altLang="en-US" sz="110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快捷调整
</a:t>
            </a:r>
            <a:r>
              <a:rPr lang="en-US" altLang="zh-CN" sz="110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10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夹紧到 </a:t>
            </a:r>
            <a:r>
              <a:rPr lang="en-US" altLang="zh-CN" sz="110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0–100
• 100% </a:t>
            </a:r>
            <a:r>
              <a:rPr lang="zh-CN" altLang="en-US" sz="110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自动完成
</a:t>
            </a:r>
            <a:r>
              <a:rPr lang="en-US" altLang="zh-CN" sz="110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status </a:t>
            </a:r>
            <a:r>
              <a:rPr lang="zh-CN" altLang="en-US" sz="110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同步</a:t>
            </a: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3B2C653E-2E63-B13B-3236-EA8B52023B2E}"/>
              </a:ext>
            </a:extLst>
          </p:cNvPr>
          <p:cNvSpPr/>
          <p:nvPr/>
        </p:nvSpPr>
        <p:spPr>
          <a:xfrm>
            <a:off x="8280400" y="4267200"/>
            <a:ext cx="2844800" cy="812800"/>
          </a:xfrm>
          <a:prstGeom prst="roundRect">
            <a:avLst>
              <a:gd name="adj" fmla="val 5000"/>
            </a:avLst>
          </a:prstGeom>
          <a:solidFill>
            <a:srgbClr val="121C30"/>
          </a:solidFill>
          <a:ln w="11430">
            <a:solidFill>
              <a:srgbClr val="47D2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C65263A7-4172-D5DF-1C5E-B694A4E10619}"/>
              </a:ext>
            </a:extLst>
          </p:cNvPr>
          <p:cNvSpPr txBox="1"/>
          <p:nvPr/>
        </p:nvSpPr>
        <p:spPr>
          <a:xfrm>
            <a:off x="8458200" y="4419600"/>
            <a:ext cx="254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950">
                <a:solidFill>
                  <a:srgbClr val="47D2A0"/>
                </a:solidFill>
                <a:latin typeface="Consolas" panose="020B0609020204030204" pitchFamily="49" charset="0"/>
              </a:rPr>
              <a:t>CASE WHEN ? &gt;= 100
THEN 1 ELSE 0 END</a:t>
            </a:r>
            <a:endParaRPr lang="zh-CN" altLang="en-US" sz="950">
              <a:solidFill>
                <a:srgbClr val="47D2A0"/>
              </a:solidFill>
              <a:latin typeface="Consolas" panose="020B0609020204030204" pitchFamily="49" charset="0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E69685C8-CA1A-15E4-127C-2349008D7B31}"/>
              </a:ext>
            </a:extLst>
          </p:cNvPr>
          <p:cNvSpPr txBox="1"/>
          <p:nvPr/>
        </p:nvSpPr>
        <p:spPr>
          <a:xfrm>
            <a:off x="8280400" y="5257800"/>
            <a:ext cx="2844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90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isFinished() </a:t>
            </a:r>
            <a:r>
              <a:rPr lang="zh-CN" altLang="en-US" sz="90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再用 </a:t>
            </a:r>
            <a:r>
              <a:rPr lang="en-US" altLang="zh-CN" sz="90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progress&gt;=100 </a:t>
            </a:r>
            <a:r>
              <a:rPr lang="zh-CN" altLang="en-US" sz="90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兜底。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25C2944C-BBF7-4D88-8014-A2FDF68D35C3}"/>
              </a:ext>
            </a:extLst>
          </p:cNvPr>
          <p:cNvSpPr txBox="1"/>
          <p:nvPr/>
        </p:nvSpPr>
        <p:spPr>
          <a:xfrm>
            <a:off x="812800" y="5994400"/>
            <a:ext cx="685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zh-CN" sz="950" i="1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25% </a:t>
            </a:r>
            <a:r>
              <a:rPr lang="zh-CN" altLang="en-US" sz="950" i="1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点 </a:t>
            </a:r>
            <a:r>
              <a:rPr lang="en-US" altLang="zh-CN" sz="950" i="1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+10% </a:t>
            </a:r>
            <a:r>
              <a:rPr lang="zh-CN" altLang="en-US" sz="950" i="1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变 </a:t>
            </a:r>
            <a:r>
              <a:rPr lang="en-US" altLang="zh-CN" sz="950" i="1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35%</a:t>
            </a:r>
            <a:r>
              <a:rPr lang="zh-CN" altLang="en-US" sz="950" i="1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；改到 </a:t>
            </a:r>
            <a:r>
              <a:rPr lang="en-US" altLang="zh-CN" sz="950" i="1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100% </a:t>
            </a:r>
            <a:r>
              <a:rPr lang="zh-CN" altLang="en-US" sz="950" i="1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时自动完成。</a:t>
            </a:r>
          </a:p>
        </p:txBody>
      </p:sp>
    </p:spTree>
    <p:extLst>
      <p:ext uri="{BB962C8B-B14F-4D97-AF65-F5344CB8AC3E}">
        <p14:creationId xmlns:p14="http://schemas.microsoft.com/office/powerpoint/2010/main" val="23403938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97E455F9-7301-6552-18CD-9AA37E9FBCED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oundRect">
            <a:avLst>
              <a:gd name="adj" fmla="val 0"/>
            </a:avLst>
          </a:prstGeom>
          <a:solidFill>
            <a:srgbClr val="6C8CFF"/>
          </a:solidFill>
          <a:ln w="11430">
            <a:solidFill>
              <a:srgbClr val="6C8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05EDE928-DFD6-41C2-3AA2-33EF41C2DE34}"/>
              </a:ext>
            </a:extLst>
          </p:cNvPr>
          <p:cNvSpPr/>
          <p:nvPr/>
        </p:nvSpPr>
        <p:spPr>
          <a:xfrm>
            <a:off x="609600" y="508000"/>
            <a:ext cx="50800" cy="1168400"/>
          </a:xfrm>
          <a:prstGeom prst="roundRect">
            <a:avLst>
              <a:gd name="adj" fmla="val 0"/>
            </a:avLst>
          </a:prstGeom>
          <a:solidFill>
            <a:srgbClr val="6C8CFF"/>
          </a:solidFill>
          <a:ln w="11430">
            <a:solidFill>
              <a:srgbClr val="6C8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70AFD95-E35B-1A57-657E-BCE9A9236366}"/>
              </a:ext>
            </a:extLst>
          </p:cNvPr>
          <p:cNvSpPr txBox="1"/>
          <p:nvPr/>
        </p:nvSpPr>
        <p:spPr>
          <a:xfrm>
            <a:off x="812800" y="482600"/>
            <a:ext cx="889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zh-CN" sz="1000" b="1">
                <a:solidFill>
                  <a:srgbClr val="6C8C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BILL</a:t>
            </a:r>
            <a:endParaRPr lang="zh-CN" altLang="en-US" sz="1000" b="1">
              <a:solidFill>
                <a:srgbClr val="6C8C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993B54F-43E0-E10D-1D35-9F7B5E0933FC}"/>
              </a:ext>
            </a:extLst>
          </p:cNvPr>
          <p:cNvSpPr txBox="1"/>
          <p:nvPr/>
        </p:nvSpPr>
        <p:spPr>
          <a:xfrm>
            <a:off x="812800" y="762000"/>
            <a:ext cx="1003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2700" b="1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记账本：金额必须精确到分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7D2A597-9B07-1000-B470-DF96DBD7A4F9}"/>
              </a:ext>
            </a:extLst>
          </p:cNvPr>
          <p:cNvSpPr txBox="1"/>
          <p:nvPr/>
        </p:nvSpPr>
        <p:spPr>
          <a:xfrm>
            <a:off x="812800" y="13208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zh-CN" sz="12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BigDecimal + DECIMAL(12,2) + </a:t>
            </a:r>
            <a:r>
              <a:rPr lang="zh-CN" altLang="en-US" sz="12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月度聚合</a:t>
            </a: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D77DACF4-1290-6A74-72DB-4275FA68642D}"/>
              </a:ext>
            </a:extLst>
          </p:cNvPr>
          <p:cNvCxnSpPr/>
          <p:nvPr/>
        </p:nvCxnSpPr>
        <p:spPr>
          <a:xfrm>
            <a:off x="812800" y="1803400"/>
            <a:ext cx="10566400" cy="0"/>
          </a:xfrm>
          <a:prstGeom prst="straightConnector1">
            <a:avLst/>
          </a:prstGeom>
          <a:ln w="12700">
            <a:solidFill>
              <a:srgbClr val="47D2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0BB0470A-BEFC-A1FA-5A80-47E5094A97A7}"/>
              </a:ext>
            </a:extLst>
          </p:cNvPr>
          <p:cNvSpPr txBox="1"/>
          <p:nvPr/>
        </p:nvSpPr>
        <p:spPr>
          <a:xfrm>
            <a:off x="812800" y="6477000"/>
            <a:ext cx="533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endParaRPr lang="zh-CN" altLang="en-US" sz="950" dirty="0">
              <a:solidFill>
                <a:srgbClr val="9AA6C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DCB17B0-DBB0-799A-DA0C-D6E0B63A5200}"/>
              </a:ext>
            </a:extLst>
          </p:cNvPr>
          <p:cNvSpPr txBox="1"/>
          <p:nvPr/>
        </p:nvSpPr>
        <p:spPr>
          <a:xfrm>
            <a:off x="10363200" y="6477000"/>
            <a:ext cx="101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lang="en-US" altLang="zh-CN" sz="9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09 / 12</a:t>
            </a:r>
            <a:endParaRPr lang="zh-CN" altLang="en-US" sz="950">
              <a:solidFill>
                <a:srgbClr val="9AA6C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047F6302-515E-53DD-9241-4BFE5CF266FD}"/>
              </a:ext>
            </a:extLst>
          </p:cNvPr>
          <p:cNvSpPr/>
          <p:nvPr/>
        </p:nvSpPr>
        <p:spPr>
          <a:xfrm>
            <a:off x="812800" y="2108200"/>
            <a:ext cx="3149600" cy="990600"/>
          </a:xfrm>
          <a:prstGeom prst="roundRect">
            <a:avLst>
              <a:gd name="adj" fmla="val 8000"/>
            </a:avLst>
          </a:prstGeom>
          <a:solidFill>
            <a:srgbClr val="182238"/>
          </a:solidFill>
          <a:ln w="11430">
            <a:solidFill>
              <a:srgbClr val="47D2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A6DA687-EB15-0DEA-8C44-7DA919C74BA8}"/>
              </a:ext>
            </a:extLst>
          </p:cNvPr>
          <p:cNvSpPr txBox="1"/>
          <p:nvPr/>
        </p:nvSpPr>
        <p:spPr>
          <a:xfrm>
            <a:off x="965200" y="2235200"/>
            <a:ext cx="2844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US" altLang="zh-CN" sz="2600" b="1">
                <a:solidFill>
                  <a:srgbClr val="47D2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¥8000.00</a:t>
            </a:r>
            <a:endParaRPr lang="zh-CN" altLang="en-US" sz="2600" b="1">
              <a:solidFill>
                <a:srgbClr val="47D2A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7ACB74C-6EAC-5E56-60DD-1035E5449D9D}"/>
              </a:ext>
            </a:extLst>
          </p:cNvPr>
          <p:cNvSpPr txBox="1"/>
          <p:nvPr/>
        </p:nvSpPr>
        <p:spPr>
          <a:xfrm>
            <a:off x="965200" y="2705100"/>
            <a:ext cx="2844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lang="zh-CN" altLang="en-US" sz="110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本月收入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C5E432B8-3680-5204-CA67-4999B7F04892}"/>
              </a:ext>
            </a:extLst>
          </p:cNvPr>
          <p:cNvSpPr/>
          <p:nvPr/>
        </p:nvSpPr>
        <p:spPr>
          <a:xfrm>
            <a:off x="4292600" y="2108200"/>
            <a:ext cx="3149600" cy="990600"/>
          </a:xfrm>
          <a:prstGeom prst="roundRect">
            <a:avLst>
              <a:gd name="adj" fmla="val 8000"/>
            </a:avLst>
          </a:prstGeom>
          <a:solidFill>
            <a:srgbClr val="182238"/>
          </a:solidFill>
          <a:ln w="11430">
            <a:solidFill>
              <a:srgbClr val="47D2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950AE4B-068A-5F6C-6F22-F59A36DE5D00}"/>
              </a:ext>
            </a:extLst>
          </p:cNvPr>
          <p:cNvSpPr txBox="1"/>
          <p:nvPr/>
        </p:nvSpPr>
        <p:spPr>
          <a:xfrm>
            <a:off x="4445000" y="2235200"/>
            <a:ext cx="2844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US" altLang="zh-CN" sz="2600" b="1">
                <a:solidFill>
                  <a:srgbClr val="FF6B6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¥2346.50</a:t>
            </a:r>
            <a:endParaRPr lang="zh-CN" altLang="en-US" sz="2600" b="1">
              <a:solidFill>
                <a:srgbClr val="FF6B6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C11C755-4EFD-4BBC-CEF2-9C009C4FD33E}"/>
              </a:ext>
            </a:extLst>
          </p:cNvPr>
          <p:cNvSpPr txBox="1"/>
          <p:nvPr/>
        </p:nvSpPr>
        <p:spPr>
          <a:xfrm>
            <a:off x="4445000" y="2705100"/>
            <a:ext cx="2844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lang="zh-CN" altLang="en-US" sz="110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本月支出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42542EE8-A6A4-A0B1-95FC-1973666B4F2F}"/>
              </a:ext>
            </a:extLst>
          </p:cNvPr>
          <p:cNvSpPr/>
          <p:nvPr/>
        </p:nvSpPr>
        <p:spPr>
          <a:xfrm>
            <a:off x="7772400" y="2108200"/>
            <a:ext cx="3149600" cy="990600"/>
          </a:xfrm>
          <a:prstGeom prst="roundRect">
            <a:avLst>
              <a:gd name="adj" fmla="val 8000"/>
            </a:avLst>
          </a:prstGeom>
          <a:solidFill>
            <a:srgbClr val="182238"/>
          </a:solidFill>
          <a:ln w="11430">
            <a:solidFill>
              <a:srgbClr val="47D2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CA8752F-8E24-B696-CE76-7B10D2C2320A}"/>
              </a:ext>
            </a:extLst>
          </p:cNvPr>
          <p:cNvSpPr txBox="1"/>
          <p:nvPr/>
        </p:nvSpPr>
        <p:spPr>
          <a:xfrm>
            <a:off x="7924800" y="2235200"/>
            <a:ext cx="2844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US" altLang="zh-CN" sz="2600" b="1">
                <a:solidFill>
                  <a:srgbClr val="6C8C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¥5653.50</a:t>
            </a:r>
            <a:endParaRPr lang="zh-CN" altLang="en-US" sz="2600" b="1">
              <a:solidFill>
                <a:srgbClr val="6C8C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910EC7C-1F2B-3262-86E6-259708D5DBE1}"/>
              </a:ext>
            </a:extLst>
          </p:cNvPr>
          <p:cNvSpPr txBox="1"/>
          <p:nvPr/>
        </p:nvSpPr>
        <p:spPr>
          <a:xfrm>
            <a:off x="7924800" y="2705100"/>
            <a:ext cx="2844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lang="zh-CN" altLang="en-US" sz="110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本月结余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B297F889-774F-8E35-C4FF-9E8D29EAD96A}"/>
              </a:ext>
            </a:extLst>
          </p:cNvPr>
          <p:cNvSpPr/>
          <p:nvPr/>
        </p:nvSpPr>
        <p:spPr>
          <a:xfrm>
            <a:off x="812800" y="3352800"/>
            <a:ext cx="6604000" cy="2336800"/>
          </a:xfrm>
          <a:prstGeom prst="roundRect">
            <a:avLst>
              <a:gd name="adj" fmla="val 5000"/>
            </a:avLst>
          </a:prstGeom>
          <a:solidFill>
            <a:srgbClr val="182238"/>
          </a:solidFill>
          <a:ln w="11430">
            <a:solidFill>
              <a:srgbClr val="47D2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24B2707-6CFD-84F2-1917-413C585D0BB9}"/>
              </a:ext>
            </a:extLst>
          </p:cNvPr>
          <p:cNvSpPr txBox="1"/>
          <p:nvPr/>
        </p:nvSpPr>
        <p:spPr>
          <a:xfrm>
            <a:off x="1092200" y="35560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1400" b="1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支出分类占比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472182A-A8CC-093F-23DC-01E9055DE1C3}"/>
              </a:ext>
            </a:extLst>
          </p:cNvPr>
          <p:cNvSpPr txBox="1"/>
          <p:nvPr/>
        </p:nvSpPr>
        <p:spPr>
          <a:xfrm>
            <a:off x="5334000" y="3606800"/>
            <a:ext cx="177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lang="zh-CN" altLang="en-US" sz="90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按金额从大到小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F3E9FA5-FDBA-0E90-1D10-C3BB309F9B45}"/>
              </a:ext>
            </a:extLst>
          </p:cNvPr>
          <p:cNvSpPr txBox="1"/>
          <p:nvPr/>
        </p:nvSpPr>
        <p:spPr>
          <a:xfrm>
            <a:off x="1092200" y="3886200"/>
            <a:ext cx="965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105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房租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9F2A73F-E127-0509-D6A9-993282C928FB}"/>
              </a:ext>
            </a:extLst>
          </p:cNvPr>
          <p:cNvSpPr txBox="1"/>
          <p:nvPr/>
        </p:nvSpPr>
        <p:spPr>
          <a:xfrm>
            <a:off x="2108200" y="3886200"/>
            <a:ext cx="127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lang="en-US" altLang="zh-CN" sz="100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¥2200.00</a:t>
            </a:r>
            <a:endParaRPr lang="zh-CN" altLang="en-US" sz="1000">
              <a:solidFill>
                <a:srgbClr val="9AA6C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8B031D36-0AE1-BB3C-9584-493594609124}"/>
              </a:ext>
            </a:extLst>
          </p:cNvPr>
          <p:cNvSpPr/>
          <p:nvPr/>
        </p:nvSpPr>
        <p:spPr>
          <a:xfrm>
            <a:off x="3581400" y="3962400"/>
            <a:ext cx="2159000" cy="114300"/>
          </a:xfrm>
          <a:prstGeom prst="roundRect">
            <a:avLst>
              <a:gd name="adj" fmla="val 100000"/>
            </a:avLst>
          </a:prstGeom>
          <a:solidFill>
            <a:srgbClr val="24304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7F24AF09-8C6A-DE88-8786-E20F03E260B0}"/>
              </a:ext>
            </a:extLst>
          </p:cNvPr>
          <p:cNvSpPr/>
          <p:nvPr/>
        </p:nvSpPr>
        <p:spPr>
          <a:xfrm>
            <a:off x="3581400" y="3962400"/>
            <a:ext cx="2032000" cy="114300"/>
          </a:xfrm>
          <a:prstGeom prst="roundRect">
            <a:avLst>
              <a:gd name="adj" fmla="val 100000"/>
            </a:avLst>
          </a:prstGeom>
          <a:solidFill>
            <a:srgbClr val="FFC46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D00C8325-A652-25E1-8BEB-1767988BED36}"/>
              </a:ext>
            </a:extLst>
          </p:cNvPr>
          <p:cNvSpPr txBox="1"/>
          <p:nvPr/>
        </p:nvSpPr>
        <p:spPr>
          <a:xfrm>
            <a:off x="5867400" y="3886200"/>
            <a:ext cx="101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lang="en-US" altLang="zh-CN" sz="1000" b="1">
                <a:solidFill>
                  <a:srgbClr val="FFC46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94%</a:t>
            </a:r>
            <a:endParaRPr lang="zh-CN" altLang="en-US" sz="1000" b="1">
              <a:solidFill>
                <a:srgbClr val="FFC46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8444A77-3CF7-3277-EC27-ACF17A0AC506}"/>
              </a:ext>
            </a:extLst>
          </p:cNvPr>
          <p:cNvSpPr txBox="1"/>
          <p:nvPr/>
        </p:nvSpPr>
        <p:spPr>
          <a:xfrm>
            <a:off x="1092200" y="4292600"/>
            <a:ext cx="965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105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学习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265093D3-7614-43AE-5DAE-7F2FDD025628}"/>
              </a:ext>
            </a:extLst>
          </p:cNvPr>
          <p:cNvSpPr txBox="1"/>
          <p:nvPr/>
        </p:nvSpPr>
        <p:spPr>
          <a:xfrm>
            <a:off x="2108200" y="4292600"/>
            <a:ext cx="127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lang="en-US" altLang="zh-CN" sz="100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¥89.00</a:t>
            </a:r>
            <a:endParaRPr lang="zh-CN" altLang="en-US" sz="1000">
              <a:solidFill>
                <a:srgbClr val="9AA6C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ED41B04C-914B-EA99-21D4-E084B8C0D5CC}"/>
              </a:ext>
            </a:extLst>
          </p:cNvPr>
          <p:cNvSpPr/>
          <p:nvPr/>
        </p:nvSpPr>
        <p:spPr>
          <a:xfrm>
            <a:off x="3581400" y="4368800"/>
            <a:ext cx="2159000" cy="114300"/>
          </a:xfrm>
          <a:prstGeom prst="roundRect">
            <a:avLst>
              <a:gd name="adj" fmla="val 100000"/>
            </a:avLst>
          </a:prstGeom>
          <a:solidFill>
            <a:srgbClr val="24304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35AC4DA6-C224-E4D9-8CAA-891C72CD58D5}"/>
              </a:ext>
            </a:extLst>
          </p:cNvPr>
          <p:cNvSpPr/>
          <p:nvPr/>
        </p:nvSpPr>
        <p:spPr>
          <a:xfrm>
            <a:off x="3581400" y="4368800"/>
            <a:ext cx="88900" cy="114300"/>
          </a:xfrm>
          <a:prstGeom prst="roundRect">
            <a:avLst>
              <a:gd name="adj" fmla="val 100000"/>
            </a:avLst>
          </a:prstGeom>
          <a:solidFill>
            <a:srgbClr val="A07B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13A01FA4-5AB4-0AA3-96BB-264FD2A79008}"/>
              </a:ext>
            </a:extLst>
          </p:cNvPr>
          <p:cNvSpPr txBox="1"/>
          <p:nvPr/>
        </p:nvSpPr>
        <p:spPr>
          <a:xfrm>
            <a:off x="5867400" y="4292600"/>
            <a:ext cx="101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lang="en-US" altLang="zh-CN" sz="1000" b="1">
                <a:solidFill>
                  <a:srgbClr val="A07B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4%</a:t>
            </a:r>
            <a:endParaRPr lang="zh-CN" altLang="en-US" sz="1000" b="1">
              <a:solidFill>
                <a:srgbClr val="A07B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823FD16D-D0EC-8AF6-E8BA-6132F778A09D}"/>
              </a:ext>
            </a:extLst>
          </p:cNvPr>
          <p:cNvSpPr txBox="1"/>
          <p:nvPr/>
        </p:nvSpPr>
        <p:spPr>
          <a:xfrm>
            <a:off x="1092200" y="4699000"/>
            <a:ext cx="965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105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餐饮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A0C49498-091F-2534-7E40-628ABF02640C}"/>
              </a:ext>
            </a:extLst>
          </p:cNvPr>
          <p:cNvSpPr txBox="1"/>
          <p:nvPr/>
        </p:nvSpPr>
        <p:spPr>
          <a:xfrm>
            <a:off x="2108200" y="4699000"/>
            <a:ext cx="127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lang="en-US" altLang="zh-CN" sz="100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¥45.50</a:t>
            </a:r>
            <a:endParaRPr lang="zh-CN" altLang="en-US" sz="1000">
              <a:solidFill>
                <a:srgbClr val="9AA6C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3C985545-FEFD-3FDC-F874-56B573708696}"/>
              </a:ext>
            </a:extLst>
          </p:cNvPr>
          <p:cNvSpPr/>
          <p:nvPr/>
        </p:nvSpPr>
        <p:spPr>
          <a:xfrm>
            <a:off x="3581400" y="4775200"/>
            <a:ext cx="2159000" cy="114300"/>
          </a:xfrm>
          <a:prstGeom prst="roundRect">
            <a:avLst>
              <a:gd name="adj" fmla="val 100000"/>
            </a:avLst>
          </a:prstGeom>
          <a:solidFill>
            <a:srgbClr val="24304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19A6413C-7083-2147-50E9-DBA223F0A546}"/>
              </a:ext>
            </a:extLst>
          </p:cNvPr>
          <p:cNvSpPr/>
          <p:nvPr/>
        </p:nvSpPr>
        <p:spPr>
          <a:xfrm>
            <a:off x="3581400" y="4775200"/>
            <a:ext cx="38100" cy="114300"/>
          </a:xfrm>
          <a:prstGeom prst="roundRect">
            <a:avLst>
              <a:gd name="adj" fmla="val 100000"/>
            </a:avLst>
          </a:prstGeom>
          <a:solidFill>
            <a:srgbClr val="6C8C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6BA92177-A180-369D-E97D-700C9B2A360B}"/>
              </a:ext>
            </a:extLst>
          </p:cNvPr>
          <p:cNvSpPr txBox="1"/>
          <p:nvPr/>
        </p:nvSpPr>
        <p:spPr>
          <a:xfrm>
            <a:off x="5867400" y="4699000"/>
            <a:ext cx="101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lang="en-US" altLang="zh-CN" sz="1000" b="1">
                <a:solidFill>
                  <a:srgbClr val="6C8C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2%</a:t>
            </a:r>
            <a:endParaRPr lang="zh-CN" altLang="en-US" sz="1000" b="1">
              <a:solidFill>
                <a:srgbClr val="6C8C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93B455C2-BD78-1069-2F53-EE9281359527}"/>
              </a:ext>
            </a:extLst>
          </p:cNvPr>
          <p:cNvSpPr txBox="1"/>
          <p:nvPr/>
        </p:nvSpPr>
        <p:spPr>
          <a:xfrm>
            <a:off x="1092200" y="5105400"/>
            <a:ext cx="965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105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交通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6B9D7482-6F8D-13FD-A6C6-4026417A6E23}"/>
              </a:ext>
            </a:extLst>
          </p:cNvPr>
          <p:cNvSpPr txBox="1"/>
          <p:nvPr/>
        </p:nvSpPr>
        <p:spPr>
          <a:xfrm>
            <a:off x="2108200" y="5105400"/>
            <a:ext cx="127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lang="en-US" altLang="zh-CN" sz="100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¥12.00</a:t>
            </a:r>
            <a:endParaRPr lang="zh-CN" altLang="en-US" sz="1000">
              <a:solidFill>
                <a:srgbClr val="9AA6C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EA32CCAE-46BC-9200-D6D2-8F1D051BC052}"/>
              </a:ext>
            </a:extLst>
          </p:cNvPr>
          <p:cNvSpPr/>
          <p:nvPr/>
        </p:nvSpPr>
        <p:spPr>
          <a:xfrm>
            <a:off x="3581400" y="5181600"/>
            <a:ext cx="2159000" cy="114300"/>
          </a:xfrm>
          <a:prstGeom prst="roundRect">
            <a:avLst>
              <a:gd name="adj" fmla="val 100000"/>
            </a:avLst>
          </a:prstGeom>
          <a:solidFill>
            <a:srgbClr val="24304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613631C0-0AD0-7131-26DF-8ED7C299E6C9}"/>
              </a:ext>
            </a:extLst>
          </p:cNvPr>
          <p:cNvSpPr/>
          <p:nvPr/>
        </p:nvSpPr>
        <p:spPr>
          <a:xfrm>
            <a:off x="3581400" y="5181600"/>
            <a:ext cx="25400" cy="114300"/>
          </a:xfrm>
          <a:prstGeom prst="roundRect">
            <a:avLst>
              <a:gd name="adj" fmla="val 100000"/>
            </a:avLst>
          </a:prstGeom>
          <a:solidFill>
            <a:srgbClr val="47D2A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492C474E-62FE-1C23-B055-D94A1483D92D}"/>
              </a:ext>
            </a:extLst>
          </p:cNvPr>
          <p:cNvSpPr txBox="1"/>
          <p:nvPr/>
        </p:nvSpPr>
        <p:spPr>
          <a:xfrm>
            <a:off x="5867400" y="5105400"/>
            <a:ext cx="101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lang="en-US" altLang="zh-CN" sz="1000" b="1">
                <a:solidFill>
                  <a:srgbClr val="47D2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1%</a:t>
            </a:r>
            <a:endParaRPr lang="zh-CN" altLang="en-US" sz="1000" b="1">
              <a:solidFill>
                <a:srgbClr val="47D2A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8855ADD3-2616-501F-8A6A-61308FF1A64F}"/>
              </a:ext>
            </a:extLst>
          </p:cNvPr>
          <p:cNvSpPr txBox="1"/>
          <p:nvPr/>
        </p:nvSpPr>
        <p:spPr>
          <a:xfrm>
            <a:off x="1092200" y="5384800"/>
            <a:ext cx="584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850" i="1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占比独立四舍五入，所以合计可能是 </a:t>
            </a:r>
            <a:r>
              <a:rPr lang="en-US" altLang="zh-CN" sz="850" i="1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101%</a:t>
            </a:r>
            <a:r>
              <a:rPr lang="zh-CN" altLang="en-US" sz="850" i="1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FAF8D6C6-60CA-B254-1F2E-8359D5FF7494}"/>
              </a:ext>
            </a:extLst>
          </p:cNvPr>
          <p:cNvSpPr/>
          <p:nvPr/>
        </p:nvSpPr>
        <p:spPr>
          <a:xfrm>
            <a:off x="7772400" y="3352800"/>
            <a:ext cx="3606800" cy="2336800"/>
          </a:xfrm>
          <a:prstGeom prst="roundRect">
            <a:avLst>
              <a:gd name="adj" fmla="val 6000"/>
            </a:avLst>
          </a:prstGeom>
          <a:solidFill>
            <a:srgbClr val="16223A"/>
          </a:solidFill>
          <a:ln w="11430">
            <a:solidFill>
              <a:srgbClr val="47D2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4767CD06-18AF-27E6-B4EB-C5FA280C0EEF}"/>
              </a:ext>
            </a:extLst>
          </p:cNvPr>
          <p:cNvSpPr txBox="1"/>
          <p:nvPr/>
        </p:nvSpPr>
        <p:spPr>
          <a:xfrm>
            <a:off x="8026400" y="35560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1200" b="1">
                <a:solidFill>
                  <a:srgbClr val="FFC46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上月对照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B7DC5231-A611-5786-90C2-AB3541D001AE}"/>
              </a:ext>
            </a:extLst>
          </p:cNvPr>
          <p:cNvSpPr txBox="1"/>
          <p:nvPr/>
        </p:nvSpPr>
        <p:spPr>
          <a:xfrm>
            <a:off x="8026400" y="39878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1700" b="1">
                <a:solidFill>
                  <a:srgbClr val="FF6B6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支出 </a:t>
            </a:r>
            <a:r>
              <a:rPr lang="en-US" altLang="zh-CN" sz="1700" b="1">
                <a:solidFill>
                  <a:srgbClr val="FF6B6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¥120.00</a:t>
            </a:r>
            <a:endParaRPr lang="zh-CN" altLang="en-US" sz="1700" b="1">
              <a:solidFill>
                <a:srgbClr val="FF6B6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F152A611-FB86-4D42-A3D8-CCC533FC7078}"/>
              </a:ext>
            </a:extLst>
          </p:cNvPr>
          <p:cNvSpPr txBox="1"/>
          <p:nvPr/>
        </p:nvSpPr>
        <p:spPr>
          <a:xfrm>
            <a:off x="8026400" y="44196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1700" b="1">
                <a:solidFill>
                  <a:srgbClr val="6C8C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结余 </a:t>
            </a:r>
            <a:r>
              <a:rPr lang="en-US" altLang="zh-CN" sz="1700" b="1">
                <a:solidFill>
                  <a:srgbClr val="6C8C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-¥120.00</a:t>
            </a:r>
            <a:endParaRPr lang="zh-CN" altLang="en-US" sz="1700" b="1">
              <a:solidFill>
                <a:srgbClr val="6C8C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CC29046B-9578-C655-81CC-4631B41F4C0D}"/>
              </a:ext>
            </a:extLst>
          </p:cNvPr>
          <p:cNvSpPr txBox="1"/>
          <p:nvPr/>
        </p:nvSpPr>
        <p:spPr>
          <a:xfrm>
            <a:off x="8026400" y="49530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5000"/>
              </a:lnSpc>
            </a:pPr>
            <a:r>
              <a:rPr lang="zh-CN" altLang="en-US" sz="9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切月份后列表、统计、分类同步变化，说明按月过滤生效。</a:t>
            </a:r>
          </a:p>
        </p:txBody>
      </p: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57F3B2C3-5712-BDBD-F99E-DED7FAF66176}"/>
              </a:ext>
            </a:extLst>
          </p:cNvPr>
          <p:cNvSpPr/>
          <p:nvPr/>
        </p:nvSpPr>
        <p:spPr>
          <a:xfrm>
            <a:off x="812800" y="5943600"/>
            <a:ext cx="2413000" cy="381000"/>
          </a:xfrm>
          <a:prstGeom prst="roundRect">
            <a:avLst>
              <a:gd name="adj" fmla="val 16000"/>
            </a:avLst>
          </a:prstGeom>
          <a:solidFill>
            <a:srgbClr val="121C30"/>
          </a:solidFill>
          <a:ln w="11430">
            <a:solidFill>
              <a:srgbClr val="47D2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584EB72C-C410-3B65-FACA-DBEAD9F1D847}"/>
              </a:ext>
            </a:extLst>
          </p:cNvPr>
          <p:cNvSpPr txBox="1"/>
          <p:nvPr/>
        </p:nvSpPr>
        <p:spPr>
          <a:xfrm>
            <a:off x="812800" y="6032500"/>
            <a:ext cx="241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US" altLang="zh-CN" sz="900">
                <a:solidFill>
                  <a:srgbClr val="47D2A0"/>
                </a:solidFill>
                <a:latin typeface="Consolas" panose="020B0609020204030204" pitchFamily="49" charset="0"/>
              </a:rPr>
              <a:t>BigDecimal</a:t>
            </a:r>
            <a:endParaRPr lang="zh-CN" altLang="en-US" sz="900">
              <a:solidFill>
                <a:srgbClr val="47D2A0"/>
              </a:solidFill>
              <a:latin typeface="Consolas" panose="020B0609020204030204" pitchFamily="49" charset="0"/>
            </a:endParaRPr>
          </a:p>
        </p:txBody>
      </p: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C314E824-64DC-C471-54A0-31861CAB7483}"/>
              </a:ext>
            </a:extLst>
          </p:cNvPr>
          <p:cNvSpPr/>
          <p:nvPr/>
        </p:nvSpPr>
        <p:spPr>
          <a:xfrm>
            <a:off x="3403600" y="5943600"/>
            <a:ext cx="2413000" cy="381000"/>
          </a:xfrm>
          <a:prstGeom prst="roundRect">
            <a:avLst>
              <a:gd name="adj" fmla="val 16000"/>
            </a:avLst>
          </a:prstGeom>
          <a:solidFill>
            <a:srgbClr val="121C30"/>
          </a:solidFill>
          <a:ln w="11430">
            <a:solidFill>
              <a:srgbClr val="47D2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B3961BAF-4C95-498D-ED7A-263105ED5168}"/>
              </a:ext>
            </a:extLst>
          </p:cNvPr>
          <p:cNvSpPr txBox="1"/>
          <p:nvPr/>
        </p:nvSpPr>
        <p:spPr>
          <a:xfrm>
            <a:off x="3403600" y="6032500"/>
            <a:ext cx="241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US" altLang="zh-CN" sz="900">
                <a:solidFill>
                  <a:srgbClr val="47D2A0"/>
                </a:solidFill>
                <a:latin typeface="Consolas" panose="020B0609020204030204" pitchFamily="49" charset="0"/>
              </a:rPr>
              <a:t>DECIMAL(12,2)</a:t>
            </a:r>
            <a:endParaRPr lang="zh-CN" altLang="en-US" sz="900">
              <a:solidFill>
                <a:srgbClr val="47D2A0"/>
              </a:solidFill>
              <a:latin typeface="Consolas" panose="020B0609020204030204" pitchFamily="49" charset="0"/>
            </a:endParaRPr>
          </a:p>
        </p:txBody>
      </p: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3A525B52-90E6-1A23-B996-F03ACB44FB09}"/>
              </a:ext>
            </a:extLst>
          </p:cNvPr>
          <p:cNvSpPr/>
          <p:nvPr/>
        </p:nvSpPr>
        <p:spPr>
          <a:xfrm>
            <a:off x="5994400" y="5943600"/>
            <a:ext cx="2413000" cy="381000"/>
          </a:xfrm>
          <a:prstGeom prst="roundRect">
            <a:avLst>
              <a:gd name="adj" fmla="val 16000"/>
            </a:avLst>
          </a:prstGeom>
          <a:solidFill>
            <a:srgbClr val="121C30"/>
          </a:solidFill>
          <a:ln w="11430">
            <a:solidFill>
              <a:srgbClr val="47D2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1C158275-FE3F-C41D-A2FE-7E1F66DDFE5D}"/>
              </a:ext>
            </a:extLst>
          </p:cNvPr>
          <p:cNvSpPr txBox="1"/>
          <p:nvPr/>
        </p:nvSpPr>
        <p:spPr>
          <a:xfrm>
            <a:off x="5994400" y="6032500"/>
            <a:ext cx="241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US" altLang="zh-CN" sz="900">
                <a:solidFill>
                  <a:srgbClr val="47D2A0"/>
                </a:solidFill>
                <a:latin typeface="Consolas" panose="020B0609020204030204" pitchFamily="49" charset="0"/>
              </a:rPr>
              <a:t>COALESCE(SUM,0)</a:t>
            </a:r>
            <a:endParaRPr lang="zh-CN" altLang="en-US" sz="900">
              <a:solidFill>
                <a:srgbClr val="47D2A0"/>
              </a:solidFill>
              <a:latin typeface="Consolas" panose="020B0609020204030204" pitchFamily="49" charset="0"/>
            </a:endParaRPr>
          </a:p>
        </p:txBody>
      </p:sp>
      <p:sp>
        <p:nvSpPr>
          <p:cNvPr id="54" name="矩形: 圆角 53">
            <a:extLst>
              <a:ext uri="{FF2B5EF4-FFF2-40B4-BE49-F238E27FC236}">
                <a16:creationId xmlns:a16="http://schemas.microsoft.com/office/drawing/2014/main" id="{A1F57C16-BFDC-E790-FAF4-C41FAA865083}"/>
              </a:ext>
            </a:extLst>
          </p:cNvPr>
          <p:cNvSpPr/>
          <p:nvPr/>
        </p:nvSpPr>
        <p:spPr>
          <a:xfrm>
            <a:off x="8585200" y="5943600"/>
            <a:ext cx="2413000" cy="381000"/>
          </a:xfrm>
          <a:prstGeom prst="roundRect">
            <a:avLst>
              <a:gd name="adj" fmla="val 16000"/>
            </a:avLst>
          </a:prstGeom>
          <a:solidFill>
            <a:srgbClr val="121C30"/>
          </a:solidFill>
          <a:ln w="11430">
            <a:solidFill>
              <a:srgbClr val="47D2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9F698199-3F9F-11E5-9684-EC215F3FA077}"/>
              </a:ext>
            </a:extLst>
          </p:cNvPr>
          <p:cNvSpPr txBox="1"/>
          <p:nvPr/>
        </p:nvSpPr>
        <p:spPr>
          <a:xfrm>
            <a:off x="8585200" y="6032500"/>
            <a:ext cx="241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US" altLang="zh-CN" sz="900">
                <a:solidFill>
                  <a:srgbClr val="47D2A0"/>
                </a:solidFill>
                <a:latin typeface="Consolas" panose="020B0609020204030204" pitchFamily="49" charset="0"/>
              </a:rPr>
              <a:t>DATE_FORMAT</a:t>
            </a:r>
            <a:endParaRPr lang="zh-CN" altLang="en-US" sz="900">
              <a:solidFill>
                <a:srgbClr val="47D2A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01037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17792163-D77D-62A8-694E-6270A837BB7B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oundRect">
            <a:avLst>
              <a:gd name="adj" fmla="val 0"/>
            </a:avLst>
          </a:prstGeom>
          <a:solidFill>
            <a:srgbClr val="6C8CFF"/>
          </a:solidFill>
          <a:ln w="11430">
            <a:solidFill>
              <a:srgbClr val="6C8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8F01B0B6-0E56-FD5A-5C7E-33025A83C298}"/>
              </a:ext>
            </a:extLst>
          </p:cNvPr>
          <p:cNvSpPr/>
          <p:nvPr/>
        </p:nvSpPr>
        <p:spPr>
          <a:xfrm>
            <a:off x="609600" y="508000"/>
            <a:ext cx="50800" cy="1168400"/>
          </a:xfrm>
          <a:prstGeom prst="roundRect">
            <a:avLst>
              <a:gd name="adj" fmla="val 0"/>
            </a:avLst>
          </a:prstGeom>
          <a:solidFill>
            <a:srgbClr val="6C8CFF"/>
          </a:solidFill>
          <a:ln w="11430">
            <a:solidFill>
              <a:srgbClr val="6C8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DC26AE9-A54A-0577-DA9E-BEFFF6911BF6}"/>
              </a:ext>
            </a:extLst>
          </p:cNvPr>
          <p:cNvSpPr txBox="1"/>
          <p:nvPr/>
        </p:nvSpPr>
        <p:spPr>
          <a:xfrm>
            <a:off x="812800" y="482600"/>
            <a:ext cx="889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zh-CN" sz="1000" b="1">
                <a:solidFill>
                  <a:srgbClr val="6C8C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DELIVERY</a:t>
            </a:r>
            <a:endParaRPr lang="zh-CN" altLang="en-US" sz="1000" b="1">
              <a:solidFill>
                <a:srgbClr val="6C8C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8E51107-4F7D-5E71-F71F-F76795A39417}"/>
              </a:ext>
            </a:extLst>
          </p:cNvPr>
          <p:cNvSpPr txBox="1"/>
          <p:nvPr/>
        </p:nvSpPr>
        <p:spPr>
          <a:xfrm>
            <a:off x="812800" y="762000"/>
            <a:ext cx="1003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2700" b="1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测试与交付：能跑，也能证明它跑过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9753198-1CF1-01F1-492C-3D94024482DC}"/>
              </a:ext>
            </a:extLst>
          </p:cNvPr>
          <p:cNvSpPr txBox="1"/>
          <p:nvPr/>
        </p:nvSpPr>
        <p:spPr>
          <a:xfrm>
            <a:off x="812800" y="13208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12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验收清单、权限边界、</a:t>
            </a:r>
            <a:r>
              <a:rPr lang="en-US" altLang="zh-CN" sz="12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Git </a:t>
            </a:r>
            <a:r>
              <a:rPr lang="zh-CN" altLang="en-US" sz="12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版本、部署包</a:t>
            </a: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7156625C-CADB-60A4-A919-67FBBC72CD5C}"/>
              </a:ext>
            </a:extLst>
          </p:cNvPr>
          <p:cNvCxnSpPr/>
          <p:nvPr/>
        </p:nvCxnSpPr>
        <p:spPr>
          <a:xfrm>
            <a:off x="812800" y="1803400"/>
            <a:ext cx="10566400" cy="0"/>
          </a:xfrm>
          <a:prstGeom prst="straightConnector1">
            <a:avLst/>
          </a:prstGeom>
          <a:ln w="12700">
            <a:solidFill>
              <a:srgbClr val="47D2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5AE85374-4EC9-BD46-B3CA-F0F46169037F}"/>
              </a:ext>
            </a:extLst>
          </p:cNvPr>
          <p:cNvSpPr txBox="1"/>
          <p:nvPr/>
        </p:nvSpPr>
        <p:spPr>
          <a:xfrm>
            <a:off x="812800" y="6477000"/>
            <a:ext cx="533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endParaRPr lang="zh-CN" altLang="en-US" sz="950" dirty="0">
              <a:solidFill>
                <a:srgbClr val="9AA6C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73159CE-3001-54D7-8434-47F78542B3AC}"/>
              </a:ext>
            </a:extLst>
          </p:cNvPr>
          <p:cNvSpPr txBox="1"/>
          <p:nvPr/>
        </p:nvSpPr>
        <p:spPr>
          <a:xfrm>
            <a:off x="10363200" y="6477000"/>
            <a:ext cx="101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lang="en-US" altLang="zh-CN" sz="9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 / 12</a:t>
            </a:r>
            <a:endParaRPr lang="zh-CN" altLang="en-US" sz="950">
              <a:solidFill>
                <a:srgbClr val="9AA6C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A9B68292-2588-5A88-47D9-F5A22CBA5F3B}"/>
              </a:ext>
            </a:extLst>
          </p:cNvPr>
          <p:cNvSpPr/>
          <p:nvPr/>
        </p:nvSpPr>
        <p:spPr>
          <a:xfrm>
            <a:off x="812800" y="2108200"/>
            <a:ext cx="2540000" cy="1117600"/>
          </a:xfrm>
          <a:prstGeom prst="roundRect">
            <a:avLst>
              <a:gd name="adj" fmla="val 8000"/>
            </a:avLst>
          </a:prstGeom>
          <a:solidFill>
            <a:srgbClr val="182238"/>
          </a:solidFill>
          <a:ln w="11430">
            <a:solidFill>
              <a:srgbClr val="47D2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16648A3-6EEB-A837-8650-6D48435ECD18}"/>
              </a:ext>
            </a:extLst>
          </p:cNvPr>
          <p:cNvSpPr txBox="1"/>
          <p:nvPr/>
        </p:nvSpPr>
        <p:spPr>
          <a:xfrm>
            <a:off x="965200" y="2235200"/>
            <a:ext cx="2235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US" altLang="zh-CN" sz="2600" b="1">
                <a:solidFill>
                  <a:srgbClr val="6C8C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30</a:t>
            </a:r>
            <a:endParaRPr lang="zh-CN" altLang="en-US" sz="2600" b="1">
              <a:solidFill>
                <a:srgbClr val="6C8C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C918EBE-6916-C77E-F3AC-73BBC2431CB2}"/>
              </a:ext>
            </a:extLst>
          </p:cNvPr>
          <p:cNvSpPr txBox="1"/>
          <p:nvPr/>
        </p:nvSpPr>
        <p:spPr>
          <a:xfrm>
            <a:off x="965200" y="2705100"/>
            <a:ext cx="2235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lang="zh-CN" altLang="en-US" sz="110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项验收清单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7C32C8F8-0D45-101A-03D7-63030533F29C}"/>
              </a:ext>
            </a:extLst>
          </p:cNvPr>
          <p:cNvSpPr/>
          <p:nvPr/>
        </p:nvSpPr>
        <p:spPr>
          <a:xfrm>
            <a:off x="3556000" y="2108200"/>
            <a:ext cx="2540000" cy="1117600"/>
          </a:xfrm>
          <a:prstGeom prst="roundRect">
            <a:avLst>
              <a:gd name="adj" fmla="val 8000"/>
            </a:avLst>
          </a:prstGeom>
          <a:solidFill>
            <a:srgbClr val="182238"/>
          </a:solidFill>
          <a:ln w="11430">
            <a:solidFill>
              <a:srgbClr val="47D2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0E43169-255D-BA89-7740-B48CC0DBAB02}"/>
              </a:ext>
            </a:extLst>
          </p:cNvPr>
          <p:cNvSpPr txBox="1"/>
          <p:nvPr/>
        </p:nvSpPr>
        <p:spPr>
          <a:xfrm>
            <a:off x="3708400" y="2235200"/>
            <a:ext cx="2235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US" altLang="zh-CN" sz="2600" b="1">
                <a:solidFill>
                  <a:srgbClr val="47D2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endParaRPr lang="zh-CN" altLang="en-US" sz="2600" b="1">
              <a:solidFill>
                <a:srgbClr val="47D2A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38FFE50-3BBE-9B45-AC28-76186642F345}"/>
              </a:ext>
            </a:extLst>
          </p:cNvPr>
          <p:cNvSpPr txBox="1"/>
          <p:nvPr/>
        </p:nvSpPr>
        <p:spPr>
          <a:xfrm>
            <a:off x="3708400" y="2705100"/>
            <a:ext cx="2235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lang="zh-CN" altLang="en-US" sz="110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类安全用例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F09B148D-AA6B-31CC-B671-A595F36F6E56}"/>
              </a:ext>
            </a:extLst>
          </p:cNvPr>
          <p:cNvSpPr/>
          <p:nvPr/>
        </p:nvSpPr>
        <p:spPr>
          <a:xfrm>
            <a:off x="812800" y="3429000"/>
            <a:ext cx="2540000" cy="1117600"/>
          </a:xfrm>
          <a:prstGeom prst="roundRect">
            <a:avLst>
              <a:gd name="adj" fmla="val 8000"/>
            </a:avLst>
          </a:prstGeom>
          <a:solidFill>
            <a:srgbClr val="182238"/>
          </a:solidFill>
          <a:ln w="11430">
            <a:solidFill>
              <a:srgbClr val="47D2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7BC15BD-1A06-C766-665D-8D98C080DD5C}"/>
              </a:ext>
            </a:extLst>
          </p:cNvPr>
          <p:cNvSpPr txBox="1"/>
          <p:nvPr/>
        </p:nvSpPr>
        <p:spPr>
          <a:xfrm>
            <a:off x="965200" y="3556000"/>
            <a:ext cx="2235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US" altLang="zh-CN" sz="2600" b="1">
                <a:solidFill>
                  <a:srgbClr val="FFC46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8</a:t>
            </a:r>
            <a:endParaRPr lang="zh-CN" altLang="en-US" sz="2600" b="1">
              <a:solidFill>
                <a:srgbClr val="FFC46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0EA4C2C-22B3-0F07-51E3-FB3186B46C53}"/>
              </a:ext>
            </a:extLst>
          </p:cNvPr>
          <p:cNvSpPr txBox="1"/>
          <p:nvPr/>
        </p:nvSpPr>
        <p:spPr>
          <a:xfrm>
            <a:off x="965200" y="4025900"/>
            <a:ext cx="2235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lang="zh-CN" altLang="en-US" sz="110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个版本 </a:t>
            </a:r>
            <a:r>
              <a:rPr lang="en-US" altLang="zh-CN" sz="110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tag</a:t>
            </a:r>
            <a:endParaRPr lang="zh-CN" altLang="en-US" sz="1100">
              <a:solidFill>
                <a:srgbClr val="9AA6C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99660EEC-A383-9821-AB93-30F4D60F80BC}"/>
              </a:ext>
            </a:extLst>
          </p:cNvPr>
          <p:cNvSpPr/>
          <p:nvPr/>
        </p:nvSpPr>
        <p:spPr>
          <a:xfrm>
            <a:off x="3556000" y="3429000"/>
            <a:ext cx="2540000" cy="1117600"/>
          </a:xfrm>
          <a:prstGeom prst="roundRect">
            <a:avLst>
              <a:gd name="adj" fmla="val 8000"/>
            </a:avLst>
          </a:prstGeom>
          <a:solidFill>
            <a:srgbClr val="182238"/>
          </a:solidFill>
          <a:ln w="11430">
            <a:solidFill>
              <a:srgbClr val="47D2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200F6E2-48DA-B104-5916-94A355C11367}"/>
              </a:ext>
            </a:extLst>
          </p:cNvPr>
          <p:cNvSpPr txBox="1"/>
          <p:nvPr/>
        </p:nvSpPr>
        <p:spPr>
          <a:xfrm>
            <a:off x="3708400" y="3556000"/>
            <a:ext cx="2235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US" altLang="zh-CN" sz="2600" b="1">
                <a:solidFill>
                  <a:srgbClr val="A07B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endParaRPr lang="zh-CN" altLang="en-US" sz="2600" b="1">
              <a:solidFill>
                <a:srgbClr val="A07B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C0881EF-F8F8-18B1-966D-AF291EE08EB5}"/>
              </a:ext>
            </a:extLst>
          </p:cNvPr>
          <p:cNvSpPr txBox="1"/>
          <p:nvPr/>
        </p:nvSpPr>
        <p:spPr>
          <a:xfrm>
            <a:off x="3708400" y="4025900"/>
            <a:ext cx="2235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lang="zh-CN" altLang="en-US" sz="110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 </a:t>
            </a:r>
            <a:r>
              <a:rPr lang="en-US" altLang="zh-CN" sz="110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war </a:t>
            </a:r>
            <a:r>
              <a:rPr lang="zh-CN" altLang="en-US" sz="110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部署包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6DF1A5CA-917B-CD2E-14FC-138CEBED80E6}"/>
              </a:ext>
            </a:extLst>
          </p:cNvPr>
          <p:cNvSpPr/>
          <p:nvPr/>
        </p:nvSpPr>
        <p:spPr>
          <a:xfrm>
            <a:off x="812800" y="4800600"/>
            <a:ext cx="5283200" cy="1168400"/>
          </a:xfrm>
          <a:prstGeom prst="roundRect">
            <a:avLst>
              <a:gd name="adj" fmla="val 6000"/>
            </a:avLst>
          </a:prstGeom>
          <a:solidFill>
            <a:srgbClr val="16223A"/>
          </a:solidFill>
          <a:ln w="11430">
            <a:solidFill>
              <a:srgbClr val="47D2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FA34346-92D1-3019-ED0C-B611ADF7B553}"/>
              </a:ext>
            </a:extLst>
          </p:cNvPr>
          <p:cNvSpPr txBox="1"/>
          <p:nvPr/>
        </p:nvSpPr>
        <p:spPr>
          <a:xfrm>
            <a:off x="1066800" y="49784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zh-CN" sz="1100" b="1">
                <a:solidFill>
                  <a:srgbClr val="FFC46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README </a:t>
            </a:r>
            <a:r>
              <a:rPr lang="zh-CN" altLang="en-US" sz="1100" b="1">
                <a:solidFill>
                  <a:srgbClr val="FFC46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快速开始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2CDFB78-CFA5-8D25-9F80-C87C4FE751F0}"/>
              </a:ext>
            </a:extLst>
          </p:cNvPr>
          <p:cNvSpPr txBox="1"/>
          <p:nvPr/>
        </p:nvSpPr>
        <p:spPr>
          <a:xfrm>
            <a:off x="1066800" y="5308600"/>
            <a:ext cx="4775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5000"/>
              </a:lnSpc>
            </a:pPr>
            <a:r>
              <a:rPr lang="zh-CN" altLang="en-US" sz="95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建库 → 改 </a:t>
            </a:r>
            <a:r>
              <a:rPr lang="en-US" altLang="zh-CN" sz="95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DBUtil → mvn package → </a:t>
            </a:r>
            <a:r>
              <a:rPr lang="zh-CN" altLang="en-US" sz="95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丢 </a:t>
            </a:r>
            <a:r>
              <a:rPr lang="en-US" altLang="zh-CN" sz="95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webapps → </a:t>
            </a:r>
            <a:r>
              <a:rPr lang="zh-CN" altLang="en-US" sz="95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访问 </a:t>
            </a:r>
            <a:r>
              <a:rPr lang="en-US" altLang="zh-CN" sz="95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/life-manager-lite/</a:t>
            </a:r>
            <a:endParaRPr lang="zh-CN" altLang="en-US" sz="950">
              <a:solidFill>
                <a:srgbClr val="ECF1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63B3C6DF-AD8F-9A17-C565-DB9B5A8D0716}"/>
              </a:ext>
            </a:extLst>
          </p:cNvPr>
          <p:cNvSpPr/>
          <p:nvPr/>
        </p:nvSpPr>
        <p:spPr>
          <a:xfrm>
            <a:off x="6350000" y="2108200"/>
            <a:ext cx="5029200" cy="3860800"/>
          </a:xfrm>
          <a:prstGeom prst="roundRect">
            <a:avLst>
              <a:gd name="adj" fmla="val 5000"/>
            </a:avLst>
          </a:prstGeom>
          <a:solidFill>
            <a:srgbClr val="182238"/>
          </a:solidFill>
          <a:ln w="11430">
            <a:solidFill>
              <a:srgbClr val="47D2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364DC197-E34A-0426-B8D0-89C00694FBEE}"/>
              </a:ext>
            </a:extLst>
          </p:cNvPr>
          <p:cNvSpPr txBox="1"/>
          <p:nvPr/>
        </p:nvSpPr>
        <p:spPr>
          <a:xfrm>
            <a:off x="6629400" y="2311400"/>
            <a:ext cx="4470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zh-CN" sz="1200" b="1">
                <a:solidFill>
                  <a:srgbClr val="6C8C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Git </a:t>
            </a:r>
            <a:r>
              <a:rPr lang="zh-CN" altLang="en-US" sz="1200" b="1">
                <a:solidFill>
                  <a:srgbClr val="6C8C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版本线：每一步都能独立运行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573DEB85-3460-1273-57EA-6FC9870237AF}"/>
              </a:ext>
            </a:extLst>
          </p:cNvPr>
          <p:cNvSpPr/>
          <p:nvPr/>
        </p:nvSpPr>
        <p:spPr>
          <a:xfrm>
            <a:off x="6629400" y="2768600"/>
            <a:ext cx="2082800" cy="355600"/>
          </a:xfrm>
          <a:prstGeom prst="roundRect">
            <a:avLst>
              <a:gd name="adj" fmla="val 16000"/>
            </a:avLst>
          </a:prstGeom>
          <a:solidFill>
            <a:srgbClr val="121C30"/>
          </a:solidFill>
          <a:ln w="11430">
            <a:solidFill>
              <a:srgbClr val="47D2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A05BFAF3-FDAF-38D5-D65D-00903173CDF0}"/>
              </a:ext>
            </a:extLst>
          </p:cNvPr>
          <p:cNvSpPr txBox="1"/>
          <p:nvPr/>
        </p:nvSpPr>
        <p:spPr>
          <a:xfrm>
            <a:off x="6781800" y="2844800"/>
            <a:ext cx="431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zh-CN" sz="900" b="1">
                <a:solidFill>
                  <a:srgbClr val="FFC46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v1</a:t>
            </a:r>
            <a:endParaRPr lang="zh-CN" altLang="en-US" sz="900" b="1">
              <a:solidFill>
                <a:srgbClr val="FFC46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6A024C54-5C2C-0077-1161-85455095F433}"/>
              </a:ext>
            </a:extLst>
          </p:cNvPr>
          <p:cNvSpPr txBox="1"/>
          <p:nvPr/>
        </p:nvSpPr>
        <p:spPr>
          <a:xfrm>
            <a:off x="7239000" y="2844800"/>
            <a:ext cx="1371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90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项目骨架</a:t>
            </a: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4CF4A2A2-7618-5E35-A7E7-46864F860E63}"/>
              </a:ext>
            </a:extLst>
          </p:cNvPr>
          <p:cNvSpPr/>
          <p:nvPr/>
        </p:nvSpPr>
        <p:spPr>
          <a:xfrm>
            <a:off x="8890000" y="2768600"/>
            <a:ext cx="2082800" cy="355600"/>
          </a:xfrm>
          <a:prstGeom prst="roundRect">
            <a:avLst>
              <a:gd name="adj" fmla="val 16000"/>
            </a:avLst>
          </a:prstGeom>
          <a:solidFill>
            <a:srgbClr val="121C30"/>
          </a:solidFill>
          <a:ln w="11430">
            <a:solidFill>
              <a:srgbClr val="47D2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E02118BD-2BFC-629D-0C30-58CB93253832}"/>
              </a:ext>
            </a:extLst>
          </p:cNvPr>
          <p:cNvSpPr txBox="1"/>
          <p:nvPr/>
        </p:nvSpPr>
        <p:spPr>
          <a:xfrm>
            <a:off x="9042400" y="2844800"/>
            <a:ext cx="431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zh-CN" sz="900" b="1">
                <a:solidFill>
                  <a:srgbClr val="FFC46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v2</a:t>
            </a:r>
            <a:endParaRPr lang="zh-CN" altLang="en-US" sz="900" b="1">
              <a:solidFill>
                <a:srgbClr val="FFC46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8A54F56D-151E-C675-96ED-986CE3ED4FCD}"/>
              </a:ext>
            </a:extLst>
          </p:cNvPr>
          <p:cNvSpPr txBox="1"/>
          <p:nvPr/>
        </p:nvSpPr>
        <p:spPr>
          <a:xfrm>
            <a:off x="9499600" y="2844800"/>
            <a:ext cx="1371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90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登录注册</a:t>
            </a: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D172D881-C905-8F3E-EF56-4344CBCD1F7C}"/>
              </a:ext>
            </a:extLst>
          </p:cNvPr>
          <p:cNvSpPr/>
          <p:nvPr/>
        </p:nvSpPr>
        <p:spPr>
          <a:xfrm>
            <a:off x="6629400" y="3225800"/>
            <a:ext cx="2082800" cy="355600"/>
          </a:xfrm>
          <a:prstGeom prst="roundRect">
            <a:avLst>
              <a:gd name="adj" fmla="val 16000"/>
            </a:avLst>
          </a:prstGeom>
          <a:solidFill>
            <a:srgbClr val="121C30"/>
          </a:solidFill>
          <a:ln w="11430">
            <a:solidFill>
              <a:srgbClr val="47D2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4CF4A2E6-4F2A-3723-3A1C-02A1B68B181C}"/>
              </a:ext>
            </a:extLst>
          </p:cNvPr>
          <p:cNvSpPr txBox="1"/>
          <p:nvPr/>
        </p:nvSpPr>
        <p:spPr>
          <a:xfrm>
            <a:off x="6781800" y="3302000"/>
            <a:ext cx="431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zh-CN" sz="900" b="1">
                <a:solidFill>
                  <a:srgbClr val="FFC46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v3</a:t>
            </a:r>
            <a:endParaRPr lang="zh-CN" altLang="en-US" sz="900" b="1">
              <a:solidFill>
                <a:srgbClr val="FFC46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26E8F368-52BD-8F6E-C22F-5BB11E4EAF2D}"/>
              </a:ext>
            </a:extLst>
          </p:cNvPr>
          <p:cNvSpPr txBox="1"/>
          <p:nvPr/>
        </p:nvSpPr>
        <p:spPr>
          <a:xfrm>
            <a:off x="7239000" y="3302000"/>
            <a:ext cx="1371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90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任务 </a:t>
            </a:r>
            <a:r>
              <a:rPr lang="en-US" altLang="zh-CN" sz="90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CRUD</a:t>
            </a:r>
            <a:endParaRPr lang="zh-CN" altLang="en-US" sz="900">
              <a:solidFill>
                <a:srgbClr val="ECF1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05584CF3-981F-10EF-E5B1-EC9F32D17C73}"/>
              </a:ext>
            </a:extLst>
          </p:cNvPr>
          <p:cNvSpPr/>
          <p:nvPr/>
        </p:nvSpPr>
        <p:spPr>
          <a:xfrm>
            <a:off x="8890000" y="3225800"/>
            <a:ext cx="2082800" cy="355600"/>
          </a:xfrm>
          <a:prstGeom prst="roundRect">
            <a:avLst>
              <a:gd name="adj" fmla="val 16000"/>
            </a:avLst>
          </a:prstGeom>
          <a:solidFill>
            <a:srgbClr val="121C30"/>
          </a:solidFill>
          <a:ln w="11430">
            <a:solidFill>
              <a:srgbClr val="47D2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F852BC93-113A-19CD-5D8B-3A05E3A2D7CA}"/>
              </a:ext>
            </a:extLst>
          </p:cNvPr>
          <p:cNvSpPr txBox="1"/>
          <p:nvPr/>
        </p:nvSpPr>
        <p:spPr>
          <a:xfrm>
            <a:off x="9042400" y="3302000"/>
            <a:ext cx="431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zh-CN" sz="900" b="1">
                <a:solidFill>
                  <a:srgbClr val="FFC46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v4</a:t>
            </a:r>
            <a:endParaRPr lang="zh-CN" altLang="en-US" sz="900" b="1">
              <a:solidFill>
                <a:srgbClr val="FFC46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68502736-7028-6382-D527-CF5AC47B6CEA}"/>
              </a:ext>
            </a:extLst>
          </p:cNvPr>
          <p:cNvSpPr txBox="1"/>
          <p:nvPr/>
        </p:nvSpPr>
        <p:spPr>
          <a:xfrm>
            <a:off x="9499600" y="3302000"/>
            <a:ext cx="1371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90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权限与管理员</a:t>
            </a: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55298A8B-11D2-A3C3-EB3F-EB5782912B77}"/>
              </a:ext>
            </a:extLst>
          </p:cNvPr>
          <p:cNvSpPr/>
          <p:nvPr/>
        </p:nvSpPr>
        <p:spPr>
          <a:xfrm>
            <a:off x="6629400" y="3683000"/>
            <a:ext cx="2082800" cy="355600"/>
          </a:xfrm>
          <a:prstGeom prst="roundRect">
            <a:avLst>
              <a:gd name="adj" fmla="val 16000"/>
            </a:avLst>
          </a:prstGeom>
          <a:solidFill>
            <a:srgbClr val="121C30"/>
          </a:solidFill>
          <a:ln w="11430">
            <a:solidFill>
              <a:srgbClr val="47D2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85B72CCA-9B7A-FA16-72F8-EF662F24EB41}"/>
              </a:ext>
            </a:extLst>
          </p:cNvPr>
          <p:cNvSpPr txBox="1"/>
          <p:nvPr/>
        </p:nvSpPr>
        <p:spPr>
          <a:xfrm>
            <a:off x="6781800" y="3759200"/>
            <a:ext cx="431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zh-CN" sz="900" b="1">
                <a:solidFill>
                  <a:srgbClr val="FFC46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v5</a:t>
            </a:r>
            <a:endParaRPr lang="zh-CN" altLang="en-US" sz="900" b="1">
              <a:solidFill>
                <a:srgbClr val="FFC46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97757AC4-CC81-BFE3-5CFB-E57D676B3AD9}"/>
              </a:ext>
            </a:extLst>
          </p:cNvPr>
          <p:cNvSpPr txBox="1"/>
          <p:nvPr/>
        </p:nvSpPr>
        <p:spPr>
          <a:xfrm>
            <a:off x="7239000" y="3759200"/>
            <a:ext cx="1371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90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任务进阶</a:t>
            </a:r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138824C1-61C7-548E-A177-7689AD8520BE}"/>
              </a:ext>
            </a:extLst>
          </p:cNvPr>
          <p:cNvSpPr/>
          <p:nvPr/>
        </p:nvSpPr>
        <p:spPr>
          <a:xfrm>
            <a:off x="8890000" y="3683000"/>
            <a:ext cx="2082800" cy="355600"/>
          </a:xfrm>
          <a:prstGeom prst="roundRect">
            <a:avLst>
              <a:gd name="adj" fmla="val 16000"/>
            </a:avLst>
          </a:prstGeom>
          <a:solidFill>
            <a:srgbClr val="121C30"/>
          </a:solidFill>
          <a:ln w="11430">
            <a:solidFill>
              <a:srgbClr val="47D2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F684A313-C0F8-9E07-9A73-E0B09A67E7B0}"/>
              </a:ext>
            </a:extLst>
          </p:cNvPr>
          <p:cNvSpPr txBox="1"/>
          <p:nvPr/>
        </p:nvSpPr>
        <p:spPr>
          <a:xfrm>
            <a:off x="9042400" y="3759200"/>
            <a:ext cx="431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zh-CN" sz="900" b="1">
                <a:solidFill>
                  <a:srgbClr val="FFC46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v6</a:t>
            </a:r>
            <a:endParaRPr lang="zh-CN" altLang="en-US" sz="900" b="1">
              <a:solidFill>
                <a:srgbClr val="FFC46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DDEE7E06-EE56-07CD-E06B-10AB86F4853C}"/>
              </a:ext>
            </a:extLst>
          </p:cNvPr>
          <p:cNvSpPr txBox="1"/>
          <p:nvPr/>
        </p:nvSpPr>
        <p:spPr>
          <a:xfrm>
            <a:off x="9499600" y="3759200"/>
            <a:ext cx="1371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90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个人中心</a:t>
            </a:r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82152D5C-A49A-5B0E-D968-F476E4C2AD07}"/>
              </a:ext>
            </a:extLst>
          </p:cNvPr>
          <p:cNvSpPr/>
          <p:nvPr/>
        </p:nvSpPr>
        <p:spPr>
          <a:xfrm>
            <a:off x="6629400" y="4140200"/>
            <a:ext cx="2082800" cy="355600"/>
          </a:xfrm>
          <a:prstGeom prst="roundRect">
            <a:avLst>
              <a:gd name="adj" fmla="val 16000"/>
            </a:avLst>
          </a:prstGeom>
          <a:solidFill>
            <a:srgbClr val="121C30"/>
          </a:solidFill>
          <a:ln w="11430">
            <a:solidFill>
              <a:srgbClr val="47D2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C91CAD52-C5CC-549E-0ACC-895E50EC6AE0}"/>
              </a:ext>
            </a:extLst>
          </p:cNvPr>
          <p:cNvSpPr txBox="1"/>
          <p:nvPr/>
        </p:nvSpPr>
        <p:spPr>
          <a:xfrm>
            <a:off x="6781800" y="4216400"/>
            <a:ext cx="431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zh-CN" sz="900" b="1">
                <a:solidFill>
                  <a:srgbClr val="FFC46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v7</a:t>
            </a:r>
            <a:endParaRPr lang="zh-CN" altLang="en-US" sz="900" b="1">
              <a:solidFill>
                <a:srgbClr val="FFC46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66E1EDA6-4123-64EA-B3D6-8ADBDD6E7FA6}"/>
              </a:ext>
            </a:extLst>
          </p:cNvPr>
          <p:cNvSpPr txBox="1"/>
          <p:nvPr/>
        </p:nvSpPr>
        <p:spPr>
          <a:xfrm>
            <a:off x="7239000" y="4216400"/>
            <a:ext cx="1371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90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目标管理</a:t>
            </a:r>
          </a:p>
        </p:txBody>
      </p: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71C9E301-5120-A2B9-A333-4D79067A5E39}"/>
              </a:ext>
            </a:extLst>
          </p:cNvPr>
          <p:cNvSpPr/>
          <p:nvPr/>
        </p:nvSpPr>
        <p:spPr>
          <a:xfrm>
            <a:off x="8890000" y="4140200"/>
            <a:ext cx="2082800" cy="355600"/>
          </a:xfrm>
          <a:prstGeom prst="roundRect">
            <a:avLst>
              <a:gd name="adj" fmla="val 16000"/>
            </a:avLst>
          </a:prstGeom>
          <a:solidFill>
            <a:srgbClr val="121C30"/>
          </a:solidFill>
          <a:ln w="11430">
            <a:solidFill>
              <a:srgbClr val="47D2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0CB5829E-3106-BD3F-6756-13AC0EE4880E}"/>
              </a:ext>
            </a:extLst>
          </p:cNvPr>
          <p:cNvSpPr txBox="1"/>
          <p:nvPr/>
        </p:nvSpPr>
        <p:spPr>
          <a:xfrm>
            <a:off x="9042400" y="4216400"/>
            <a:ext cx="431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zh-CN" sz="900" b="1">
                <a:solidFill>
                  <a:srgbClr val="FFC46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v8</a:t>
            </a:r>
            <a:endParaRPr lang="zh-CN" altLang="en-US" sz="900" b="1">
              <a:solidFill>
                <a:srgbClr val="FFC46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51C389A8-4DFE-02F8-E747-E4E639F5BA98}"/>
              </a:ext>
            </a:extLst>
          </p:cNvPr>
          <p:cNvSpPr txBox="1"/>
          <p:nvPr/>
        </p:nvSpPr>
        <p:spPr>
          <a:xfrm>
            <a:off x="9499600" y="4216400"/>
            <a:ext cx="1371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90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记账本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13346557-4F7E-5E78-1B0F-D9BBC3E0898C}"/>
              </a:ext>
            </a:extLst>
          </p:cNvPr>
          <p:cNvSpPr txBox="1"/>
          <p:nvPr/>
        </p:nvSpPr>
        <p:spPr>
          <a:xfrm>
            <a:off x="6629400" y="4775200"/>
            <a:ext cx="4470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5000"/>
              </a:lnSpc>
            </a:pPr>
            <a:r>
              <a:rPr lang="zh-CN" altLang="en-US" sz="9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安全用例：</a:t>
            </a:r>
            <a:r>
              <a:rPr lang="en-US" altLang="zh-CN" sz="9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SQL </a:t>
            </a:r>
            <a:r>
              <a:rPr lang="zh-CN" altLang="en-US" sz="9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注入、</a:t>
            </a:r>
            <a:r>
              <a:rPr lang="en-US" altLang="zh-CN" sz="9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XSS</a:t>
            </a:r>
            <a:r>
              <a:rPr lang="zh-CN" altLang="en-US" sz="9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、跨账号删除；每条都对应验收清单。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5B205EF3-6517-14ED-80B7-338CC187E6B9}"/>
              </a:ext>
            </a:extLst>
          </p:cNvPr>
          <p:cNvSpPr txBox="1"/>
          <p:nvPr/>
        </p:nvSpPr>
        <p:spPr>
          <a:xfrm>
            <a:off x="6629400" y="5410200"/>
            <a:ext cx="4470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zh-CN" sz="950" i="1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Release </a:t>
            </a:r>
            <a:r>
              <a:rPr lang="zh-CN" altLang="en-US" sz="950" i="1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里放 </a:t>
            </a:r>
            <a:r>
              <a:rPr lang="en-US" altLang="zh-CN" sz="950" i="1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war</a:t>
            </a:r>
            <a:r>
              <a:rPr lang="zh-CN" altLang="en-US" sz="950" i="1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</a:t>
            </a:r>
            <a:r>
              <a:rPr lang="en-US" altLang="zh-CN" sz="950" i="1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README </a:t>
            </a:r>
            <a:r>
              <a:rPr lang="zh-CN" altLang="en-US" sz="950" i="1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让别人 </a:t>
            </a:r>
            <a:r>
              <a:rPr lang="en-US" altLang="zh-CN" sz="950" i="1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 </a:t>
            </a:r>
            <a:r>
              <a:rPr lang="zh-CN" altLang="en-US" sz="950" i="1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分钟能跑起来。</a:t>
            </a:r>
          </a:p>
        </p:txBody>
      </p:sp>
      <p:sp>
        <p:nvSpPr>
          <p:cNvPr id="53" name="TextNote_f6260b">
            <a:extLst>
              <a:ext uri="{FF2B5EF4-FFF2-40B4-BE49-F238E27FC236}">
                <a16:creationId xmlns:a16="http://schemas.microsoft.com/office/drawing/2014/main" id="{C0DEA20D-4431-24EF-FF5A-81D848A406D6}"/>
              </a:ext>
            </a:extLst>
          </p:cNvPr>
          <p:cNvSpPr txBox="1"/>
          <p:nvPr/>
        </p:nvSpPr>
        <p:spPr>
          <a:xfrm>
            <a:off x="6629400" y="5054600"/>
            <a:ext cx="447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GitHub</a:t>
            </a:r>
            <a:r>
              <a:rPr lang="zh-CN" altLang="en-US" sz="9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en-US" altLang="zh-CN" sz="9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15 </a:t>
            </a:r>
            <a:r>
              <a:rPr lang="zh-CN" altLang="en-US" sz="9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次有效提交 </a:t>
            </a:r>
            <a:r>
              <a:rPr lang="en-US" altLang="zh-CN" sz="9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3397 </a:t>
            </a:r>
            <a:r>
              <a:rPr lang="zh-CN" altLang="en-US" sz="9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行代码</a:t>
            </a:r>
          </a:p>
        </p:txBody>
      </p:sp>
      <p:sp>
        <p:nvSpPr>
          <p:cNvPr id="54" name="TextNote_6a4da9">
            <a:extLst>
              <a:ext uri="{FF2B5EF4-FFF2-40B4-BE49-F238E27FC236}">
                <a16:creationId xmlns:a16="http://schemas.microsoft.com/office/drawing/2014/main" id="{B093AD75-621E-1A60-D0EF-0C55233B9F14}"/>
              </a:ext>
            </a:extLst>
          </p:cNvPr>
          <p:cNvSpPr txBox="1"/>
          <p:nvPr/>
        </p:nvSpPr>
        <p:spPr>
          <a:xfrm>
            <a:off x="1066800" y="5613400"/>
            <a:ext cx="4775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AI </a:t>
            </a:r>
            <a:r>
              <a:rPr lang="zh-CN" altLang="en-US" sz="9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使用已在报告第八节表 </a:t>
            </a:r>
            <a:r>
              <a:rPr lang="en-US" altLang="zh-CN" sz="9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12 </a:t>
            </a:r>
            <a:r>
              <a:rPr lang="zh-CN" altLang="en-US" sz="9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登记，仅辅助排版与排错</a:t>
            </a:r>
          </a:p>
        </p:txBody>
      </p:sp>
    </p:spTree>
    <p:extLst>
      <p:ext uri="{BB962C8B-B14F-4D97-AF65-F5344CB8AC3E}">
        <p14:creationId xmlns:p14="http://schemas.microsoft.com/office/powerpoint/2010/main" val="37376760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AAB50D6B-382E-3005-18E9-36CA81B5EAE4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oundRect">
            <a:avLst>
              <a:gd name="adj" fmla="val 0"/>
            </a:avLst>
          </a:prstGeom>
          <a:solidFill>
            <a:srgbClr val="6C8CFF"/>
          </a:solidFill>
          <a:ln w="11430">
            <a:solidFill>
              <a:srgbClr val="6C8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2490AEC1-0C6D-D760-B614-3491E9A6BB41}"/>
              </a:ext>
            </a:extLst>
          </p:cNvPr>
          <p:cNvSpPr/>
          <p:nvPr/>
        </p:nvSpPr>
        <p:spPr>
          <a:xfrm>
            <a:off x="609600" y="508000"/>
            <a:ext cx="50800" cy="1168400"/>
          </a:xfrm>
          <a:prstGeom prst="roundRect">
            <a:avLst>
              <a:gd name="adj" fmla="val 0"/>
            </a:avLst>
          </a:prstGeom>
          <a:solidFill>
            <a:srgbClr val="6C8CFF"/>
          </a:solidFill>
          <a:ln w="11430">
            <a:solidFill>
              <a:srgbClr val="6C8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65BB81C-48EE-0E90-83EC-D03E5EA3F9AD}"/>
              </a:ext>
            </a:extLst>
          </p:cNvPr>
          <p:cNvSpPr txBox="1"/>
          <p:nvPr/>
        </p:nvSpPr>
        <p:spPr>
          <a:xfrm>
            <a:off x="812800" y="482600"/>
            <a:ext cx="889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zh-CN" sz="1000" b="1">
                <a:solidFill>
                  <a:srgbClr val="6C8C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NEXT</a:t>
            </a:r>
            <a:endParaRPr lang="zh-CN" altLang="en-US" sz="1000" b="1">
              <a:solidFill>
                <a:srgbClr val="6C8C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2DEC7E0-4162-FE62-B99A-89715DFCEAC0}"/>
              </a:ext>
            </a:extLst>
          </p:cNvPr>
          <p:cNvSpPr txBox="1"/>
          <p:nvPr/>
        </p:nvSpPr>
        <p:spPr>
          <a:xfrm>
            <a:off x="812800" y="762000"/>
            <a:ext cx="1003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2700" b="1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边界与下一步：一期只覆盖 </a:t>
            </a:r>
            <a:r>
              <a:rPr lang="en-US" altLang="zh-CN" sz="2700" b="1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 / 8 </a:t>
            </a:r>
            <a:r>
              <a:rPr lang="zh-CN" altLang="en-US" sz="2700" b="1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条线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B606C7A-F50A-64AD-8236-C76610DF24EA}"/>
              </a:ext>
            </a:extLst>
          </p:cNvPr>
          <p:cNvSpPr txBox="1"/>
          <p:nvPr/>
        </p:nvSpPr>
        <p:spPr>
          <a:xfrm>
            <a:off x="812800" y="13208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12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不把「没做」说成「做了」，是工程素养的一部分</a:t>
            </a: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A359BB46-9465-E1F7-4526-D217D9CB1C7A}"/>
              </a:ext>
            </a:extLst>
          </p:cNvPr>
          <p:cNvCxnSpPr/>
          <p:nvPr/>
        </p:nvCxnSpPr>
        <p:spPr>
          <a:xfrm>
            <a:off x="812800" y="1803400"/>
            <a:ext cx="10566400" cy="0"/>
          </a:xfrm>
          <a:prstGeom prst="straightConnector1">
            <a:avLst/>
          </a:prstGeom>
          <a:ln w="12700">
            <a:solidFill>
              <a:srgbClr val="47D2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D8711ECC-D04A-17D7-C48F-0617738EB94E}"/>
              </a:ext>
            </a:extLst>
          </p:cNvPr>
          <p:cNvSpPr txBox="1"/>
          <p:nvPr/>
        </p:nvSpPr>
        <p:spPr>
          <a:xfrm>
            <a:off x="812800" y="6477000"/>
            <a:ext cx="533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endParaRPr lang="zh-CN" altLang="en-US" sz="950" dirty="0">
              <a:solidFill>
                <a:srgbClr val="9AA6C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A479C0D-E47F-404E-D7AD-7422C83DF59C}"/>
              </a:ext>
            </a:extLst>
          </p:cNvPr>
          <p:cNvSpPr txBox="1"/>
          <p:nvPr/>
        </p:nvSpPr>
        <p:spPr>
          <a:xfrm>
            <a:off x="10363200" y="6477000"/>
            <a:ext cx="101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lang="en-US" altLang="zh-CN" sz="9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11 / 12</a:t>
            </a:r>
            <a:endParaRPr lang="zh-CN" altLang="en-US" sz="950">
              <a:solidFill>
                <a:srgbClr val="9AA6C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ED57FBE6-7571-86C5-1E65-C9032F9CF476}"/>
              </a:ext>
            </a:extLst>
          </p:cNvPr>
          <p:cNvSpPr/>
          <p:nvPr/>
        </p:nvSpPr>
        <p:spPr>
          <a:xfrm>
            <a:off x="812800" y="2108200"/>
            <a:ext cx="5029200" cy="1092200"/>
          </a:xfrm>
          <a:prstGeom prst="roundRect">
            <a:avLst>
              <a:gd name="adj" fmla="val 6000"/>
            </a:avLst>
          </a:prstGeom>
          <a:solidFill>
            <a:srgbClr val="182238"/>
          </a:solidFill>
          <a:ln w="11430">
            <a:solidFill>
              <a:srgbClr val="47D2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FA3420B3-BACF-8FC6-9F68-1788FCFEE4AD}"/>
              </a:ext>
            </a:extLst>
          </p:cNvPr>
          <p:cNvSpPr/>
          <p:nvPr/>
        </p:nvSpPr>
        <p:spPr>
          <a:xfrm>
            <a:off x="812800" y="2108200"/>
            <a:ext cx="63500" cy="1092200"/>
          </a:xfrm>
          <a:prstGeom prst="roundRect">
            <a:avLst>
              <a:gd name="adj" fmla="val 0"/>
            </a:avLst>
          </a:prstGeom>
          <a:solidFill>
            <a:srgbClr val="FFC46B"/>
          </a:solidFill>
          <a:ln w="11430">
            <a:solidFill>
              <a:srgbClr val="FFC46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57C1B01-6B1B-4C51-BF45-E8567BE89C2A}"/>
              </a:ext>
            </a:extLst>
          </p:cNvPr>
          <p:cNvSpPr txBox="1"/>
          <p:nvPr/>
        </p:nvSpPr>
        <p:spPr>
          <a:xfrm>
            <a:off x="1092200" y="2286000"/>
            <a:ext cx="431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1300" b="1">
                <a:solidFill>
                  <a:srgbClr val="FFC46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禁用账号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4AA3EE3-7CF8-22B7-CF31-2BE8072D2A9B}"/>
              </a:ext>
            </a:extLst>
          </p:cNvPr>
          <p:cNvSpPr txBox="1"/>
          <p:nvPr/>
        </p:nvSpPr>
        <p:spPr>
          <a:xfrm>
            <a:off x="1092200" y="2641600"/>
            <a:ext cx="444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9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只阻止再次登录；已登录会话不会立刻失效。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95556B7E-722B-9E16-DA0C-2995469AEDB9}"/>
              </a:ext>
            </a:extLst>
          </p:cNvPr>
          <p:cNvSpPr/>
          <p:nvPr/>
        </p:nvSpPr>
        <p:spPr>
          <a:xfrm>
            <a:off x="812800" y="3352800"/>
            <a:ext cx="5029200" cy="1092200"/>
          </a:xfrm>
          <a:prstGeom prst="roundRect">
            <a:avLst>
              <a:gd name="adj" fmla="val 6000"/>
            </a:avLst>
          </a:prstGeom>
          <a:solidFill>
            <a:srgbClr val="182238"/>
          </a:solidFill>
          <a:ln w="11430">
            <a:solidFill>
              <a:srgbClr val="47D2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F8990CFA-7AFC-9557-D53A-BE29B6B27850}"/>
              </a:ext>
            </a:extLst>
          </p:cNvPr>
          <p:cNvSpPr/>
          <p:nvPr/>
        </p:nvSpPr>
        <p:spPr>
          <a:xfrm>
            <a:off x="812800" y="3352800"/>
            <a:ext cx="63500" cy="1092200"/>
          </a:xfrm>
          <a:prstGeom prst="roundRect">
            <a:avLst>
              <a:gd name="adj" fmla="val 0"/>
            </a:avLst>
          </a:prstGeom>
          <a:solidFill>
            <a:srgbClr val="FF6B6B"/>
          </a:solidFill>
          <a:ln w="11430">
            <a:solidFill>
              <a:srgbClr val="FF6B6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C64A007-D73B-0276-922D-B31CBE9DB390}"/>
              </a:ext>
            </a:extLst>
          </p:cNvPr>
          <p:cNvSpPr txBox="1"/>
          <p:nvPr/>
        </p:nvSpPr>
        <p:spPr>
          <a:xfrm>
            <a:off x="1092200" y="3530600"/>
            <a:ext cx="431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1300" b="1">
                <a:solidFill>
                  <a:srgbClr val="FF6B6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事务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B5E2FB9-B0EA-1285-336A-443D9720D4E1}"/>
              </a:ext>
            </a:extLst>
          </p:cNvPr>
          <p:cNvSpPr txBox="1"/>
          <p:nvPr/>
        </p:nvSpPr>
        <p:spPr>
          <a:xfrm>
            <a:off x="1092200" y="3886200"/>
            <a:ext cx="444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9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v8 </a:t>
            </a:r>
            <a:r>
              <a:rPr lang="zh-CN" altLang="en-US" sz="9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都是单表单语句；</a:t>
            </a:r>
            <a:r>
              <a:rPr lang="en-US" altLang="zh-CN" sz="9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v9 </a:t>
            </a:r>
            <a:r>
              <a:rPr lang="zh-CN" altLang="en-US" sz="9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多账户必须加事务。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A26003E5-C6BB-2550-C5CB-B96465D95436}"/>
              </a:ext>
            </a:extLst>
          </p:cNvPr>
          <p:cNvSpPr/>
          <p:nvPr/>
        </p:nvSpPr>
        <p:spPr>
          <a:xfrm>
            <a:off x="812800" y="4597400"/>
            <a:ext cx="5029200" cy="1092200"/>
          </a:xfrm>
          <a:prstGeom prst="roundRect">
            <a:avLst>
              <a:gd name="adj" fmla="val 6000"/>
            </a:avLst>
          </a:prstGeom>
          <a:solidFill>
            <a:srgbClr val="182238"/>
          </a:solidFill>
          <a:ln w="11430">
            <a:solidFill>
              <a:srgbClr val="47D2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52053BFA-ACFF-165D-740E-7F7218D36A0F}"/>
              </a:ext>
            </a:extLst>
          </p:cNvPr>
          <p:cNvSpPr/>
          <p:nvPr/>
        </p:nvSpPr>
        <p:spPr>
          <a:xfrm>
            <a:off x="812800" y="4597400"/>
            <a:ext cx="63500" cy="1092200"/>
          </a:xfrm>
          <a:prstGeom prst="roundRect">
            <a:avLst>
              <a:gd name="adj" fmla="val 0"/>
            </a:avLst>
          </a:prstGeom>
          <a:solidFill>
            <a:srgbClr val="A07BFF"/>
          </a:solidFill>
          <a:ln w="11430">
            <a:solidFill>
              <a:srgbClr val="A07B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AA88621-42B4-45D9-7390-7DB3E879EBC9}"/>
              </a:ext>
            </a:extLst>
          </p:cNvPr>
          <p:cNvSpPr txBox="1"/>
          <p:nvPr/>
        </p:nvSpPr>
        <p:spPr>
          <a:xfrm>
            <a:off x="1092200" y="4775200"/>
            <a:ext cx="431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1300" b="1">
                <a:solidFill>
                  <a:srgbClr val="A07B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索引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4F4C6A1-7466-7187-ED1B-A62E0D1794CB}"/>
              </a:ext>
            </a:extLst>
          </p:cNvPr>
          <p:cNvSpPr txBox="1"/>
          <p:nvPr/>
        </p:nvSpPr>
        <p:spPr>
          <a:xfrm>
            <a:off x="1092200" y="5130800"/>
            <a:ext cx="444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9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DATE_FORMAT </a:t>
            </a:r>
            <a:r>
              <a:rPr lang="zh-CN" altLang="en-US" sz="95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会在列上做运算，用不上日期索引。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955FBF15-1C75-3A98-5927-41274D4A9F9F}"/>
              </a:ext>
            </a:extLst>
          </p:cNvPr>
          <p:cNvSpPr/>
          <p:nvPr/>
        </p:nvSpPr>
        <p:spPr>
          <a:xfrm>
            <a:off x="6350000" y="2108200"/>
            <a:ext cx="5029200" cy="3810000"/>
          </a:xfrm>
          <a:prstGeom prst="roundRect">
            <a:avLst>
              <a:gd name="adj" fmla="val 6000"/>
            </a:avLst>
          </a:prstGeom>
          <a:solidFill>
            <a:srgbClr val="16223A"/>
          </a:solidFill>
          <a:ln w="11430">
            <a:solidFill>
              <a:srgbClr val="47D2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4C8BD88-50FD-187F-AA6F-3B4E5024E34D}"/>
              </a:ext>
            </a:extLst>
          </p:cNvPr>
          <p:cNvSpPr txBox="1"/>
          <p:nvPr/>
        </p:nvSpPr>
        <p:spPr>
          <a:xfrm>
            <a:off x="6629400" y="2311400"/>
            <a:ext cx="444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zh-CN" sz="1400" b="1">
                <a:solidFill>
                  <a:srgbClr val="6C8C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v9 · </a:t>
            </a:r>
            <a:r>
              <a:rPr lang="zh-CN" altLang="en-US" sz="1400" b="1">
                <a:solidFill>
                  <a:srgbClr val="6C8C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三账户与预算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523F9D34-A6F3-AE25-6955-BE41DFDE40CB}"/>
              </a:ext>
            </a:extLst>
          </p:cNvPr>
          <p:cNvSpPr/>
          <p:nvPr/>
        </p:nvSpPr>
        <p:spPr>
          <a:xfrm>
            <a:off x="6629400" y="2717800"/>
            <a:ext cx="304800" cy="304800"/>
          </a:xfrm>
          <a:prstGeom prst="roundRect">
            <a:avLst>
              <a:gd name="adj" fmla="val 30000"/>
            </a:avLst>
          </a:prstGeom>
          <a:solidFill>
            <a:srgbClr val="121C30"/>
          </a:solidFill>
          <a:ln w="11430">
            <a:solidFill>
              <a:srgbClr val="6C8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0F1F1B3D-4ED9-750A-3FDF-E564F6436E80}"/>
              </a:ext>
            </a:extLst>
          </p:cNvPr>
          <p:cNvSpPr txBox="1"/>
          <p:nvPr/>
        </p:nvSpPr>
        <p:spPr>
          <a:xfrm>
            <a:off x="6629400" y="2768600"/>
            <a:ext cx="304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US" altLang="zh-CN" sz="900" b="1">
                <a:solidFill>
                  <a:srgbClr val="6C8C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endParaRPr lang="zh-CN" altLang="en-US" sz="900" b="1">
              <a:solidFill>
                <a:srgbClr val="6C8C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B1D6BF44-F70E-FEC6-4DC0-85E64C67EF9D}"/>
              </a:ext>
            </a:extLst>
          </p:cNvPr>
          <p:cNvSpPr txBox="1"/>
          <p:nvPr/>
        </p:nvSpPr>
        <p:spPr>
          <a:xfrm>
            <a:off x="7086600" y="2692400"/>
            <a:ext cx="393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zh-CN" sz="1100" b="1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t_account</a:t>
            </a:r>
            <a:endParaRPr lang="zh-CN" altLang="en-US" sz="1100" b="1">
              <a:solidFill>
                <a:srgbClr val="ECF1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02135E5-343B-18A6-A4E6-C4C41C3C86B9}"/>
              </a:ext>
            </a:extLst>
          </p:cNvPr>
          <p:cNvSpPr txBox="1"/>
          <p:nvPr/>
        </p:nvSpPr>
        <p:spPr>
          <a:xfrm>
            <a:off x="7086600" y="2946400"/>
            <a:ext cx="393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90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生存 </a:t>
            </a:r>
            <a:r>
              <a:rPr lang="en-US" altLang="zh-CN" sz="90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90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发展 </a:t>
            </a:r>
            <a:r>
              <a:rPr lang="en-US" altLang="zh-CN" sz="90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90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战备，余额 </a:t>
            </a:r>
            <a:r>
              <a:rPr lang="en-US" altLang="zh-CN" sz="90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DECIMAL</a:t>
            </a:r>
            <a:endParaRPr lang="zh-CN" altLang="en-US" sz="900">
              <a:solidFill>
                <a:srgbClr val="9AA6C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085C4ED0-21B8-9D30-DE7B-E4E3C7B86CB8}"/>
              </a:ext>
            </a:extLst>
          </p:cNvPr>
          <p:cNvSpPr/>
          <p:nvPr/>
        </p:nvSpPr>
        <p:spPr>
          <a:xfrm>
            <a:off x="6629400" y="3352800"/>
            <a:ext cx="304800" cy="304800"/>
          </a:xfrm>
          <a:prstGeom prst="roundRect">
            <a:avLst>
              <a:gd name="adj" fmla="val 30000"/>
            </a:avLst>
          </a:prstGeom>
          <a:solidFill>
            <a:srgbClr val="121C30"/>
          </a:solidFill>
          <a:ln w="11430">
            <a:solidFill>
              <a:srgbClr val="6C8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33FDD4D0-3C07-6527-3207-0382B6964CA7}"/>
              </a:ext>
            </a:extLst>
          </p:cNvPr>
          <p:cNvSpPr txBox="1"/>
          <p:nvPr/>
        </p:nvSpPr>
        <p:spPr>
          <a:xfrm>
            <a:off x="6629400" y="3403600"/>
            <a:ext cx="304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US" altLang="zh-CN" sz="900" b="1">
                <a:solidFill>
                  <a:srgbClr val="6C8C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endParaRPr lang="zh-CN" altLang="en-US" sz="900" b="1">
              <a:solidFill>
                <a:srgbClr val="6C8C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A63C9EEC-80A3-F8C1-B1AD-BEA4B8066AAE}"/>
              </a:ext>
            </a:extLst>
          </p:cNvPr>
          <p:cNvSpPr txBox="1"/>
          <p:nvPr/>
        </p:nvSpPr>
        <p:spPr>
          <a:xfrm>
            <a:off x="7086600" y="3327400"/>
            <a:ext cx="393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zh-CN" sz="1100" b="1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t_bill + account_id</a:t>
            </a:r>
            <a:endParaRPr lang="zh-CN" altLang="en-US" sz="1100" b="1">
              <a:solidFill>
                <a:srgbClr val="ECF1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C6264FA4-0863-5571-63BF-49A40FF2873F}"/>
              </a:ext>
            </a:extLst>
          </p:cNvPr>
          <p:cNvSpPr txBox="1"/>
          <p:nvPr/>
        </p:nvSpPr>
        <p:spPr>
          <a:xfrm>
            <a:off x="7086600" y="3581400"/>
            <a:ext cx="393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90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账单挂到账户，保留历史</a:t>
            </a: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D76B3775-39C8-2D30-7CB1-03EA603AFA43}"/>
              </a:ext>
            </a:extLst>
          </p:cNvPr>
          <p:cNvSpPr/>
          <p:nvPr/>
        </p:nvSpPr>
        <p:spPr>
          <a:xfrm>
            <a:off x="6629400" y="3987800"/>
            <a:ext cx="304800" cy="304800"/>
          </a:xfrm>
          <a:prstGeom prst="roundRect">
            <a:avLst>
              <a:gd name="adj" fmla="val 30000"/>
            </a:avLst>
          </a:prstGeom>
          <a:solidFill>
            <a:srgbClr val="121C30"/>
          </a:solidFill>
          <a:ln w="11430">
            <a:solidFill>
              <a:srgbClr val="6C8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FD3A4CA2-E4EB-36DE-4506-BC6D02FDC9BD}"/>
              </a:ext>
            </a:extLst>
          </p:cNvPr>
          <p:cNvSpPr txBox="1"/>
          <p:nvPr/>
        </p:nvSpPr>
        <p:spPr>
          <a:xfrm>
            <a:off x="6629400" y="4038600"/>
            <a:ext cx="304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US" altLang="zh-CN" sz="900" b="1">
                <a:solidFill>
                  <a:srgbClr val="6C8C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endParaRPr lang="zh-CN" altLang="en-US" sz="900" b="1">
              <a:solidFill>
                <a:srgbClr val="6C8C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02242BCD-4DF7-E1A5-E338-7F995A5AE047}"/>
              </a:ext>
            </a:extLst>
          </p:cNvPr>
          <p:cNvSpPr txBox="1"/>
          <p:nvPr/>
        </p:nvSpPr>
        <p:spPr>
          <a:xfrm>
            <a:off x="7086600" y="3962400"/>
            <a:ext cx="393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zh-CN" sz="1100" b="1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JDBC </a:t>
            </a:r>
            <a:r>
              <a:rPr lang="zh-CN" altLang="en-US" sz="1100" b="1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事务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CA5D0B24-D406-D93B-6748-B362F9D6BC82}"/>
              </a:ext>
            </a:extLst>
          </p:cNvPr>
          <p:cNvSpPr txBox="1"/>
          <p:nvPr/>
        </p:nvSpPr>
        <p:spPr>
          <a:xfrm>
            <a:off x="7086600" y="4216400"/>
            <a:ext cx="393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90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记账单 </a:t>
            </a:r>
            <a:r>
              <a:rPr lang="en-US" altLang="zh-CN" sz="90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 </a:t>
            </a:r>
            <a:r>
              <a:rPr lang="zh-CN" altLang="en-US" sz="90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扣余额，同一个 </a:t>
            </a:r>
            <a:r>
              <a:rPr lang="en-US" altLang="zh-CN" sz="90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Connection</a:t>
            </a:r>
            <a:endParaRPr lang="zh-CN" altLang="en-US" sz="900">
              <a:solidFill>
                <a:srgbClr val="9AA6C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61926604-9E27-7C24-990A-09198A66FC1D}"/>
              </a:ext>
            </a:extLst>
          </p:cNvPr>
          <p:cNvSpPr/>
          <p:nvPr/>
        </p:nvSpPr>
        <p:spPr>
          <a:xfrm>
            <a:off x="6629400" y="4622800"/>
            <a:ext cx="304800" cy="304800"/>
          </a:xfrm>
          <a:prstGeom prst="roundRect">
            <a:avLst>
              <a:gd name="adj" fmla="val 30000"/>
            </a:avLst>
          </a:prstGeom>
          <a:solidFill>
            <a:srgbClr val="121C30"/>
          </a:solidFill>
          <a:ln w="11430">
            <a:solidFill>
              <a:srgbClr val="6C8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22BCAC82-2EEE-C29F-FA11-6B8C5446D73B}"/>
              </a:ext>
            </a:extLst>
          </p:cNvPr>
          <p:cNvSpPr txBox="1"/>
          <p:nvPr/>
        </p:nvSpPr>
        <p:spPr>
          <a:xfrm>
            <a:off x="6629400" y="4673600"/>
            <a:ext cx="304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US" altLang="zh-CN" sz="900" b="1">
                <a:solidFill>
                  <a:srgbClr val="6C8C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</a:t>
            </a:r>
            <a:endParaRPr lang="zh-CN" altLang="en-US" sz="900" b="1">
              <a:solidFill>
                <a:srgbClr val="6C8C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71EBC0AD-C55B-61A1-C3C2-E1968A19C482}"/>
              </a:ext>
            </a:extLst>
          </p:cNvPr>
          <p:cNvSpPr txBox="1"/>
          <p:nvPr/>
        </p:nvSpPr>
        <p:spPr>
          <a:xfrm>
            <a:off x="7086600" y="4597400"/>
            <a:ext cx="393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1100" b="1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预算与并发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E6C3A320-5768-11EB-0DA5-DB72A537DD41}"/>
              </a:ext>
            </a:extLst>
          </p:cNvPr>
          <p:cNvSpPr txBox="1"/>
          <p:nvPr/>
        </p:nvSpPr>
        <p:spPr>
          <a:xfrm>
            <a:off x="7086600" y="4851400"/>
            <a:ext cx="393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90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预算预警；</a:t>
            </a:r>
            <a:r>
              <a:rPr lang="en-US" altLang="zh-CN" sz="90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balance&gt;=? </a:t>
            </a:r>
            <a:r>
              <a:rPr lang="zh-CN" altLang="en-US" sz="90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条件扣减</a:t>
            </a: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392294A8-1BD9-0042-DF1B-BF4C8BC5E106}"/>
              </a:ext>
            </a:extLst>
          </p:cNvPr>
          <p:cNvSpPr/>
          <p:nvPr/>
        </p:nvSpPr>
        <p:spPr>
          <a:xfrm>
            <a:off x="6629400" y="5257800"/>
            <a:ext cx="304800" cy="304800"/>
          </a:xfrm>
          <a:prstGeom prst="roundRect">
            <a:avLst>
              <a:gd name="adj" fmla="val 30000"/>
            </a:avLst>
          </a:prstGeom>
          <a:solidFill>
            <a:srgbClr val="121C30"/>
          </a:solidFill>
          <a:ln w="11430">
            <a:solidFill>
              <a:srgbClr val="6C8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95364D63-D184-DEC7-1FE9-AF7EB7A8B0D5}"/>
              </a:ext>
            </a:extLst>
          </p:cNvPr>
          <p:cNvSpPr txBox="1"/>
          <p:nvPr/>
        </p:nvSpPr>
        <p:spPr>
          <a:xfrm>
            <a:off x="6629400" y="5308600"/>
            <a:ext cx="304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US" altLang="zh-CN" sz="900" b="1">
                <a:solidFill>
                  <a:srgbClr val="6C8C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</a:t>
            </a:r>
            <a:endParaRPr lang="zh-CN" altLang="en-US" sz="900" b="1">
              <a:solidFill>
                <a:srgbClr val="6C8C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723A74CA-8A99-AE10-25F9-BA8C0CB963CA}"/>
              </a:ext>
            </a:extLst>
          </p:cNvPr>
          <p:cNvSpPr txBox="1"/>
          <p:nvPr/>
        </p:nvSpPr>
        <p:spPr>
          <a:xfrm>
            <a:off x="7086600" y="5232400"/>
            <a:ext cx="393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1100" b="1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按模块扩建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54B7FBD6-4576-BAD2-41E3-1E21A287A838}"/>
              </a:ext>
            </a:extLst>
          </p:cNvPr>
          <p:cNvSpPr txBox="1"/>
          <p:nvPr/>
        </p:nvSpPr>
        <p:spPr>
          <a:xfrm>
            <a:off x="7086600" y="5486400"/>
            <a:ext cx="393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90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健康 </a:t>
            </a:r>
            <a:r>
              <a:rPr lang="en-US" altLang="zh-CN" sz="90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90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教育 </a:t>
            </a:r>
            <a:r>
              <a:rPr lang="en-US" altLang="zh-CN" sz="90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90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社交，沿用同一套骨架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95C93ADB-F840-D4DF-0E59-B956AAA9684B}"/>
              </a:ext>
            </a:extLst>
          </p:cNvPr>
          <p:cNvSpPr txBox="1"/>
          <p:nvPr/>
        </p:nvSpPr>
        <p:spPr>
          <a:xfrm>
            <a:off x="812800" y="5994400"/>
            <a:ext cx="10566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1100" i="1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一期覆盖 </a:t>
            </a:r>
            <a:r>
              <a:rPr lang="en-US" altLang="zh-CN" sz="1100" i="1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3/8 </a:t>
            </a:r>
            <a:r>
              <a:rPr lang="zh-CN" altLang="en-US" sz="1100" i="1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条线；</a:t>
            </a:r>
            <a:r>
              <a:rPr lang="en-US" altLang="zh-CN" sz="1100" i="1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v9 </a:t>
            </a:r>
            <a:r>
              <a:rPr lang="zh-CN" altLang="en-US" sz="1100" i="1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先补财务闭环，再按「部委」思路扩建。</a:t>
            </a:r>
          </a:p>
        </p:txBody>
      </p:sp>
    </p:spTree>
    <p:extLst>
      <p:ext uri="{BB962C8B-B14F-4D97-AF65-F5344CB8AC3E}">
        <p14:creationId xmlns:p14="http://schemas.microsoft.com/office/powerpoint/2010/main" val="10632816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E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5FA6CA80-78F1-8EB7-A9AC-E99A933FE3DD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oundRect">
            <a:avLst>
              <a:gd name="adj" fmla="val 0"/>
            </a:avLst>
          </a:prstGeom>
          <a:solidFill>
            <a:srgbClr val="6C8CFF"/>
          </a:solidFill>
          <a:ln w="11430">
            <a:solidFill>
              <a:srgbClr val="6C8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83CD8836-0302-56B7-8DA5-8A66AD706469}"/>
              </a:ext>
            </a:extLst>
          </p:cNvPr>
          <p:cNvSpPr/>
          <p:nvPr/>
        </p:nvSpPr>
        <p:spPr>
          <a:xfrm>
            <a:off x="711200" y="1168400"/>
            <a:ext cx="63500" cy="3048000"/>
          </a:xfrm>
          <a:prstGeom prst="roundRect">
            <a:avLst>
              <a:gd name="adj" fmla="val 0"/>
            </a:avLst>
          </a:prstGeom>
          <a:solidFill>
            <a:srgbClr val="6C8CFF"/>
          </a:solidFill>
          <a:ln w="11430">
            <a:solidFill>
              <a:srgbClr val="6C8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ACE5849-0630-F6DF-DEA9-1FD13B3263C7}"/>
              </a:ext>
            </a:extLst>
          </p:cNvPr>
          <p:cNvSpPr txBox="1"/>
          <p:nvPr/>
        </p:nvSpPr>
        <p:spPr>
          <a:xfrm>
            <a:off x="1066800" y="1117600"/>
            <a:ext cx="508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zh-CN" sz="1000" b="1">
                <a:solidFill>
                  <a:srgbClr val="6C8C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THANK YOU</a:t>
            </a:r>
            <a:endParaRPr lang="zh-CN" altLang="en-US" sz="1000" b="1">
              <a:solidFill>
                <a:srgbClr val="6C8C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6221B2F-D785-2E86-86AB-E0480EAA65AF}"/>
              </a:ext>
            </a:extLst>
          </p:cNvPr>
          <p:cNvSpPr txBox="1"/>
          <p:nvPr/>
        </p:nvSpPr>
        <p:spPr>
          <a:xfrm>
            <a:off x="1066800" y="1625600"/>
            <a:ext cx="838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zh-CN" altLang="en-US" sz="4000" b="1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先建设一个
能运转的自己。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215D81F-9161-662F-82BA-5C57C9C123FF}"/>
              </a:ext>
            </a:extLst>
          </p:cNvPr>
          <p:cNvSpPr txBox="1"/>
          <p:nvPr/>
        </p:nvSpPr>
        <p:spPr>
          <a:xfrm>
            <a:off x="1117600" y="3708400"/>
            <a:ext cx="762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1900" b="1" dirty="0">
                <a:solidFill>
                  <a:srgbClr val="FFC46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一期三个模块，是骨架，不是终点。感谢老师和同学们聆听！</a:t>
            </a: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28726141-C6BA-CF60-14B5-5AC28D6DD18E}"/>
              </a:ext>
            </a:extLst>
          </p:cNvPr>
          <p:cNvCxnSpPr/>
          <p:nvPr/>
        </p:nvCxnSpPr>
        <p:spPr>
          <a:xfrm>
            <a:off x="1117600" y="4419600"/>
            <a:ext cx="5486400" cy="0"/>
          </a:xfrm>
          <a:prstGeom prst="straightConnector1">
            <a:avLst/>
          </a:prstGeom>
          <a:ln w="12700">
            <a:solidFill>
              <a:srgbClr val="47D2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10DA7C43-2527-0702-A1B1-637B589C8458}"/>
              </a:ext>
            </a:extLst>
          </p:cNvPr>
          <p:cNvSpPr txBox="1"/>
          <p:nvPr/>
        </p:nvSpPr>
        <p:spPr>
          <a:xfrm>
            <a:off x="1117600" y="4673600"/>
            <a:ext cx="787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1200" dirty="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演示账号：</a:t>
            </a:r>
            <a:r>
              <a:rPr lang="en-US" altLang="zh-CN" sz="1200" dirty="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demo / Demo@123    </a:t>
            </a:r>
            <a:r>
              <a:rPr lang="zh-CN" altLang="en-US" sz="1200" dirty="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管理员：</a:t>
            </a:r>
            <a:r>
              <a:rPr lang="en-US" altLang="zh-CN" sz="1200" dirty="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admin / Admin@123</a:t>
            </a:r>
            <a:endParaRPr lang="zh-CN" altLang="en-US" sz="1200" dirty="0">
              <a:solidFill>
                <a:srgbClr val="9AA6C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13EBFA2-35E0-400D-DDD3-A1224D10B466}"/>
              </a:ext>
            </a:extLst>
          </p:cNvPr>
          <p:cNvSpPr txBox="1"/>
          <p:nvPr/>
        </p:nvSpPr>
        <p:spPr>
          <a:xfrm>
            <a:off x="1117600" y="5105400"/>
            <a:ext cx="787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1050" dirty="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原规划 </a:t>
            </a:r>
            <a:r>
              <a:rPr lang="en-US" altLang="zh-CN" sz="1050" dirty="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8 </a:t>
            </a:r>
            <a:r>
              <a:rPr lang="zh-CN" altLang="en-US" sz="1050" dirty="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条线 → 一期 </a:t>
            </a:r>
            <a:r>
              <a:rPr lang="en-US" altLang="zh-CN" sz="1050" dirty="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 </a:t>
            </a:r>
            <a:r>
              <a:rPr lang="zh-CN" altLang="en-US" sz="1050" dirty="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个模块 </a:t>
            </a:r>
            <a:r>
              <a:rPr lang="en-US" altLang="zh-CN" sz="1050" dirty="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4 </a:t>
            </a:r>
            <a:r>
              <a:rPr lang="zh-CN" altLang="en-US" sz="1050" dirty="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张表 </a:t>
            </a:r>
            <a:r>
              <a:rPr lang="en-US" altLang="zh-CN" sz="1050" dirty="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30 </a:t>
            </a:r>
            <a:r>
              <a:rPr lang="zh-CN" altLang="en-US" sz="1050" dirty="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项验收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E3321249-702C-8569-D840-B9C9275B41D3}"/>
              </a:ext>
            </a:extLst>
          </p:cNvPr>
          <p:cNvSpPr/>
          <p:nvPr/>
        </p:nvSpPr>
        <p:spPr>
          <a:xfrm>
            <a:off x="9017000" y="1371600"/>
            <a:ext cx="2362200" cy="3175000"/>
          </a:xfrm>
          <a:prstGeom prst="roundRect">
            <a:avLst>
              <a:gd name="adj" fmla="val 4000"/>
            </a:avLst>
          </a:prstGeom>
          <a:solidFill>
            <a:srgbClr val="121B30"/>
          </a:solidFill>
          <a:ln w="11430">
            <a:solidFill>
              <a:srgbClr val="47D2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33F6E0E-A552-C040-A836-690D073DEECD}"/>
              </a:ext>
            </a:extLst>
          </p:cNvPr>
          <p:cNvSpPr txBox="1"/>
          <p:nvPr/>
        </p:nvSpPr>
        <p:spPr>
          <a:xfrm>
            <a:off x="9321800" y="1676400"/>
            <a:ext cx="1752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US" altLang="zh-CN" sz="4000" b="1">
                <a:solidFill>
                  <a:srgbClr val="6C8C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 / 8</a:t>
            </a:r>
            <a:endParaRPr lang="zh-CN" altLang="en-US" sz="4000" b="1">
              <a:solidFill>
                <a:srgbClr val="6C8C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A25BEB5-A95D-EBD4-64EF-6335DC916F9E}"/>
              </a:ext>
            </a:extLst>
          </p:cNvPr>
          <p:cNvSpPr txBox="1"/>
          <p:nvPr/>
        </p:nvSpPr>
        <p:spPr>
          <a:xfrm>
            <a:off x="9321800" y="2413000"/>
            <a:ext cx="1752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lang="zh-CN" altLang="en-US" sz="1000">
                <a:solidFill>
                  <a:srgbClr val="9AA6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一期覆盖条线</a:t>
            </a: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82597C95-6188-E23D-976A-4F7D881BB754}"/>
              </a:ext>
            </a:extLst>
          </p:cNvPr>
          <p:cNvCxnSpPr/>
          <p:nvPr/>
        </p:nvCxnSpPr>
        <p:spPr>
          <a:xfrm>
            <a:off x="9321800" y="2819400"/>
            <a:ext cx="1752600" cy="0"/>
          </a:xfrm>
          <a:prstGeom prst="straightConnector1">
            <a:avLst/>
          </a:prstGeom>
          <a:ln w="12700">
            <a:solidFill>
              <a:srgbClr val="47D2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39069927-8EAE-C3A8-A777-00C5B0D4D8B2}"/>
              </a:ext>
            </a:extLst>
          </p:cNvPr>
          <p:cNvSpPr txBox="1"/>
          <p:nvPr/>
        </p:nvSpPr>
        <p:spPr>
          <a:xfrm>
            <a:off x="9321800" y="3073400"/>
            <a:ext cx="1752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000">
                <a:solidFill>
                  <a:srgbClr val="ECF1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不是功能最多
而是先跑通闭环</a:t>
            </a:r>
          </a:p>
        </p:txBody>
      </p:sp>
      <p:sp>
        <p:nvSpPr>
          <p:cNvPr id="15" name="TextNote_19a2dc">
            <a:extLst>
              <a:ext uri="{FF2B5EF4-FFF2-40B4-BE49-F238E27FC236}">
                <a16:creationId xmlns:a16="http://schemas.microsoft.com/office/drawing/2014/main" id="{E3787352-C17F-158B-CBBE-0619F6D8DC79}"/>
              </a:ext>
            </a:extLst>
          </p:cNvPr>
          <p:cNvSpPr txBox="1"/>
          <p:nvPr/>
        </p:nvSpPr>
        <p:spPr>
          <a:xfrm>
            <a:off x="1117600" y="5486400"/>
            <a:ext cx="787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9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代码仓库：</a:t>
            </a:r>
            <a:r>
              <a:rPr lang="en-US" altLang="zh-CN" sz="9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github.com/jaysinco123/study</a:t>
            </a:r>
            <a:r>
              <a:rPr lang="zh-CN" altLang="en-US" sz="9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　</a:t>
            </a:r>
            <a:r>
              <a:rPr lang="en-US" altLang="zh-CN" sz="9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15 </a:t>
            </a:r>
            <a:r>
              <a:rPr lang="zh-CN" altLang="en-US" sz="9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次提交 </a:t>
            </a:r>
            <a:r>
              <a:rPr lang="en-US" altLang="zh-CN" sz="9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v1–v8 </a:t>
            </a:r>
            <a:r>
              <a:rPr lang="zh-CN" altLang="en-US" sz="9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八个 </a:t>
            </a:r>
            <a:r>
              <a:rPr lang="en-US" altLang="zh-CN" sz="9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tag</a:t>
            </a:r>
            <a:endParaRPr lang="zh-CN" altLang="en-US" sz="900">
              <a:solidFill>
                <a:srgbClr val="80808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662349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4778</Words>
  <Application>Microsoft Office PowerPoint</Application>
  <PresentationFormat>宽屏</PresentationFormat>
  <Paragraphs>360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8" baseType="lpstr">
      <vt:lpstr>等线</vt:lpstr>
      <vt:lpstr>等线 Light</vt:lpstr>
      <vt:lpstr>Microsoft YaHei</vt:lpstr>
      <vt:lpstr>Arial</vt:lpstr>
      <vt:lpstr>Consolas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群鑫 郭</dc:creator>
  <cp:lastModifiedBy>群鑫 郭</cp:lastModifiedBy>
  <cp:revision>5</cp:revision>
  <dcterms:created xsi:type="dcterms:W3CDTF">2026-10-20T09:47:05Z</dcterms:created>
  <dcterms:modified xsi:type="dcterms:W3CDTF">2026-10-22T11:11:52Z</dcterms:modified>
</cp:coreProperties>
</file>